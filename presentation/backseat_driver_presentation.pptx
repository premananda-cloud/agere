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slideLayout" Target="../slideLayouts/slideLayout1.xml"/><Relationship Id="rId9"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e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slideLayout" Target="../slideLayouts/slideLayout1.xml"/><Relationship Id="rId9"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e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e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e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e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e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slideLayout" Target="../slideLayouts/slideLayout1.xml"/><Relationship Id="rId8"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714375" y="1320924"/>
            <a:ext cx="4243388" cy="121444"/>
          </a:xfrm>
          <a:prstGeom prst="rect">
            <a:avLst/>
          </a:prstGeom>
          <a:noFill/>
          <a:ln/>
        </p:spPr>
        <p:txBody>
          <a:bodyPr wrap="square" lIns="0" tIns="0" rIns="0" bIns="0" rtlCol="0" anchor="t">
            <a:spAutoFit/>
          </a:bodyPr>
          <a:lstStyle/>
          <a:p>
            <a:pPr algn="l" indent="0" marL="0">
              <a:buNone/>
            </a:pPr>
            <a:r>
              <a:rPr lang="en-US" sz="700" b="1" spc="3" kern="0" dirty="0">
                <a:solidFill>
                  <a:srgbClr val="991B1B"/>
                </a:solidFill>
                <a:latin typeface="Inter SemiBold" pitchFamily="34" charset="0"/>
                <a:ea typeface="Inter SemiBold" pitchFamily="34" charset="-122"/>
                <a:cs typeface="Inter SemiBold" pitchFamily="34" charset="-120"/>
              </a:rPr>
              <a:t>AGERE AUTONOMOUS NAVIGATION STACK</a:t>
            </a:r>
            <a:endParaRPr lang="en-US" sz="700" dirty="0"/>
          </a:p>
        </p:txBody>
      </p:sp>
      <p:sp>
        <p:nvSpPr>
          <p:cNvPr id="4" name="Text 1"/>
          <p:cNvSpPr/>
          <p:nvPr/>
        </p:nvSpPr>
        <p:spPr>
          <a:xfrm>
            <a:off x="714375" y="1613818"/>
            <a:ext cx="4243388" cy="854348"/>
          </a:xfrm>
          <a:prstGeom prst="rect">
            <a:avLst/>
          </a:prstGeom>
          <a:noFill/>
          <a:ln/>
        </p:spPr>
        <p:txBody>
          <a:bodyPr wrap="square" lIns="0" tIns="0" rIns="0" bIns="0" rtlCol="0" anchor="t">
            <a:spAutoFit/>
          </a:bodyPr>
          <a:lstStyle/>
          <a:p>
            <a:pPr algn="l" indent="0" marL="0">
              <a:lnSpc>
                <a:spcPct val="92000"/>
              </a:lnSpc>
              <a:buNone/>
            </a:pPr>
            <a:r>
              <a:rPr lang="en-US" sz="2650" b="1" dirty="0">
                <a:solidFill>
                  <a:srgbClr val="F8FAFC"/>
                </a:solidFill>
                <a:latin typeface="Playfair Display ExtraBold" pitchFamily="34" charset="0"/>
                <a:ea typeface="Playfair Display ExtraBold" pitchFamily="34" charset="-122"/>
                <a:cs typeface="Playfair Display ExtraBold" pitchFamily="34" charset="-120"/>
              </a:rPr>
              <a:t>Backseat</a:t>
            </a:r>
            <a:r>
              <a:rPr lang="en-US" sz="2650" b="1" dirty="0">
                <a:solidFill>
                  <a:srgbClr val="F8FAFC"/>
                </a:solidFill>
                <a:latin typeface="Playfair Display ExtraBold" pitchFamily="34" charset="0"/>
                <a:ea typeface="Playfair Display ExtraBold" pitchFamily="34" charset="-122"/>
                <a:cs typeface="Playfair Display ExtraBold" pitchFamily="34" charset="-120"/>
              </a:rPr>
              <a:t>
</a:t>
            </a:r>
            <a:r>
              <a:rPr lang="en-US" sz="2650" b="1" dirty="0">
                <a:solidFill>
                  <a:srgbClr val="F8FAFC"/>
                </a:solidFill>
                <a:latin typeface="Playfair Display ExtraBold" pitchFamily="34" charset="0"/>
                <a:ea typeface="Playfair Display ExtraBold" pitchFamily="34" charset="-122"/>
                <a:cs typeface="Playfair Display ExtraBold" pitchFamily="34" charset="-120"/>
              </a:rPr>
              <a:t>Driver Model</a:t>
            </a:r>
            <a:endParaRPr lang="en-US" sz="2650" dirty="0"/>
          </a:p>
        </p:txBody>
      </p:sp>
      <p:sp>
        <p:nvSpPr>
          <p:cNvPr id="5" name="Text 2"/>
          <p:cNvSpPr/>
          <p:nvPr/>
        </p:nvSpPr>
        <p:spPr>
          <a:xfrm>
            <a:off x="714375" y="2611041"/>
            <a:ext cx="4243388" cy="411435"/>
          </a:xfrm>
          <a:prstGeom prst="rect">
            <a:avLst/>
          </a:prstGeom>
          <a:noFill/>
          <a:ln/>
        </p:spPr>
        <p:txBody>
          <a:bodyPr wrap="square" lIns="0" tIns="0" rIns="0" bIns="0" rtlCol="0" anchor="t">
            <a:spAutoFit/>
          </a:bodyPr>
          <a:lstStyle/>
          <a:p>
            <a:pPr algn="l" indent="0" marL="0">
              <a:lnSpc>
                <a:spcPct val="128000"/>
              </a:lnSpc>
              <a:buNone/>
            </a:pPr>
            <a:r>
              <a:rPr lang="en-US" sz="950" dirty="0">
                <a:solidFill>
                  <a:srgbClr val="94A3B8"/>
                </a:solidFill>
                <a:latin typeface="Inter" pitchFamily="34" charset="0"/>
                <a:ea typeface="Inter" pitchFamily="34" charset="-122"/>
                <a:cs typeface="Inter" pitchFamily="34" charset="-120"/>
              </a:rPr>
              <a:t>AI-Supervised Autonomous Control</a:t>
            </a:r>
            <a:r>
              <a:rPr lang="en-US" sz="950" dirty="0">
                <a:solidFill>
                  <a:srgbClr val="94A3B8"/>
                </a:solidFill>
                <a:latin typeface="Inter" pitchFamily="34" charset="0"/>
                <a:ea typeface="Inter" pitchFamily="34" charset="-122"/>
                <a:cs typeface="Inter" pitchFamily="34" charset="-120"/>
              </a:rPr>
              <a:t>
</a:t>
            </a:r>
            <a:r>
              <a:rPr lang="en-US" sz="950" dirty="0">
                <a:solidFill>
                  <a:srgbClr val="94A3B8"/>
                </a:solidFill>
                <a:latin typeface="Inter" pitchFamily="34" charset="0"/>
                <a:ea typeface="Inter" pitchFamily="34" charset="-122"/>
                <a:cs typeface="Inter" pitchFamily="34" charset="-120"/>
              </a:rPr>
              <a:t>System for PX4 Drones</a:t>
            </a:r>
            <a:endParaRPr lang="en-US" sz="950" dirty="0"/>
          </a:p>
        </p:txBody>
      </p:sp>
      <p:sp>
        <p:nvSpPr>
          <p:cNvPr id="6" name="Text 3"/>
          <p:cNvSpPr/>
          <p:nvPr/>
        </p:nvSpPr>
        <p:spPr>
          <a:xfrm>
            <a:off x="714375" y="3622551"/>
            <a:ext cx="4243388" cy="128588"/>
          </a:xfrm>
          <a:prstGeom prst="rect">
            <a:avLst/>
          </a:prstGeom>
          <a:noFill/>
          <a:ln/>
        </p:spPr>
        <p:txBody>
          <a:bodyPr wrap="square" lIns="0" tIns="0" rIns="0" bIns="0" rtlCol="0" anchor="t">
            <a:spAutoFit/>
          </a:bodyPr>
          <a:lstStyle/>
          <a:p>
            <a:pPr algn="l" indent="0" marL="0">
              <a:buNone/>
            </a:pPr>
            <a:r>
              <a:rPr lang="en-US" sz="800" dirty="0">
                <a:solidFill>
                  <a:srgbClr val="94A3B8"/>
                </a:solidFill>
                <a:latin typeface="Inter" pitchFamily="34" charset="0"/>
                <a:ea typeface="Inter" pitchFamily="34" charset="-122"/>
                <a:cs typeface="Inter" pitchFamily="34" charset="-120"/>
              </a:rPr>
              <a:t>Presented by:</a:t>
            </a:r>
            <a:r>
              <a:rPr lang="en-US" sz="800" dirty="0">
                <a:solidFill>
                  <a:srgbClr val="CBD5E1"/>
                </a:solidFill>
                <a:latin typeface="Inter" pitchFamily="34" charset="0"/>
                <a:ea typeface="Inter" pitchFamily="34" charset="-122"/>
                <a:cs typeface="Inter" pitchFamily="34" charset="-120"/>
              </a:rPr>
              <a:t> </a:t>
            </a:r>
            <a:r>
              <a:rPr lang="en-US" sz="750" b="1" dirty="0">
                <a:solidFill>
                  <a:srgbClr val="F8FAFC"/>
                </a:solidFill>
                <a:latin typeface="Inter SemiBold" pitchFamily="34" charset="0"/>
                <a:ea typeface="Inter SemiBold" pitchFamily="34" charset="-122"/>
                <a:cs typeface="Inter SemiBold" pitchFamily="34" charset="-120"/>
              </a:rPr>
              <a:t>Premananda</a:t>
            </a:r>
            <a:endParaRPr lang="en-US" sz="800" dirty="0"/>
          </a:p>
        </p:txBody>
      </p:sp>
      <p:sp>
        <p:nvSpPr>
          <p:cNvPr id="7" name="Text 4"/>
          <p:cNvSpPr/>
          <p:nvPr/>
        </p:nvSpPr>
        <p:spPr>
          <a:xfrm>
            <a:off x="714375" y="3836863"/>
            <a:ext cx="4243388" cy="128588"/>
          </a:xfrm>
          <a:prstGeom prst="rect">
            <a:avLst/>
          </a:prstGeom>
          <a:noFill/>
          <a:ln/>
        </p:spPr>
        <p:txBody>
          <a:bodyPr wrap="square" lIns="0" tIns="0" rIns="0" bIns="0" rtlCol="0" anchor="t">
            <a:spAutoFit/>
          </a:bodyPr>
          <a:lstStyle/>
          <a:p>
            <a:pPr algn="l" indent="0" marL="0">
              <a:buNone/>
            </a:pPr>
            <a:r>
              <a:rPr lang="en-US" sz="800" dirty="0">
                <a:solidFill>
                  <a:srgbClr val="94A3B8"/>
                </a:solidFill>
                <a:latin typeface="Inter" pitchFamily="34" charset="0"/>
                <a:ea typeface="Inter" pitchFamily="34" charset="-122"/>
                <a:cs typeface="Inter" pitchFamily="34" charset="-120"/>
              </a:rPr>
              <a:t>Institute:</a:t>
            </a:r>
            <a:r>
              <a:rPr lang="en-US" sz="800" dirty="0">
                <a:solidFill>
                  <a:srgbClr val="CBD5E1"/>
                </a:solidFill>
                <a:latin typeface="Inter" pitchFamily="34" charset="0"/>
                <a:ea typeface="Inter" pitchFamily="34" charset="-122"/>
                <a:cs typeface="Inter" pitchFamily="34" charset="-120"/>
              </a:rPr>
              <a:t> </a:t>
            </a:r>
            <a:r>
              <a:rPr lang="en-US" sz="750" b="1" dirty="0">
                <a:solidFill>
                  <a:srgbClr val="F8FAFC"/>
                </a:solidFill>
                <a:latin typeface="Inter SemiBold" pitchFamily="34" charset="0"/>
                <a:ea typeface="Inter SemiBold" pitchFamily="34" charset="-122"/>
                <a:cs typeface="Inter SemiBold" pitchFamily="34" charset="-120"/>
              </a:rPr>
              <a:t>NIELIT</a:t>
            </a:r>
            <a:endParaRPr lang="en-US" sz="800" dirty="0"/>
          </a:p>
        </p:txBody>
      </p:sp>
      <p:sp>
        <p:nvSpPr>
          <p:cNvPr id="8" name="Text 5"/>
          <p:cNvSpPr/>
          <p:nvPr/>
        </p:nvSpPr>
        <p:spPr>
          <a:xfrm>
            <a:off x="714375" y="4051176"/>
            <a:ext cx="4243388" cy="128588"/>
          </a:xfrm>
          <a:prstGeom prst="rect">
            <a:avLst/>
          </a:prstGeom>
          <a:noFill/>
          <a:ln/>
        </p:spPr>
        <p:txBody>
          <a:bodyPr wrap="square" lIns="0" tIns="0" rIns="0" bIns="0" rtlCol="0" anchor="t">
            <a:spAutoFit/>
          </a:bodyPr>
          <a:lstStyle/>
          <a:p>
            <a:pPr algn="l" indent="0" marL="0">
              <a:buNone/>
            </a:pPr>
            <a:r>
              <a:rPr lang="en-US" sz="800" dirty="0">
                <a:solidFill>
                  <a:srgbClr val="94A3B8"/>
                </a:solidFill>
                <a:latin typeface="Inter" pitchFamily="34" charset="0"/>
                <a:ea typeface="Inter" pitchFamily="34" charset="-122"/>
                <a:cs typeface="Inter" pitchFamily="34" charset="-120"/>
              </a:rPr>
              <a:t>Document:</a:t>
            </a:r>
            <a:r>
              <a:rPr lang="en-US" sz="800" dirty="0">
                <a:solidFill>
                  <a:srgbClr val="CBD5E1"/>
                </a:solidFill>
                <a:latin typeface="Inter" pitchFamily="34" charset="0"/>
                <a:ea typeface="Inter" pitchFamily="34" charset="-122"/>
                <a:cs typeface="Inter" pitchFamily="34" charset="-120"/>
              </a:rPr>
              <a:t> </a:t>
            </a:r>
            <a:r>
              <a:rPr lang="en-US" sz="750" b="1" dirty="0">
                <a:solidFill>
                  <a:srgbClr val="F8FAFC"/>
                </a:solidFill>
                <a:latin typeface="Inter SemiBold" pitchFamily="34" charset="0"/>
                <a:ea typeface="Inter SemiBold" pitchFamily="34" charset="-122"/>
                <a:cs typeface="Inter SemiBold" pitchFamily="34" charset="-120"/>
              </a:rPr>
              <a:t>Version 2.0</a:t>
            </a:r>
            <a:endParaRPr lang="en-US" sz="800" dirty="0"/>
          </a:p>
        </p:txBody>
      </p:sp>
      <p:sp>
        <p:nvSpPr>
          <p:cNvPr id="9" name="Text 6"/>
          <p:cNvSpPr/>
          <p:nvPr/>
        </p:nvSpPr>
        <p:spPr>
          <a:xfrm>
            <a:off x="714375" y="4265488"/>
            <a:ext cx="4243388" cy="128588"/>
          </a:xfrm>
          <a:prstGeom prst="rect">
            <a:avLst/>
          </a:prstGeom>
          <a:noFill/>
          <a:ln/>
        </p:spPr>
        <p:txBody>
          <a:bodyPr wrap="square" lIns="0" tIns="0" rIns="0" bIns="0" rtlCol="0" anchor="t">
            <a:spAutoFit/>
          </a:bodyPr>
          <a:lstStyle/>
          <a:p>
            <a:pPr algn="l" indent="0" marL="0">
              <a:buNone/>
            </a:pPr>
            <a:r>
              <a:rPr lang="en-US" sz="800" dirty="0">
                <a:solidFill>
                  <a:srgbClr val="94A3B8"/>
                </a:solidFill>
                <a:latin typeface="Inter" pitchFamily="34" charset="0"/>
                <a:ea typeface="Inter" pitchFamily="34" charset="-122"/>
                <a:cs typeface="Inter" pitchFamily="34" charset="-120"/>
              </a:rPr>
              <a:t>Date:</a:t>
            </a:r>
            <a:r>
              <a:rPr lang="en-US" sz="800" dirty="0">
                <a:solidFill>
                  <a:srgbClr val="CBD5E1"/>
                </a:solidFill>
                <a:latin typeface="Inter" pitchFamily="34" charset="0"/>
                <a:ea typeface="Inter" pitchFamily="34" charset="-122"/>
                <a:cs typeface="Inter" pitchFamily="34" charset="-120"/>
              </a:rPr>
              <a:t> </a:t>
            </a:r>
            <a:r>
              <a:rPr lang="en-US" sz="750" b="1" dirty="0">
                <a:solidFill>
                  <a:srgbClr val="F8FAFC"/>
                </a:solidFill>
                <a:latin typeface="Inter SemiBold" pitchFamily="34" charset="0"/>
                <a:ea typeface="Inter SemiBold" pitchFamily="34" charset="-122"/>
                <a:cs typeface="Inter SemiBold" pitchFamily="34" charset="-120"/>
              </a:rPr>
              <a:t>July 13, 2026</a:t>
            </a:r>
            <a:endParaRPr lang="en-US" sz="800" dirty="0"/>
          </a:p>
        </p:txBody>
      </p:sp>
      <p:sp>
        <p:nvSpPr>
          <p:cNvPr id="10" name="Text 7"/>
          <p:cNvSpPr/>
          <p:nvPr/>
        </p:nvSpPr>
        <p:spPr>
          <a:xfrm>
            <a:off x="6424017" y="2014538"/>
            <a:ext cx="539353" cy="96441"/>
          </a:xfrm>
          <a:prstGeom prst="rect">
            <a:avLst/>
          </a:prstGeom>
          <a:noFill/>
          <a:ln/>
        </p:spPr>
        <p:txBody>
          <a:bodyPr wrap="none" lIns="0" tIns="0" rIns="0" bIns="0" rtlCol="0" anchor="t">
            <a:spAutoFit/>
          </a:bodyPr>
          <a:lstStyle/>
          <a:p>
            <a:pPr algn="l" indent="0" marL="0">
              <a:buNone/>
            </a:pPr>
            <a:r>
              <a:rPr lang="en-US" sz="550" b="1" spc="1" kern="0" dirty="0">
                <a:solidFill>
                  <a:srgbClr val="F8FAFC"/>
                </a:solidFill>
                <a:latin typeface="Inter SemiBold" pitchFamily="34" charset="0"/>
                <a:ea typeface="Inter SemiBold" pitchFamily="34" charset="-122"/>
                <a:cs typeface="Inter SemiBold" pitchFamily="34" charset="-120"/>
              </a:rPr>
              <a:t>STRATEGIC</a:t>
            </a:r>
            <a:endParaRPr lang="en-US" sz="550" dirty="0"/>
          </a:p>
        </p:txBody>
      </p:sp>
      <p:sp>
        <p:nvSpPr>
          <p:cNvPr id="11" name="Text 8"/>
          <p:cNvSpPr/>
          <p:nvPr/>
        </p:nvSpPr>
        <p:spPr>
          <a:xfrm>
            <a:off x="7293769" y="3189684"/>
            <a:ext cx="471488" cy="96441"/>
          </a:xfrm>
          <a:prstGeom prst="rect">
            <a:avLst/>
          </a:prstGeom>
          <a:noFill/>
          <a:ln/>
        </p:spPr>
        <p:txBody>
          <a:bodyPr wrap="none" lIns="0" tIns="0" rIns="0" bIns="0" rtlCol="0" anchor="t">
            <a:spAutoFit/>
          </a:bodyPr>
          <a:lstStyle/>
          <a:p>
            <a:pPr algn="l" indent="0" marL="0">
              <a:buNone/>
            </a:pPr>
            <a:r>
              <a:rPr lang="en-US" sz="550" b="1" spc="1" kern="0" dirty="0">
                <a:solidFill>
                  <a:srgbClr val="F8FAFC"/>
                </a:solidFill>
                <a:latin typeface="Inter SemiBold" pitchFamily="34" charset="0"/>
                <a:ea typeface="Inter SemiBold" pitchFamily="34" charset="-122"/>
                <a:cs typeface="Inter SemiBold" pitchFamily="34" charset="-120"/>
              </a:rPr>
              <a:t>TACTICAL</a:t>
            </a:r>
            <a:endParaRPr lang="en-US" sz="550" dirty="0"/>
          </a:p>
        </p:txBody>
      </p:sp>
      <p:sp>
        <p:nvSpPr>
          <p:cNvPr id="12" name="Text 9"/>
          <p:cNvSpPr/>
          <p:nvPr/>
        </p:nvSpPr>
        <p:spPr>
          <a:xfrm>
            <a:off x="5622131" y="3189684"/>
            <a:ext cx="557213" cy="96441"/>
          </a:xfrm>
          <a:prstGeom prst="rect">
            <a:avLst/>
          </a:prstGeom>
          <a:noFill/>
          <a:ln/>
        </p:spPr>
        <p:txBody>
          <a:bodyPr wrap="none" lIns="0" tIns="0" rIns="0" bIns="0" rtlCol="0" anchor="t">
            <a:spAutoFit/>
          </a:bodyPr>
          <a:lstStyle/>
          <a:p>
            <a:pPr algn="l" indent="0" marL="0">
              <a:buNone/>
            </a:pPr>
            <a:r>
              <a:rPr lang="en-US" sz="550" b="1" spc="1" kern="0" dirty="0">
                <a:solidFill>
                  <a:srgbClr val="F8FAFC"/>
                </a:solidFill>
                <a:latin typeface="Inter SemiBold" pitchFamily="34" charset="0"/>
                <a:ea typeface="Inter SemiBold" pitchFamily="34" charset="-122"/>
                <a:cs typeface="Inter SemiBold" pitchFamily="34" charset="-120"/>
              </a:rPr>
              <a:t>EXECUTION</a:t>
            </a:r>
            <a:endParaRPr lang="en-US" sz="550" dirty="0"/>
          </a:p>
        </p:txBody>
      </p:sp>
      <p:sp>
        <p:nvSpPr>
          <p:cNvPr id="13" name="Text 10"/>
          <p:cNvSpPr/>
          <p:nvPr/>
        </p:nvSpPr>
        <p:spPr>
          <a:xfrm>
            <a:off x="6815138" y="4602361"/>
            <a:ext cx="1614488" cy="112514"/>
          </a:xfrm>
          <a:prstGeom prst="rect">
            <a:avLst/>
          </a:prstGeom>
          <a:noFill/>
          <a:ln/>
        </p:spPr>
        <p:txBody>
          <a:bodyPr wrap="square" lIns="0" tIns="0" rIns="0" bIns="0" rtlCol="0" anchor="t">
            <a:spAutoFit/>
          </a:bodyPr>
          <a:lstStyle/>
          <a:p>
            <a:pPr algn="l" indent="0" marL="0">
              <a:buNone/>
            </a:pPr>
            <a:r>
              <a:rPr lang="en-US" sz="650" spc="1" kern="0" dirty="0">
                <a:solidFill>
                  <a:srgbClr val="64748B"/>
                </a:solidFill>
                <a:latin typeface="Inter" pitchFamily="34" charset="0"/>
                <a:ea typeface="Inter" pitchFamily="34" charset="-122"/>
                <a:cs typeface="Inter" pitchFamily="34" charset="-120"/>
              </a:rPr>
              <a:t>ARCHITECTURE PRESENTATION</a:t>
            </a:r>
            <a:endParaRPr lang="en-US" sz="6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571500" y="342900"/>
            <a:ext cx="8001000" cy="360759"/>
          </a:xfrm>
          <a:prstGeom prst="rect">
            <a:avLst/>
          </a:prstGeom>
          <a:noFill/>
          <a:ln/>
        </p:spPr>
        <p:txBody>
          <a:bodyPr wrap="square" lIns="0" tIns="0" rIns="0" bIns="0" rtlCol="0" anchor="t">
            <a:spAutoFit/>
          </a:bodyPr>
          <a:lstStyle/>
          <a:p>
            <a:pPr algn="l" indent="0" marL="0">
              <a:buNone/>
            </a:pPr>
            <a:r>
              <a:rPr lang="en-US" sz="1900" b="1" dirty="0">
                <a:solidFill>
                  <a:srgbClr val="0F172A"/>
                </a:solidFill>
                <a:latin typeface="Playfair Display ExtraBold" pitchFamily="34" charset="0"/>
                <a:ea typeface="Playfair Display ExtraBold" pitchFamily="34" charset="-122"/>
                <a:cs typeface="Playfair Display ExtraBold" pitchFamily="34" charset="-120"/>
              </a:rPr>
              <a:t>Executive Summary</a:t>
            </a:r>
            <a:endParaRPr lang="en-US" sz="1900" dirty="0"/>
          </a:p>
        </p:txBody>
      </p:sp>
      <p:sp>
        <p:nvSpPr>
          <p:cNvPr id="4" name="Text 1"/>
          <p:cNvSpPr/>
          <p:nvPr/>
        </p:nvSpPr>
        <p:spPr>
          <a:xfrm>
            <a:off x="571500" y="1103709"/>
            <a:ext cx="4587236" cy="777218"/>
          </a:xfrm>
          <a:prstGeom prst="rect">
            <a:avLst/>
          </a:prstGeom>
          <a:noFill/>
          <a:ln/>
        </p:spPr>
        <p:txBody>
          <a:bodyPr wrap="square" lIns="0" tIns="0" rIns="0" bIns="0" rtlCol="0" anchor="t">
            <a:spAutoFit/>
          </a:bodyPr>
          <a:lstStyle/>
          <a:p>
            <a:pPr algn="l" indent="0" marL="0">
              <a:lnSpc>
                <a:spcPct val="136000"/>
              </a:lnSpc>
              <a:buNone/>
            </a:pPr>
            <a:r>
              <a:rPr lang="en-US" sz="850" dirty="0">
                <a:solidFill>
                  <a:srgbClr val="334155"/>
                </a:solidFill>
                <a:latin typeface="Inter" pitchFamily="34" charset="0"/>
                <a:ea typeface="Inter" pitchFamily="34" charset="-122"/>
                <a:cs typeface="Inter" pitchFamily="34" charset="-120"/>
              </a:rPr>
              <a:t>The Backseat Driver Model establishes a formal architectural framework for integrating Artificial Intelligence with the PX4 flight control system. This document outlines the separation of responsibilities, communication protocols, and system boundaries that enable safe, intelligent autonomous drone operations.</a:t>
            </a:r>
            <a:endParaRPr lang="en-US" sz="850" dirty="0"/>
          </a:p>
        </p:txBody>
      </p:sp>
      <p:sp>
        <p:nvSpPr>
          <p:cNvPr id="5" name="Text 2"/>
          <p:cNvSpPr/>
          <p:nvPr/>
        </p:nvSpPr>
        <p:spPr>
          <a:xfrm>
            <a:off x="742950" y="2309552"/>
            <a:ext cx="1864993" cy="137517"/>
          </a:xfrm>
          <a:prstGeom prst="rect">
            <a:avLst/>
          </a:prstGeom>
          <a:noFill/>
          <a:ln/>
        </p:spPr>
        <p:txBody>
          <a:bodyPr wrap="square" lIns="0" tIns="0" rIns="0" bIns="0" rtlCol="0" anchor="t">
            <a:spAutoFit/>
          </a:bodyPr>
          <a:lstStyle/>
          <a:p>
            <a:pPr algn="l" indent="0" marL="0">
              <a:buNone/>
            </a:pPr>
            <a:r>
              <a:rPr lang="en-US" sz="800" b="1" spc="1" kern="0" dirty="0">
                <a:solidFill>
                  <a:srgbClr val="0F172A"/>
                </a:solidFill>
                <a:latin typeface="Inter Bold" pitchFamily="34" charset="0"/>
                <a:ea typeface="Inter Bold" pitchFamily="34" charset="-122"/>
                <a:cs typeface="Inter Bold" pitchFamily="34" charset="-120"/>
              </a:rPr>
              <a:t>AI ADVISOR</a:t>
            </a:r>
            <a:endParaRPr lang="en-US" sz="800" dirty="0"/>
          </a:p>
        </p:txBody>
      </p:sp>
      <p:sp>
        <p:nvSpPr>
          <p:cNvPr id="6" name="Text 3"/>
          <p:cNvSpPr/>
          <p:nvPr/>
        </p:nvSpPr>
        <p:spPr>
          <a:xfrm>
            <a:off x="742950" y="2504219"/>
            <a:ext cx="1864993" cy="640035"/>
          </a:xfrm>
          <a:prstGeom prst="rect">
            <a:avLst/>
          </a:prstGeom>
          <a:noFill/>
          <a:ln/>
        </p:spPr>
        <p:txBody>
          <a:bodyPr wrap="square" lIns="0" tIns="0" rIns="0" bIns="0" rtlCol="0" anchor="t">
            <a:spAutoFit/>
          </a:bodyPr>
          <a:lstStyle/>
          <a:p>
            <a:pPr algn="l" indent="0" marL="0">
              <a:lnSpc>
                <a:spcPct val="128000"/>
              </a:lnSpc>
              <a:buNone/>
            </a:pPr>
            <a:r>
              <a:rPr lang="en-US" sz="750" dirty="0">
                <a:solidFill>
                  <a:srgbClr val="334155"/>
                </a:solidFill>
                <a:latin typeface="Inter" pitchFamily="34" charset="0"/>
                <a:ea typeface="Inter" pitchFamily="34" charset="-122"/>
                <a:cs typeface="Inter" pitchFamily="34" charset="-120"/>
              </a:rPr>
              <a:t>Strategic commander providing high-level reasoning, mission planning, and semantic perception without compromising flight safety.</a:t>
            </a:r>
            <a:endParaRPr lang="en-US" sz="750" dirty="0"/>
          </a:p>
        </p:txBody>
      </p:sp>
      <p:sp>
        <p:nvSpPr>
          <p:cNvPr id="7" name="Text 4"/>
          <p:cNvSpPr/>
          <p:nvPr/>
        </p:nvSpPr>
        <p:spPr>
          <a:xfrm>
            <a:off x="3122293" y="2309552"/>
            <a:ext cx="1864993" cy="137517"/>
          </a:xfrm>
          <a:prstGeom prst="rect">
            <a:avLst/>
          </a:prstGeom>
          <a:noFill/>
          <a:ln/>
        </p:spPr>
        <p:txBody>
          <a:bodyPr wrap="square" lIns="0" tIns="0" rIns="0" bIns="0" rtlCol="0" anchor="t">
            <a:spAutoFit/>
          </a:bodyPr>
          <a:lstStyle/>
          <a:p>
            <a:pPr algn="l" indent="0" marL="0">
              <a:buNone/>
            </a:pPr>
            <a:r>
              <a:rPr lang="en-US" sz="800" b="1" spc="1" kern="0" dirty="0">
                <a:solidFill>
                  <a:srgbClr val="0F172A"/>
                </a:solidFill>
                <a:latin typeface="Inter Bold" pitchFamily="34" charset="0"/>
                <a:ea typeface="Inter Bold" pitchFamily="34" charset="-122"/>
                <a:cs typeface="Inter Bold" pitchFamily="34" charset="-120"/>
              </a:rPr>
              <a:t>PX4 EXECUTOR</a:t>
            </a:r>
            <a:endParaRPr lang="en-US" sz="800" dirty="0"/>
          </a:p>
        </p:txBody>
      </p:sp>
      <p:sp>
        <p:nvSpPr>
          <p:cNvPr id="8" name="Text 5"/>
          <p:cNvSpPr/>
          <p:nvPr/>
        </p:nvSpPr>
        <p:spPr>
          <a:xfrm>
            <a:off x="3122293" y="2504219"/>
            <a:ext cx="1864993" cy="480027"/>
          </a:xfrm>
          <a:prstGeom prst="rect">
            <a:avLst/>
          </a:prstGeom>
          <a:noFill/>
          <a:ln/>
        </p:spPr>
        <p:txBody>
          <a:bodyPr wrap="square" lIns="0" tIns="0" rIns="0" bIns="0" rtlCol="0" anchor="t">
            <a:spAutoFit/>
          </a:bodyPr>
          <a:lstStyle/>
          <a:p>
            <a:pPr algn="l" indent="0" marL="0">
              <a:lnSpc>
                <a:spcPct val="128000"/>
              </a:lnSpc>
              <a:buNone/>
            </a:pPr>
            <a:r>
              <a:rPr lang="en-US" sz="750" dirty="0">
                <a:solidFill>
                  <a:srgbClr val="334155"/>
                </a:solidFill>
                <a:latin typeface="Inter" pitchFamily="34" charset="0"/>
                <a:ea typeface="Inter" pitchFamily="34" charset="-122"/>
                <a:cs typeface="Inter" pitchFamily="34" charset="-120"/>
              </a:rPr>
              <a:t>Reliable frontline executing low-level control, stabilization, sensor fusion, and failsafes in real-time.</a:t>
            </a:r>
            <a:endParaRPr lang="en-US" sz="750" dirty="0"/>
          </a:p>
        </p:txBody>
      </p:sp>
      <p:sp>
        <p:nvSpPr>
          <p:cNvPr id="9" name="Shape 6"/>
          <p:cNvSpPr/>
          <p:nvPr/>
        </p:nvSpPr>
        <p:spPr>
          <a:xfrm>
            <a:off x="571500" y="3544305"/>
            <a:ext cx="4587236" cy="628650"/>
          </a:xfrm>
          <a:prstGeom prst="rect">
            <a:avLst/>
          </a:prstGeom>
          <a:solidFill>
            <a:srgbClr val="0F172A"/>
          </a:solidFill>
          <a:ln/>
        </p:spPr>
      </p:sp>
      <p:sp>
        <p:nvSpPr>
          <p:cNvPr id="10" name="Text 7"/>
          <p:cNvSpPr/>
          <p:nvPr/>
        </p:nvSpPr>
        <p:spPr>
          <a:xfrm>
            <a:off x="742950" y="3687180"/>
            <a:ext cx="4244336" cy="342900"/>
          </a:xfrm>
          <a:prstGeom prst="rect">
            <a:avLst/>
          </a:prstGeom>
          <a:noFill/>
          <a:ln/>
        </p:spPr>
        <p:txBody>
          <a:bodyPr wrap="square" lIns="0" tIns="0" rIns="0" bIns="0" rtlCol="0" anchor="t">
            <a:spAutoFit/>
          </a:bodyPr>
          <a:lstStyle/>
          <a:p>
            <a:pPr algn="l" indent="0" marL="0">
              <a:lnSpc>
                <a:spcPct val="128000"/>
              </a:lnSpc>
              <a:buNone/>
            </a:pPr>
            <a:r>
              <a:rPr lang="en-US" sz="750" b="1" dirty="0">
                <a:solidFill>
                  <a:srgbClr val="991B1B"/>
                </a:solidFill>
                <a:latin typeface="Inter Bold" pitchFamily="34" charset="0"/>
                <a:ea typeface="Inter Bold" pitchFamily="34" charset="-122"/>
                <a:cs typeface="Inter Bold" pitchFamily="34" charset="-120"/>
              </a:rPr>
              <a:t>Core Philosophy:</a:t>
            </a:r>
            <a:r>
              <a:rPr lang="en-US" sz="800" dirty="0">
                <a:solidFill>
                  <a:srgbClr val="F8FAFC"/>
                </a:solidFill>
                <a:latin typeface="Inter" pitchFamily="34" charset="0"/>
                <a:ea typeface="Inter" pitchFamily="34" charset="-122"/>
                <a:cs typeface="Inter" pitchFamily="34" charset="-120"/>
              </a:rPr>
              <a:t> PX4 as the reliable, real-time </a:t>
            </a:r>
            <a:r>
              <a:rPr lang="en-US" sz="750" b="1" dirty="0">
                <a:solidFill>
                  <a:srgbClr val="991B1B"/>
                </a:solidFill>
                <a:latin typeface="Inter Bold" pitchFamily="34" charset="0"/>
                <a:ea typeface="Inter Bold" pitchFamily="34" charset="-122"/>
                <a:cs typeface="Inter Bold" pitchFamily="34" charset="-120"/>
              </a:rPr>
              <a:t>executor</a:t>
            </a:r>
            <a:r>
              <a:rPr lang="en-US" sz="800" dirty="0">
                <a:solidFill>
                  <a:srgbClr val="F8FAFC"/>
                </a:solidFill>
                <a:latin typeface="Inter" pitchFamily="34" charset="0"/>
                <a:ea typeface="Inter" pitchFamily="34" charset="-122"/>
                <a:cs typeface="Inter" pitchFamily="34" charset="-120"/>
              </a:rPr>
              <a:t> (frontline soldiers) while </a:t>
            </a:r>
            <a:r>
              <a:rPr lang="en-US" sz="800" dirty="0">
                <a:solidFill>
                  <a:srgbClr val="F8FAFC"/>
                </a:solidFill>
                <a:latin typeface="Inter" pitchFamily="34" charset="0"/>
                <a:ea typeface="Inter" pitchFamily="34" charset="-122"/>
                <a:cs typeface="Inter" pitchFamily="34" charset="-120"/>
              </a:rPr>
              <a:t>AI systems function as the strategic </a:t>
            </a:r>
            <a:r>
              <a:rPr lang="en-US" sz="750" b="1" dirty="0">
                <a:solidFill>
                  <a:srgbClr val="991B1B"/>
                </a:solidFill>
                <a:latin typeface="Inter Bold" pitchFamily="34" charset="0"/>
                <a:ea typeface="Inter Bold" pitchFamily="34" charset="-122"/>
                <a:cs typeface="Inter Bold" pitchFamily="34" charset="-120"/>
              </a:rPr>
              <a:t>advisor</a:t>
            </a:r>
            <a:r>
              <a:rPr lang="en-US" sz="800" dirty="0">
                <a:solidFill>
                  <a:srgbClr val="F8FAFC"/>
                </a:solidFill>
                <a:latin typeface="Inter" pitchFamily="34" charset="0"/>
                <a:ea typeface="Inter" pitchFamily="34" charset="-122"/>
                <a:cs typeface="Inter" pitchFamily="34" charset="-120"/>
              </a:rPr>
              <a:t> (battalion commander).</a:t>
            </a:r>
            <a:endParaRPr lang="en-US" sz="750" dirty="0"/>
          </a:p>
        </p:txBody>
      </p:sp>
      <p:sp>
        <p:nvSpPr>
          <p:cNvPr id="11" name="Text 8"/>
          <p:cNvSpPr/>
          <p:nvPr/>
        </p:nvSpPr>
        <p:spPr>
          <a:xfrm>
            <a:off x="5787386" y="1103709"/>
            <a:ext cx="2785114" cy="155377"/>
          </a:xfrm>
          <a:prstGeom prst="rect">
            <a:avLst/>
          </a:prstGeom>
          <a:noFill/>
          <a:ln/>
        </p:spPr>
        <p:txBody>
          <a:bodyPr wrap="square" lIns="0" tIns="0" rIns="0" bIns="0" rtlCol="0" anchor="t">
            <a:spAutoFit/>
          </a:bodyPr>
          <a:lstStyle/>
          <a:p>
            <a:pPr algn="l" indent="0" marL="0">
              <a:buNone/>
            </a:pPr>
            <a:r>
              <a:rPr lang="en-US" sz="900" b="1" dirty="0">
                <a:solidFill>
                  <a:srgbClr val="991B1B"/>
                </a:solidFill>
                <a:latin typeface="Inter Bold" pitchFamily="34" charset="0"/>
                <a:ea typeface="Inter Bold" pitchFamily="34" charset="-122"/>
                <a:cs typeface="Inter Bold" pitchFamily="34" charset="-120"/>
              </a:rPr>
              <a:t>Version 2.0 Additions</a:t>
            </a:r>
            <a:endParaRPr lang="en-US" sz="900" dirty="0"/>
          </a:p>
        </p:txBody>
      </p:sp>
      <p:sp>
        <p:nvSpPr>
          <p:cNvPr id="12" name="Shape 9"/>
          <p:cNvSpPr/>
          <p:nvPr/>
        </p:nvSpPr>
        <p:spPr>
          <a:xfrm>
            <a:off x="5787386" y="1416248"/>
            <a:ext cx="71438" cy="71438"/>
          </a:xfrm>
          <a:prstGeom prst="ellipse">
            <a:avLst/>
          </a:prstGeom>
          <a:solidFill>
            <a:srgbClr val="991B1B"/>
          </a:solidFill>
          <a:ln/>
        </p:spPr>
      </p:sp>
      <p:sp>
        <p:nvSpPr>
          <p:cNvPr id="13" name="Text 10"/>
          <p:cNvSpPr/>
          <p:nvPr/>
        </p:nvSpPr>
        <p:spPr>
          <a:xfrm>
            <a:off x="5787386" y="1373386"/>
            <a:ext cx="2785114" cy="679996"/>
          </a:xfrm>
          <a:prstGeom prst="rect">
            <a:avLst/>
          </a:prstGeom>
          <a:noFill/>
          <a:ln/>
        </p:spPr>
        <p:txBody>
          <a:bodyPr wrap="square" lIns="170053" tIns="0" rIns="0" bIns="0" rtlCol="0" anchor="t">
            <a:spAutoFit/>
          </a:bodyPr>
          <a:lstStyle/>
          <a:p>
            <a:pPr algn="l" indent="0" marL="0">
              <a:lnSpc>
                <a:spcPct val="136000"/>
              </a:lnSpc>
              <a:buNone/>
            </a:pPr>
            <a:r>
              <a:rPr lang="en-US" sz="750" dirty="0">
                <a:solidFill>
                  <a:srgbClr val="334155"/>
                </a:solidFill>
                <a:latin typeface="Inter" pitchFamily="34" charset="0"/>
                <a:ea typeface="Inter" pitchFamily="34" charset="-122"/>
                <a:cs typeface="Inter" pitchFamily="34" charset="-120"/>
              </a:rPr>
              <a:t>Formalizes the </a:t>
            </a:r>
            <a:r>
              <a:rPr lang="en-US" sz="700" b="1" dirty="0">
                <a:solidFill>
                  <a:srgbClr val="334155"/>
                </a:solidFill>
                <a:latin typeface="Inter Bold" pitchFamily="34" charset="0"/>
                <a:ea typeface="Inter Bold" pitchFamily="34" charset="-122"/>
                <a:cs typeface="Inter Bold" pitchFamily="34" charset="-120"/>
              </a:rPr>
              <a:t>Tactical/Middleware layer</a:t>
            </a:r>
            <a:r>
              <a:rPr lang="en-US" sz="750" dirty="0">
                <a:solidFill>
                  <a:srgbClr val="334155"/>
                </a:solidFill>
                <a:latin typeface="Inter" pitchFamily="34" charset="0"/>
                <a:ea typeface="Inter" pitchFamily="34" charset="-122"/>
                <a:cs typeface="Inter" pitchFamily="34" charset="-120"/>
              </a:rPr>
              <a:t> with </a:t>
            </a:r>
            <a:r>
              <a:rPr lang="en-US" sz="750" dirty="0">
                <a:solidFill>
                  <a:srgbClr val="334155"/>
                </a:solidFill>
                <a:latin typeface="Inter" pitchFamily="34" charset="0"/>
                <a:ea typeface="Inter" pitchFamily="34" charset="-122"/>
                <a:cs typeface="Inter" pitchFamily="34" charset="-120"/>
              </a:rPr>
              <a:t>concrete decision frameworks for ground-station </a:t>
            </a:r>
            <a:r>
              <a:rPr lang="en-US" sz="750" dirty="0">
                <a:solidFill>
                  <a:srgbClr val="334155"/>
                </a:solidFill>
                <a:latin typeface="Inter" pitchFamily="34" charset="0"/>
                <a:ea typeface="Inter" pitchFamily="34" charset="-122"/>
                <a:cs typeface="Inter" pitchFamily="34" charset="-120"/>
              </a:rPr>
              <a:t>communication loss during search-and-rescue </a:t>
            </a:r>
            <a:r>
              <a:rPr lang="en-US" sz="750" dirty="0">
                <a:solidFill>
                  <a:srgbClr val="334155"/>
                </a:solidFill>
                <a:latin typeface="Inter" pitchFamily="34" charset="0"/>
                <a:ea typeface="Inter" pitchFamily="34" charset="-122"/>
                <a:cs typeface="Inter" pitchFamily="34" charset="-120"/>
              </a:rPr>
              <a:t>operations.</a:t>
            </a:r>
            <a:endParaRPr lang="en-US" sz="750" dirty="0"/>
          </a:p>
        </p:txBody>
      </p:sp>
      <p:sp>
        <p:nvSpPr>
          <p:cNvPr id="14" name="Shape 11"/>
          <p:cNvSpPr/>
          <p:nvPr/>
        </p:nvSpPr>
        <p:spPr>
          <a:xfrm>
            <a:off x="5787386" y="2210544"/>
            <a:ext cx="71438" cy="71438"/>
          </a:xfrm>
          <a:prstGeom prst="ellipse">
            <a:avLst/>
          </a:prstGeom>
          <a:solidFill>
            <a:srgbClr val="991B1B"/>
          </a:solidFill>
          <a:ln/>
        </p:spPr>
      </p:sp>
      <p:sp>
        <p:nvSpPr>
          <p:cNvPr id="15" name="Text 12"/>
          <p:cNvSpPr/>
          <p:nvPr/>
        </p:nvSpPr>
        <p:spPr>
          <a:xfrm>
            <a:off x="5787386" y="2167682"/>
            <a:ext cx="2785114" cy="509997"/>
          </a:xfrm>
          <a:prstGeom prst="rect">
            <a:avLst/>
          </a:prstGeom>
          <a:noFill/>
          <a:ln/>
        </p:spPr>
        <p:txBody>
          <a:bodyPr wrap="square" lIns="170053" tIns="0" rIns="0" bIns="0" rtlCol="0" anchor="t">
            <a:spAutoFit/>
          </a:bodyPr>
          <a:lstStyle/>
          <a:p>
            <a:pPr algn="l" indent="0" marL="0">
              <a:lnSpc>
                <a:spcPct val="136000"/>
              </a:lnSpc>
              <a:buNone/>
            </a:pPr>
            <a:r>
              <a:rPr lang="en-US" sz="750" dirty="0">
                <a:solidFill>
                  <a:srgbClr val="334155"/>
                </a:solidFill>
                <a:latin typeface="Inter" pitchFamily="34" charset="0"/>
                <a:ea typeface="Inter" pitchFamily="34" charset="-122"/>
                <a:cs typeface="Inter" pitchFamily="34" charset="-120"/>
              </a:rPr>
              <a:t>Introduces a </a:t>
            </a:r>
            <a:r>
              <a:rPr lang="en-US" sz="700" b="1" dirty="0">
                <a:solidFill>
                  <a:srgbClr val="334155"/>
                </a:solidFill>
                <a:latin typeface="Inter Bold" pitchFamily="34" charset="0"/>
                <a:ea typeface="Inter Bold" pitchFamily="34" charset="-122"/>
                <a:cs typeface="Inter Bold" pitchFamily="34" charset="-120"/>
              </a:rPr>
              <a:t>Work Index energy-margin model</a:t>
            </a:r>
            <a:r>
              <a:rPr lang="en-US" sz="750" dirty="0">
                <a:solidFill>
                  <a:srgbClr val="334155"/>
                </a:solidFill>
                <a:latin typeface="Inter" pitchFamily="34" charset="0"/>
                <a:ea typeface="Inter" pitchFamily="34" charset="-122"/>
                <a:cs typeface="Inter" pitchFamily="34" charset="-120"/>
              </a:rPr>
              <a:t> governing when the vehicle must abandon a task and </a:t>
            </a:r>
            <a:r>
              <a:rPr lang="en-US" sz="750" dirty="0">
                <a:solidFill>
                  <a:srgbClr val="334155"/>
                </a:solidFill>
                <a:latin typeface="Inter" pitchFamily="34" charset="0"/>
                <a:ea typeface="Inter" pitchFamily="34" charset="-122"/>
                <a:cs typeface="Inter" pitchFamily="34" charset="-120"/>
              </a:rPr>
              <a:t>preserve itself and its ability to be located.</a:t>
            </a:r>
            <a:endParaRPr lang="en-US" sz="750" dirty="0"/>
          </a:p>
        </p:txBody>
      </p:sp>
      <p:sp>
        <p:nvSpPr>
          <p:cNvPr id="16" name="Shape 13"/>
          <p:cNvSpPr/>
          <p:nvPr/>
        </p:nvSpPr>
        <p:spPr>
          <a:xfrm>
            <a:off x="5787386" y="2834841"/>
            <a:ext cx="71438" cy="71438"/>
          </a:xfrm>
          <a:prstGeom prst="ellipse">
            <a:avLst/>
          </a:prstGeom>
          <a:solidFill>
            <a:srgbClr val="991B1B"/>
          </a:solidFill>
          <a:ln/>
        </p:spPr>
      </p:sp>
      <p:sp>
        <p:nvSpPr>
          <p:cNvPr id="17" name="Text 14"/>
          <p:cNvSpPr/>
          <p:nvPr/>
        </p:nvSpPr>
        <p:spPr>
          <a:xfrm>
            <a:off x="5787386" y="2791978"/>
            <a:ext cx="2785114" cy="509997"/>
          </a:xfrm>
          <a:prstGeom prst="rect">
            <a:avLst/>
          </a:prstGeom>
          <a:noFill/>
          <a:ln/>
        </p:spPr>
        <p:txBody>
          <a:bodyPr wrap="square" lIns="170053" tIns="0" rIns="0" bIns="0" rtlCol="0" anchor="t">
            <a:spAutoFit/>
          </a:bodyPr>
          <a:lstStyle/>
          <a:p>
            <a:pPr algn="l" indent="0" marL="0">
              <a:lnSpc>
                <a:spcPct val="136000"/>
              </a:lnSpc>
              <a:buNone/>
            </a:pPr>
            <a:r>
              <a:rPr lang="en-US" sz="750" dirty="0">
                <a:solidFill>
                  <a:srgbClr val="334155"/>
                </a:solidFill>
                <a:latin typeface="Inter" pitchFamily="34" charset="0"/>
                <a:ea typeface="Inter" pitchFamily="34" charset="-122"/>
                <a:cs typeface="Inter" pitchFamily="34" charset="-120"/>
              </a:rPr>
              <a:t>Specified as architecture and decision </a:t>
            </a:r>
            <a:r>
              <a:rPr lang="en-US" sz="700" b="1" dirty="0">
                <a:solidFill>
                  <a:srgbClr val="334155"/>
                </a:solidFill>
                <a:latin typeface="Inter Bold" pitchFamily="34" charset="0"/>
                <a:ea typeface="Inter Bold" pitchFamily="34" charset="-122"/>
                <a:cs typeface="Inter Bold" pitchFamily="34" charset="-120"/>
              </a:rPr>
              <a:t>logic</a:t>
            </a:r>
            <a:r>
              <a:rPr lang="en-US" sz="750" dirty="0">
                <a:solidFill>
                  <a:srgbClr val="334155"/>
                </a:solidFill>
                <a:latin typeface="Inter" pitchFamily="34" charset="0"/>
                <a:ea typeface="Inter" pitchFamily="34" charset="-122"/>
                <a:cs typeface="Inter" pitchFamily="34" charset="-120"/>
              </a:rPr>
              <a:t> (states, </a:t>
            </a:r>
            <a:r>
              <a:rPr lang="en-US" sz="750" dirty="0">
                <a:solidFill>
                  <a:srgbClr val="334155"/>
                </a:solidFill>
                <a:latin typeface="Inter" pitchFamily="34" charset="0"/>
                <a:ea typeface="Inter" pitchFamily="34" charset="-122"/>
                <a:cs typeface="Inter" pitchFamily="34" charset="-120"/>
              </a:rPr>
              <a:t>thresholds, rules) — implementation is a follow-on </a:t>
            </a:r>
            <a:r>
              <a:rPr lang="en-US" sz="750" dirty="0">
                <a:solidFill>
                  <a:srgbClr val="334155"/>
                </a:solidFill>
                <a:latin typeface="Inter" pitchFamily="34" charset="0"/>
                <a:ea typeface="Inter" pitchFamily="34" charset="-122"/>
                <a:cs typeface="Inter" pitchFamily="34" charset="-120"/>
              </a:rPr>
              <a:t>phase.</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571500" y="342900"/>
            <a:ext cx="8001000" cy="360759"/>
          </a:xfrm>
          <a:prstGeom prst="rect">
            <a:avLst/>
          </a:prstGeom>
          <a:noFill/>
          <a:ln/>
        </p:spPr>
        <p:txBody>
          <a:bodyPr wrap="square" lIns="0" tIns="0" rIns="0" bIns="0" rtlCol="0" anchor="t">
            <a:spAutoFit/>
          </a:bodyPr>
          <a:lstStyle/>
          <a:p>
            <a:pPr algn="l" indent="0" marL="0">
              <a:buNone/>
            </a:pPr>
            <a:r>
              <a:rPr lang="en-US" sz="1900" b="1" dirty="0">
                <a:solidFill>
                  <a:srgbClr val="0F172A"/>
                </a:solidFill>
                <a:latin typeface="Playfair Display ExtraBold" pitchFamily="34" charset="0"/>
                <a:ea typeface="Playfair Display ExtraBold" pitchFamily="34" charset="-122"/>
                <a:cs typeface="Playfair Display ExtraBold" pitchFamily="34" charset="-120"/>
              </a:rPr>
              <a:t>The Chain of Command</a:t>
            </a:r>
            <a:endParaRPr lang="en-US" sz="1900" dirty="0"/>
          </a:p>
        </p:txBody>
      </p:sp>
      <p:sp>
        <p:nvSpPr>
          <p:cNvPr id="4" name="Text 1"/>
          <p:cNvSpPr/>
          <p:nvPr/>
        </p:nvSpPr>
        <p:spPr>
          <a:xfrm>
            <a:off x="571500" y="1017984"/>
            <a:ext cx="8001000" cy="171450"/>
          </a:xfrm>
          <a:prstGeom prst="rect">
            <a:avLst/>
          </a:prstGeom>
          <a:noFill/>
          <a:ln/>
        </p:spPr>
        <p:txBody>
          <a:bodyPr wrap="none" lIns="0" tIns="0" rIns="0" bIns="0" rtlCol="0" anchor="t">
            <a:spAutoFit/>
          </a:bodyPr>
          <a:lstStyle/>
          <a:p>
            <a:pPr algn="l" indent="0" marL="0">
              <a:lnSpc>
                <a:spcPct val="128000"/>
              </a:lnSpc>
              <a:buNone/>
            </a:pPr>
            <a:r>
              <a:rPr lang="en-US" sz="800" dirty="0">
                <a:solidFill>
                  <a:srgbClr val="334155"/>
                </a:solidFill>
                <a:latin typeface="Inter" pitchFamily="34" charset="0"/>
                <a:ea typeface="Inter" pitchFamily="34" charset="-122"/>
                <a:cs typeface="Inter" pitchFamily="34" charset="-120"/>
              </a:rPr>
              <a:t>The architecture follows a strict hierarchical separation with clearly defined responsibilities across three layers.</a:t>
            </a:r>
            <a:endParaRPr lang="en-US" sz="800" dirty="0"/>
          </a:p>
        </p:txBody>
      </p:sp>
      <p:sp>
        <p:nvSpPr>
          <p:cNvPr id="5" name="Shape 2"/>
          <p:cNvSpPr/>
          <p:nvPr/>
        </p:nvSpPr>
        <p:spPr>
          <a:xfrm>
            <a:off x="571500" y="1275159"/>
            <a:ext cx="8001000" cy="1092268"/>
          </a:xfrm>
          <a:prstGeom prst="rect">
            <a:avLst/>
          </a:prstGeom>
          <a:solidFill>
            <a:srgbClr val="0F172A"/>
          </a:solidFill>
          <a:ln/>
        </p:spPr>
      </p:sp>
      <p:sp>
        <p:nvSpPr>
          <p:cNvPr id="6" name="Text 3"/>
          <p:cNvSpPr/>
          <p:nvPr/>
        </p:nvSpPr>
        <p:spPr>
          <a:xfrm>
            <a:off x="742950" y="1360884"/>
            <a:ext cx="7658100" cy="105370"/>
          </a:xfrm>
          <a:prstGeom prst="rect">
            <a:avLst/>
          </a:prstGeom>
          <a:noFill/>
          <a:ln/>
        </p:spPr>
        <p:txBody>
          <a:bodyPr wrap="square" lIns="0" tIns="0" rIns="0" bIns="0" rtlCol="0" anchor="t">
            <a:spAutoFit/>
          </a:bodyPr>
          <a:lstStyle/>
          <a:p>
            <a:pPr algn="l" indent="0" marL="0">
              <a:buNone/>
            </a:pPr>
            <a:r>
              <a:rPr lang="en-US" sz="600" b="1" spc="2" kern="0" dirty="0">
                <a:solidFill>
                  <a:srgbClr val="EF4444"/>
                </a:solidFill>
                <a:latin typeface="Inter Bold" pitchFamily="34" charset="0"/>
                <a:ea typeface="Inter Bold" pitchFamily="34" charset="-122"/>
                <a:cs typeface="Inter Bold" pitchFamily="34" charset="-120"/>
              </a:rPr>
              <a:t>STRATEGIC LAYER</a:t>
            </a:r>
            <a:endParaRPr lang="en-US" sz="600" dirty="0"/>
          </a:p>
        </p:txBody>
      </p:sp>
      <p:sp>
        <p:nvSpPr>
          <p:cNvPr id="7" name="Text 4"/>
          <p:cNvSpPr/>
          <p:nvPr/>
        </p:nvSpPr>
        <p:spPr>
          <a:xfrm>
            <a:off x="742950" y="1509117"/>
            <a:ext cx="7658100" cy="266105"/>
          </a:xfrm>
          <a:prstGeom prst="rect">
            <a:avLst/>
          </a:prstGeom>
          <a:noFill/>
          <a:ln/>
        </p:spPr>
        <p:txBody>
          <a:bodyPr wrap="square" lIns="0" tIns="0" rIns="0" bIns="0" rtlCol="0" anchor="t">
            <a:spAutoFit/>
          </a:bodyPr>
          <a:lstStyle/>
          <a:p>
            <a:pPr algn="l" indent="0" marL="0">
              <a:buNone/>
            </a:pPr>
            <a:r>
              <a:rPr lang="en-US" sz="1400" b="1" dirty="0">
                <a:solidFill>
                  <a:srgbClr val="F8FAFC"/>
                </a:solidFill>
                <a:latin typeface="Playfair Display ExtraBold" pitchFamily="34" charset="0"/>
                <a:ea typeface="Playfair Display ExtraBold" pitchFamily="34" charset="-122"/>
                <a:cs typeface="Playfair Display ExtraBold" pitchFamily="34" charset="-120"/>
              </a:rPr>
              <a:t>AI Advisor</a:t>
            </a:r>
            <a:endParaRPr lang="en-US" sz="1400" dirty="0"/>
          </a:p>
        </p:txBody>
      </p:sp>
      <p:sp>
        <p:nvSpPr>
          <p:cNvPr id="8" name="Text 5"/>
          <p:cNvSpPr/>
          <p:nvPr/>
        </p:nvSpPr>
        <p:spPr>
          <a:xfrm>
            <a:off x="742950" y="1803797"/>
            <a:ext cx="7658100" cy="121444"/>
          </a:xfrm>
          <a:prstGeom prst="rect">
            <a:avLst/>
          </a:prstGeom>
          <a:noFill/>
          <a:ln/>
        </p:spPr>
        <p:txBody>
          <a:bodyPr wrap="square" lIns="0" tIns="0" rIns="0" bIns="0" rtlCol="0" anchor="t">
            <a:spAutoFit/>
          </a:bodyPr>
          <a:lstStyle/>
          <a:p>
            <a:pPr algn="l" indent="0" marL="0">
              <a:buNone/>
            </a:pPr>
            <a:r>
              <a:rPr lang="en-US" sz="700" b="1" dirty="0">
                <a:solidFill>
                  <a:srgbClr val="94A3B8"/>
                </a:solidFill>
                <a:latin typeface="Inter SemiBold" pitchFamily="34" charset="0"/>
                <a:ea typeface="Inter SemiBold" pitchFamily="34" charset="-122"/>
                <a:cs typeface="Inter SemiBold" pitchFamily="34" charset="-120"/>
              </a:rPr>
              <a:t>Companion Computer</a:t>
            </a:r>
            <a:endParaRPr lang="en-US" sz="700" dirty="0"/>
          </a:p>
        </p:txBody>
      </p:sp>
      <p:sp>
        <p:nvSpPr>
          <p:cNvPr id="9" name="Text 6"/>
          <p:cNvSpPr/>
          <p:nvPr/>
        </p:nvSpPr>
        <p:spPr>
          <a:xfrm>
            <a:off x="742950" y="1996678"/>
            <a:ext cx="3771900" cy="96441"/>
          </a:xfrm>
          <a:prstGeom prst="rect">
            <a:avLst/>
          </a:prstGeom>
          <a:noFill/>
          <a:ln/>
        </p:spPr>
        <p:txBody>
          <a:bodyPr wrap="square" lIns="0" tIns="0" rIns="0" bIns="0" rtlCol="0" anchor="t">
            <a:spAutoFit/>
          </a:bodyPr>
          <a:lstStyle/>
          <a:p>
            <a:pPr algn="l" indent="0" marL="0">
              <a:buNone/>
            </a:pPr>
            <a:r>
              <a:rPr lang="en-US" sz="550" b="1" spc="1" kern="0" dirty="0">
                <a:solidFill>
                  <a:srgbClr val="94A3B8"/>
                </a:solidFill>
                <a:latin typeface="Inter Bold" pitchFamily="34" charset="0"/>
                <a:ea typeface="Inter Bold" pitchFamily="34" charset="-122"/>
                <a:cs typeface="Inter Bold" pitchFamily="34" charset="-120"/>
              </a:rPr>
              <a:t>RESPONSIBILITY</a:t>
            </a:r>
            <a:endParaRPr lang="en-US" sz="550" dirty="0"/>
          </a:p>
        </p:txBody>
      </p:sp>
      <p:sp>
        <p:nvSpPr>
          <p:cNvPr id="10" name="Text 7"/>
          <p:cNvSpPr/>
          <p:nvPr/>
        </p:nvSpPr>
        <p:spPr>
          <a:xfrm>
            <a:off x="742950" y="2121694"/>
            <a:ext cx="3771900" cy="160009"/>
          </a:xfrm>
          <a:prstGeom prst="rect">
            <a:avLst/>
          </a:prstGeom>
          <a:noFill/>
          <a:ln/>
        </p:spPr>
        <p:txBody>
          <a:bodyPr wrap="none" lIns="0" tIns="0" rIns="0" bIns="0" rtlCol="0" anchor="t">
            <a:spAutoFit/>
          </a:bodyPr>
          <a:lstStyle/>
          <a:p>
            <a:pPr algn="l" indent="0" marL="0">
              <a:lnSpc>
                <a:spcPct val="128000"/>
              </a:lnSpc>
              <a:buNone/>
            </a:pPr>
            <a:r>
              <a:rPr lang="en-US" sz="750" dirty="0">
                <a:solidFill>
                  <a:srgbClr val="CBD5E1"/>
                </a:solidFill>
                <a:latin typeface="Inter" pitchFamily="34" charset="0"/>
                <a:ea typeface="Inter" pitchFamily="34" charset="-122"/>
                <a:cs typeface="Inter" pitchFamily="34" charset="-120"/>
              </a:rPr>
              <a:t>High-level reasoning, mission planning, semantic perception</a:t>
            </a:r>
            <a:endParaRPr lang="en-US" sz="750" dirty="0"/>
          </a:p>
        </p:txBody>
      </p:sp>
      <p:sp>
        <p:nvSpPr>
          <p:cNvPr id="11" name="Text 8"/>
          <p:cNvSpPr/>
          <p:nvPr/>
        </p:nvSpPr>
        <p:spPr>
          <a:xfrm>
            <a:off x="4629150" y="1996678"/>
            <a:ext cx="3771900" cy="96441"/>
          </a:xfrm>
          <a:prstGeom prst="rect">
            <a:avLst/>
          </a:prstGeom>
          <a:noFill/>
          <a:ln/>
        </p:spPr>
        <p:txBody>
          <a:bodyPr wrap="square" lIns="0" tIns="0" rIns="0" bIns="0" rtlCol="0" anchor="t">
            <a:spAutoFit/>
          </a:bodyPr>
          <a:lstStyle/>
          <a:p>
            <a:pPr algn="l" indent="0" marL="0">
              <a:buNone/>
            </a:pPr>
            <a:r>
              <a:rPr lang="en-US" sz="550" b="1" spc="1" kern="0" dirty="0">
                <a:solidFill>
                  <a:srgbClr val="94A3B8"/>
                </a:solidFill>
                <a:latin typeface="Inter Bold" pitchFamily="34" charset="0"/>
                <a:ea typeface="Inter Bold" pitchFamily="34" charset="-122"/>
                <a:cs typeface="Inter Bold" pitchFamily="34" charset="-120"/>
              </a:rPr>
              <a:t>HARDWARE</a:t>
            </a:r>
            <a:endParaRPr lang="en-US" sz="550" dirty="0"/>
          </a:p>
        </p:txBody>
      </p:sp>
      <p:sp>
        <p:nvSpPr>
          <p:cNvPr id="12" name="Text 9"/>
          <p:cNvSpPr/>
          <p:nvPr/>
        </p:nvSpPr>
        <p:spPr>
          <a:xfrm>
            <a:off x="4629150" y="2121694"/>
            <a:ext cx="3771900" cy="160009"/>
          </a:xfrm>
          <a:prstGeom prst="rect">
            <a:avLst/>
          </a:prstGeom>
          <a:noFill/>
          <a:ln/>
        </p:spPr>
        <p:txBody>
          <a:bodyPr wrap="none" lIns="0" tIns="0" rIns="0" bIns="0" rtlCol="0" anchor="t">
            <a:spAutoFit/>
          </a:bodyPr>
          <a:lstStyle/>
          <a:p>
            <a:pPr algn="l" indent="0" marL="0">
              <a:lnSpc>
                <a:spcPct val="128000"/>
              </a:lnSpc>
              <a:buNone/>
            </a:pPr>
            <a:r>
              <a:rPr lang="en-US" sz="750" dirty="0">
                <a:solidFill>
                  <a:srgbClr val="CBD5E1"/>
                </a:solidFill>
                <a:latin typeface="Inter" pitchFamily="34" charset="0"/>
                <a:ea typeface="Inter" pitchFamily="34" charset="-122"/>
                <a:cs typeface="Inter" pitchFamily="34" charset="-120"/>
              </a:rPr>
              <a:t>NVIDIA Jetson, Raspberry Pi, etc.</a:t>
            </a:r>
            <a:endParaRPr lang="en-US" sz="750" dirty="0"/>
          </a:p>
        </p:txBody>
      </p:sp>
      <p:pic>
        <p:nvPicPr>
          <p:cNvPr id="13" name="Image 1" descr="preencoded.png">    </p:cNvPr>
          <p:cNvPicPr>
            <a:picLocks noChangeAspect="1"/>
          </p:cNvPicPr>
          <p:nvPr/>
        </p:nvPicPr>
        <p:blipFill>
          <a:blip r:embed="rId2"/>
          <a:stretch>
            <a:fillRect/>
          </a:stretch>
        </p:blipFill>
        <p:spPr>
          <a:xfrm>
            <a:off x="4518422" y="2360284"/>
            <a:ext cx="107156" cy="142875"/>
          </a:xfrm>
          <a:prstGeom prst="rect">
            <a:avLst/>
          </a:prstGeom>
        </p:spPr>
      </p:pic>
      <p:sp>
        <p:nvSpPr>
          <p:cNvPr id="14" name="Shape 10"/>
          <p:cNvSpPr/>
          <p:nvPr/>
        </p:nvSpPr>
        <p:spPr>
          <a:xfrm>
            <a:off x="571500" y="2496015"/>
            <a:ext cx="8001000" cy="1252277"/>
          </a:xfrm>
          <a:prstGeom prst="rect">
            <a:avLst/>
          </a:prstGeom>
          <a:solidFill>
            <a:srgbClr val="1E293B"/>
          </a:solidFill>
          <a:ln/>
        </p:spPr>
      </p:sp>
      <p:sp>
        <p:nvSpPr>
          <p:cNvPr id="15" name="Text 11"/>
          <p:cNvSpPr/>
          <p:nvPr/>
        </p:nvSpPr>
        <p:spPr>
          <a:xfrm>
            <a:off x="742950" y="2581740"/>
            <a:ext cx="7658100" cy="105370"/>
          </a:xfrm>
          <a:prstGeom prst="rect">
            <a:avLst/>
          </a:prstGeom>
          <a:noFill/>
          <a:ln/>
        </p:spPr>
        <p:txBody>
          <a:bodyPr wrap="square" lIns="0" tIns="0" rIns="0" bIns="0" rtlCol="0" anchor="t">
            <a:spAutoFit/>
          </a:bodyPr>
          <a:lstStyle/>
          <a:p>
            <a:pPr algn="l" indent="0" marL="0">
              <a:buNone/>
            </a:pPr>
            <a:r>
              <a:rPr lang="en-US" sz="600" b="1" spc="2" kern="0" dirty="0">
                <a:solidFill>
                  <a:srgbClr val="EF4444"/>
                </a:solidFill>
                <a:latin typeface="Inter Bold" pitchFamily="34" charset="0"/>
                <a:ea typeface="Inter Bold" pitchFamily="34" charset="-122"/>
                <a:cs typeface="Inter Bold" pitchFamily="34" charset="-120"/>
              </a:rPr>
              <a:t>TACTICAL LAYER</a:t>
            </a:r>
            <a:endParaRPr lang="en-US" sz="600" dirty="0"/>
          </a:p>
        </p:txBody>
      </p:sp>
      <p:sp>
        <p:nvSpPr>
          <p:cNvPr id="16" name="Text 12"/>
          <p:cNvSpPr/>
          <p:nvPr/>
        </p:nvSpPr>
        <p:spPr>
          <a:xfrm>
            <a:off x="742950" y="2729973"/>
            <a:ext cx="7658100" cy="266105"/>
          </a:xfrm>
          <a:prstGeom prst="rect">
            <a:avLst/>
          </a:prstGeom>
          <a:noFill/>
          <a:ln/>
        </p:spPr>
        <p:txBody>
          <a:bodyPr wrap="square" lIns="0" tIns="0" rIns="0" bIns="0" rtlCol="0" anchor="t">
            <a:spAutoFit/>
          </a:bodyPr>
          <a:lstStyle/>
          <a:p>
            <a:pPr algn="l" indent="0" marL="0">
              <a:buNone/>
            </a:pPr>
            <a:r>
              <a:rPr lang="en-US" sz="1400" b="1" dirty="0">
                <a:solidFill>
                  <a:srgbClr val="F8FAFC"/>
                </a:solidFill>
                <a:latin typeface="Playfair Display ExtraBold" pitchFamily="34" charset="0"/>
                <a:ea typeface="Playfair Display ExtraBold" pitchFamily="34" charset="-122"/>
                <a:cs typeface="Playfair Display ExtraBold" pitchFamily="34" charset="-120"/>
              </a:rPr>
              <a:t>Middleware</a:t>
            </a:r>
            <a:endParaRPr lang="en-US" sz="1400" dirty="0"/>
          </a:p>
        </p:txBody>
      </p:sp>
      <p:sp>
        <p:nvSpPr>
          <p:cNvPr id="17" name="Text 13"/>
          <p:cNvSpPr/>
          <p:nvPr/>
        </p:nvSpPr>
        <p:spPr>
          <a:xfrm>
            <a:off x="742950" y="3024653"/>
            <a:ext cx="7658100" cy="121444"/>
          </a:xfrm>
          <a:prstGeom prst="rect">
            <a:avLst/>
          </a:prstGeom>
          <a:noFill/>
          <a:ln/>
        </p:spPr>
        <p:txBody>
          <a:bodyPr wrap="square" lIns="0" tIns="0" rIns="0" bIns="0" rtlCol="0" anchor="t">
            <a:spAutoFit/>
          </a:bodyPr>
          <a:lstStyle/>
          <a:p>
            <a:pPr algn="l" indent="0" marL="0">
              <a:buNone/>
            </a:pPr>
            <a:r>
              <a:rPr lang="en-US" sz="700" b="1" dirty="0">
                <a:solidFill>
                  <a:srgbClr val="94A3B8"/>
                </a:solidFill>
                <a:latin typeface="Inter SemiBold" pitchFamily="34" charset="0"/>
                <a:ea typeface="Inter SemiBold" pitchFamily="34" charset="-122"/>
                <a:cs typeface="Inter SemiBold" pitchFamily="34" charset="-120"/>
              </a:rPr>
              <a:t>Companion Computer</a:t>
            </a:r>
            <a:endParaRPr lang="en-US" sz="700" dirty="0"/>
          </a:p>
        </p:txBody>
      </p:sp>
      <p:sp>
        <p:nvSpPr>
          <p:cNvPr id="18" name="Text 14"/>
          <p:cNvSpPr/>
          <p:nvPr/>
        </p:nvSpPr>
        <p:spPr>
          <a:xfrm>
            <a:off x="742950" y="3217534"/>
            <a:ext cx="3771900" cy="96441"/>
          </a:xfrm>
          <a:prstGeom prst="rect">
            <a:avLst/>
          </a:prstGeom>
          <a:noFill/>
          <a:ln/>
        </p:spPr>
        <p:txBody>
          <a:bodyPr wrap="square" lIns="0" tIns="0" rIns="0" bIns="0" rtlCol="0" anchor="t">
            <a:spAutoFit/>
          </a:bodyPr>
          <a:lstStyle/>
          <a:p>
            <a:pPr algn="l" indent="0" marL="0">
              <a:buNone/>
            </a:pPr>
            <a:r>
              <a:rPr lang="en-US" sz="550" b="1" spc="1" kern="0" dirty="0">
                <a:solidFill>
                  <a:srgbClr val="94A3B8"/>
                </a:solidFill>
                <a:latin typeface="Inter Bold" pitchFamily="34" charset="0"/>
                <a:ea typeface="Inter Bold" pitchFamily="34" charset="-122"/>
                <a:cs typeface="Inter Bold" pitchFamily="34" charset="-120"/>
              </a:rPr>
              <a:t>RESPONSIBILITY</a:t>
            </a:r>
            <a:endParaRPr lang="en-US" sz="550" dirty="0"/>
          </a:p>
        </p:txBody>
      </p:sp>
      <p:sp>
        <p:nvSpPr>
          <p:cNvPr id="19" name="Text 15"/>
          <p:cNvSpPr/>
          <p:nvPr/>
        </p:nvSpPr>
        <p:spPr>
          <a:xfrm>
            <a:off x="742950" y="3342549"/>
            <a:ext cx="3771900" cy="320018"/>
          </a:xfrm>
          <a:prstGeom prst="rect">
            <a:avLst/>
          </a:prstGeom>
          <a:noFill/>
          <a:ln/>
        </p:spPr>
        <p:txBody>
          <a:bodyPr wrap="square" lIns="0" tIns="0" rIns="0" bIns="0" rtlCol="0" anchor="t">
            <a:spAutoFit/>
          </a:bodyPr>
          <a:lstStyle/>
          <a:p>
            <a:pPr algn="l" indent="0" marL="0">
              <a:lnSpc>
                <a:spcPct val="128000"/>
              </a:lnSpc>
              <a:buNone/>
            </a:pPr>
            <a:r>
              <a:rPr lang="en-US" sz="750" dirty="0">
                <a:solidFill>
                  <a:srgbClr val="CBD5E1"/>
                </a:solidFill>
                <a:latin typeface="Inter" pitchFamily="34" charset="0"/>
                <a:ea typeface="Inter" pitchFamily="34" charset="-122"/>
                <a:cs typeface="Inter" pitchFamily="34" charset="-120"/>
              </a:rPr>
              <a:t>Command translation, safety enforcement, constraint checking, comms-loss decision logic, energy-margin arbitration</a:t>
            </a:r>
            <a:endParaRPr lang="en-US" sz="750" dirty="0"/>
          </a:p>
        </p:txBody>
      </p:sp>
      <p:sp>
        <p:nvSpPr>
          <p:cNvPr id="20" name="Text 16"/>
          <p:cNvSpPr/>
          <p:nvPr/>
        </p:nvSpPr>
        <p:spPr>
          <a:xfrm>
            <a:off x="4629150" y="3217534"/>
            <a:ext cx="3771900" cy="96441"/>
          </a:xfrm>
          <a:prstGeom prst="rect">
            <a:avLst/>
          </a:prstGeom>
          <a:noFill/>
          <a:ln/>
        </p:spPr>
        <p:txBody>
          <a:bodyPr wrap="square" lIns="0" tIns="0" rIns="0" bIns="0" rtlCol="0" anchor="t">
            <a:spAutoFit/>
          </a:bodyPr>
          <a:lstStyle/>
          <a:p>
            <a:pPr algn="l" indent="0" marL="0">
              <a:buNone/>
            </a:pPr>
            <a:r>
              <a:rPr lang="en-US" sz="550" b="1" spc="1" kern="0" dirty="0">
                <a:solidFill>
                  <a:srgbClr val="94A3B8"/>
                </a:solidFill>
                <a:latin typeface="Inter Bold" pitchFamily="34" charset="0"/>
                <a:ea typeface="Inter Bold" pitchFamily="34" charset="-122"/>
                <a:cs typeface="Inter Bold" pitchFamily="34" charset="-120"/>
              </a:rPr>
              <a:t>HARDWARE</a:t>
            </a:r>
            <a:endParaRPr lang="en-US" sz="550" dirty="0"/>
          </a:p>
        </p:txBody>
      </p:sp>
      <p:sp>
        <p:nvSpPr>
          <p:cNvPr id="21" name="Text 17"/>
          <p:cNvSpPr/>
          <p:nvPr/>
        </p:nvSpPr>
        <p:spPr>
          <a:xfrm>
            <a:off x="4629150" y="3342549"/>
            <a:ext cx="3771900" cy="160009"/>
          </a:xfrm>
          <a:prstGeom prst="rect">
            <a:avLst/>
          </a:prstGeom>
          <a:noFill/>
          <a:ln/>
        </p:spPr>
        <p:txBody>
          <a:bodyPr wrap="none" lIns="0" tIns="0" rIns="0" bIns="0" rtlCol="0" anchor="t">
            <a:spAutoFit/>
          </a:bodyPr>
          <a:lstStyle/>
          <a:p>
            <a:pPr algn="l" indent="0" marL="0">
              <a:lnSpc>
                <a:spcPct val="128000"/>
              </a:lnSpc>
              <a:buNone/>
            </a:pPr>
            <a:r>
              <a:rPr lang="en-US" sz="750" dirty="0">
                <a:solidFill>
                  <a:srgbClr val="CBD5E1"/>
                </a:solidFill>
                <a:latin typeface="Inter" pitchFamily="34" charset="0"/>
                <a:ea typeface="Inter" pitchFamily="34" charset="-122"/>
                <a:cs typeface="Inter" pitchFamily="34" charset="-120"/>
              </a:rPr>
              <a:t>Companion Computer (same platform)</a:t>
            </a:r>
            <a:endParaRPr lang="en-US" sz="750" dirty="0"/>
          </a:p>
        </p:txBody>
      </p:sp>
      <p:pic>
        <p:nvPicPr>
          <p:cNvPr id="22" name="Image 2" descr="preencoded.png">    </p:cNvPr>
          <p:cNvPicPr>
            <a:picLocks noChangeAspect="1"/>
          </p:cNvPicPr>
          <p:nvPr/>
        </p:nvPicPr>
        <p:blipFill>
          <a:blip r:embed="rId3"/>
          <a:stretch>
            <a:fillRect/>
          </a:stretch>
        </p:blipFill>
        <p:spPr>
          <a:xfrm>
            <a:off x="4518422" y="3741148"/>
            <a:ext cx="107156" cy="142875"/>
          </a:xfrm>
          <a:prstGeom prst="rect">
            <a:avLst/>
          </a:prstGeom>
        </p:spPr>
      </p:pic>
      <p:sp>
        <p:nvSpPr>
          <p:cNvPr id="23" name="Shape 18"/>
          <p:cNvSpPr/>
          <p:nvPr/>
        </p:nvSpPr>
        <p:spPr>
          <a:xfrm>
            <a:off x="571500" y="3876880"/>
            <a:ext cx="8001000" cy="1092268"/>
          </a:xfrm>
          <a:prstGeom prst="rect">
            <a:avLst/>
          </a:prstGeom>
          <a:solidFill>
            <a:srgbClr val="334155"/>
          </a:solidFill>
          <a:ln/>
        </p:spPr>
      </p:sp>
      <p:sp>
        <p:nvSpPr>
          <p:cNvPr id="24" name="Text 19"/>
          <p:cNvSpPr/>
          <p:nvPr/>
        </p:nvSpPr>
        <p:spPr>
          <a:xfrm>
            <a:off x="742950" y="3962605"/>
            <a:ext cx="7658100" cy="105370"/>
          </a:xfrm>
          <a:prstGeom prst="rect">
            <a:avLst/>
          </a:prstGeom>
          <a:noFill/>
          <a:ln/>
        </p:spPr>
        <p:txBody>
          <a:bodyPr wrap="square" lIns="0" tIns="0" rIns="0" bIns="0" rtlCol="0" anchor="t">
            <a:spAutoFit/>
          </a:bodyPr>
          <a:lstStyle/>
          <a:p>
            <a:pPr algn="l" indent="0" marL="0">
              <a:buNone/>
            </a:pPr>
            <a:r>
              <a:rPr lang="en-US" sz="600" b="1" spc="2" kern="0" dirty="0">
                <a:solidFill>
                  <a:srgbClr val="EF4444"/>
                </a:solidFill>
                <a:latin typeface="Inter Bold" pitchFamily="34" charset="0"/>
                <a:ea typeface="Inter Bold" pitchFamily="34" charset="-122"/>
                <a:cs typeface="Inter Bold" pitchFamily="34" charset="-120"/>
              </a:rPr>
              <a:t>EXECUTION LAYER</a:t>
            </a:r>
            <a:endParaRPr lang="en-US" sz="600" dirty="0"/>
          </a:p>
        </p:txBody>
      </p:sp>
      <p:sp>
        <p:nvSpPr>
          <p:cNvPr id="25" name="Text 20"/>
          <p:cNvSpPr/>
          <p:nvPr/>
        </p:nvSpPr>
        <p:spPr>
          <a:xfrm>
            <a:off x="742950" y="4110837"/>
            <a:ext cx="7658100" cy="266105"/>
          </a:xfrm>
          <a:prstGeom prst="rect">
            <a:avLst/>
          </a:prstGeom>
          <a:noFill/>
          <a:ln/>
        </p:spPr>
        <p:txBody>
          <a:bodyPr wrap="square" lIns="0" tIns="0" rIns="0" bIns="0" rtlCol="0" anchor="t">
            <a:spAutoFit/>
          </a:bodyPr>
          <a:lstStyle/>
          <a:p>
            <a:pPr algn="l" indent="0" marL="0">
              <a:buNone/>
            </a:pPr>
            <a:r>
              <a:rPr lang="en-US" sz="1400" b="1" dirty="0">
                <a:solidFill>
                  <a:srgbClr val="F8FAFC"/>
                </a:solidFill>
                <a:latin typeface="Playfair Display ExtraBold" pitchFamily="34" charset="0"/>
                <a:ea typeface="Playfair Display ExtraBold" pitchFamily="34" charset="-122"/>
                <a:cs typeface="Playfair Display ExtraBold" pitchFamily="34" charset="-120"/>
              </a:rPr>
              <a:t>PX4 Flight Stack</a:t>
            </a:r>
            <a:endParaRPr lang="en-US" sz="1400" dirty="0"/>
          </a:p>
        </p:txBody>
      </p:sp>
      <p:sp>
        <p:nvSpPr>
          <p:cNvPr id="26" name="Text 21"/>
          <p:cNvSpPr/>
          <p:nvPr/>
        </p:nvSpPr>
        <p:spPr>
          <a:xfrm>
            <a:off x="742950" y="4405517"/>
            <a:ext cx="7658100" cy="121444"/>
          </a:xfrm>
          <a:prstGeom prst="rect">
            <a:avLst/>
          </a:prstGeom>
          <a:noFill/>
          <a:ln/>
        </p:spPr>
        <p:txBody>
          <a:bodyPr wrap="square" lIns="0" tIns="0" rIns="0" bIns="0" rtlCol="0" anchor="t">
            <a:spAutoFit/>
          </a:bodyPr>
          <a:lstStyle/>
          <a:p>
            <a:pPr algn="l" indent="0" marL="0">
              <a:buNone/>
            </a:pPr>
            <a:r>
              <a:rPr lang="en-US" sz="700" b="1" dirty="0">
                <a:solidFill>
                  <a:srgbClr val="94A3B8"/>
                </a:solidFill>
                <a:latin typeface="Inter SemiBold" pitchFamily="34" charset="0"/>
                <a:ea typeface="Inter SemiBold" pitchFamily="34" charset="-122"/>
                <a:cs typeface="Inter SemiBold" pitchFamily="34" charset="-120"/>
              </a:rPr>
              <a:t>Flight Controller</a:t>
            </a:r>
            <a:endParaRPr lang="en-US" sz="700" dirty="0"/>
          </a:p>
        </p:txBody>
      </p:sp>
      <p:sp>
        <p:nvSpPr>
          <p:cNvPr id="27" name="Text 22"/>
          <p:cNvSpPr/>
          <p:nvPr/>
        </p:nvSpPr>
        <p:spPr>
          <a:xfrm>
            <a:off x="742950" y="4598398"/>
            <a:ext cx="3771900" cy="96441"/>
          </a:xfrm>
          <a:prstGeom prst="rect">
            <a:avLst/>
          </a:prstGeom>
          <a:noFill/>
          <a:ln/>
        </p:spPr>
        <p:txBody>
          <a:bodyPr wrap="square" lIns="0" tIns="0" rIns="0" bIns="0" rtlCol="0" anchor="t">
            <a:spAutoFit/>
          </a:bodyPr>
          <a:lstStyle/>
          <a:p>
            <a:pPr algn="l" indent="0" marL="0">
              <a:buNone/>
            </a:pPr>
            <a:r>
              <a:rPr lang="en-US" sz="550" b="1" spc="1" kern="0" dirty="0">
                <a:solidFill>
                  <a:srgbClr val="94A3B8"/>
                </a:solidFill>
                <a:latin typeface="Inter Bold" pitchFamily="34" charset="0"/>
                <a:ea typeface="Inter Bold" pitchFamily="34" charset="-122"/>
                <a:cs typeface="Inter Bold" pitchFamily="34" charset="-120"/>
              </a:rPr>
              <a:t>RESPONSIBILITY</a:t>
            </a:r>
            <a:endParaRPr lang="en-US" sz="550" dirty="0"/>
          </a:p>
        </p:txBody>
      </p:sp>
      <p:sp>
        <p:nvSpPr>
          <p:cNvPr id="28" name="Text 23"/>
          <p:cNvSpPr/>
          <p:nvPr/>
        </p:nvSpPr>
        <p:spPr>
          <a:xfrm>
            <a:off x="742950" y="4723414"/>
            <a:ext cx="3771900" cy="160009"/>
          </a:xfrm>
          <a:prstGeom prst="rect">
            <a:avLst/>
          </a:prstGeom>
          <a:noFill/>
          <a:ln/>
        </p:spPr>
        <p:txBody>
          <a:bodyPr wrap="none" lIns="0" tIns="0" rIns="0" bIns="0" rtlCol="0" anchor="t">
            <a:spAutoFit/>
          </a:bodyPr>
          <a:lstStyle/>
          <a:p>
            <a:pPr algn="l" indent="0" marL="0">
              <a:lnSpc>
                <a:spcPct val="128000"/>
              </a:lnSpc>
              <a:buNone/>
            </a:pPr>
            <a:r>
              <a:rPr lang="en-US" sz="750" dirty="0">
                <a:solidFill>
                  <a:srgbClr val="CBD5E1"/>
                </a:solidFill>
                <a:latin typeface="Inter" pitchFamily="34" charset="0"/>
                <a:ea typeface="Inter" pitchFamily="34" charset="-122"/>
                <a:cs typeface="Inter" pitchFamily="34" charset="-120"/>
              </a:rPr>
              <a:t>Low-level control, stabilization, sensor fusion, failsafes</a:t>
            </a:r>
            <a:endParaRPr lang="en-US" sz="750" dirty="0"/>
          </a:p>
        </p:txBody>
      </p:sp>
      <p:sp>
        <p:nvSpPr>
          <p:cNvPr id="29" name="Text 24"/>
          <p:cNvSpPr/>
          <p:nvPr/>
        </p:nvSpPr>
        <p:spPr>
          <a:xfrm>
            <a:off x="4629150" y="4598398"/>
            <a:ext cx="3771900" cy="96441"/>
          </a:xfrm>
          <a:prstGeom prst="rect">
            <a:avLst/>
          </a:prstGeom>
          <a:noFill/>
          <a:ln/>
        </p:spPr>
        <p:txBody>
          <a:bodyPr wrap="square" lIns="0" tIns="0" rIns="0" bIns="0" rtlCol="0" anchor="t">
            <a:spAutoFit/>
          </a:bodyPr>
          <a:lstStyle/>
          <a:p>
            <a:pPr algn="l" indent="0" marL="0">
              <a:buNone/>
            </a:pPr>
            <a:r>
              <a:rPr lang="en-US" sz="550" b="1" spc="1" kern="0" dirty="0">
                <a:solidFill>
                  <a:srgbClr val="94A3B8"/>
                </a:solidFill>
                <a:latin typeface="Inter Bold" pitchFamily="34" charset="0"/>
                <a:ea typeface="Inter Bold" pitchFamily="34" charset="-122"/>
                <a:cs typeface="Inter Bold" pitchFamily="34" charset="-120"/>
              </a:rPr>
              <a:t>HARDWARE</a:t>
            </a:r>
            <a:endParaRPr lang="en-US" sz="550" dirty="0"/>
          </a:p>
        </p:txBody>
      </p:sp>
      <p:sp>
        <p:nvSpPr>
          <p:cNvPr id="30" name="Text 25"/>
          <p:cNvSpPr/>
          <p:nvPr/>
        </p:nvSpPr>
        <p:spPr>
          <a:xfrm>
            <a:off x="4629150" y="4723414"/>
            <a:ext cx="3771900" cy="160009"/>
          </a:xfrm>
          <a:prstGeom prst="rect">
            <a:avLst/>
          </a:prstGeom>
          <a:noFill/>
          <a:ln/>
        </p:spPr>
        <p:txBody>
          <a:bodyPr wrap="none" lIns="0" tIns="0" rIns="0" bIns="0" rtlCol="0" anchor="t">
            <a:spAutoFit/>
          </a:bodyPr>
          <a:lstStyle/>
          <a:p>
            <a:pPr algn="l" indent="0" marL="0">
              <a:lnSpc>
                <a:spcPct val="128000"/>
              </a:lnSpc>
              <a:buNone/>
            </a:pPr>
            <a:r>
              <a:rPr lang="en-US" sz="750" dirty="0">
                <a:solidFill>
                  <a:srgbClr val="CBD5E1"/>
                </a:solidFill>
                <a:latin typeface="Inter" pitchFamily="34" charset="0"/>
                <a:ea typeface="Inter" pitchFamily="34" charset="-122"/>
                <a:cs typeface="Inter" pitchFamily="34" charset="-120"/>
              </a:rPr>
              <a:t>Pixhawk, Holybro, CUAV</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571500" y="342900"/>
            <a:ext cx="8001000" cy="360759"/>
          </a:xfrm>
          <a:prstGeom prst="rect">
            <a:avLst/>
          </a:prstGeom>
          <a:noFill/>
          <a:ln/>
        </p:spPr>
        <p:txBody>
          <a:bodyPr wrap="square" lIns="0" tIns="0" rIns="0" bIns="0" rtlCol="0" anchor="t">
            <a:spAutoFit/>
          </a:bodyPr>
          <a:lstStyle/>
          <a:p>
            <a:pPr algn="l" indent="0" marL="0">
              <a:buNone/>
            </a:pPr>
            <a:r>
              <a:rPr lang="en-US" sz="1900" b="1" dirty="0">
                <a:solidFill>
                  <a:srgbClr val="0F172A"/>
                </a:solidFill>
                <a:latin typeface="Playfair Display ExtraBold" pitchFamily="34" charset="0"/>
                <a:ea typeface="Playfair Display ExtraBold" pitchFamily="34" charset="-122"/>
                <a:cs typeface="Playfair Display ExtraBold" pitchFamily="34" charset="-120"/>
              </a:rPr>
              <a:t>Communication Bridge via uXRCE-DDS</a:t>
            </a:r>
            <a:endParaRPr lang="en-US" sz="1900" dirty="0"/>
          </a:p>
        </p:txBody>
      </p:sp>
      <p:sp>
        <p:nvSpPr>
          <p:cNvPr id="4" name="Text 1"/>
          <p:cNvSpPr/>
          <p:nvPr/>
        </p:nvSpPr>
        <p:spPr>
          <a:xfrm>
            <a:off x="1357313" y="1103709"/>
            <a:ext cx="6429375" cy="388609"/>
          </a:xfrm>
          <a:prstGeom prst="rect">
            <a:avLst/>
          </a:prstGeom>
          <a:noFill/>
          <a:ln/>
        </p:spPr>
        <p:txBody>
          <a:bodyPr wrap="square" lIns="0" tIns="0" rIns="0" bIns="0" rtlCol="0" anchor="t">
            <a:spAutoFit/>
          </a:bodyPr>
          <a:lstStyle/>
          <a:p>
            <a:pPr algn="ctr" indent="0" marL="0">
              <a:lnSpc>
                <a:spcPct val="136000"/>
              </a:lnSpc>
              <a:buNone/>
            </a:pPr>
            <a:r>
              <a:rPr lang="en-US" sz="850" dirty="0">
                <a:solidFill>
                  <a:srgbClr val="334155"/>
                </a:solidFill>
                <a:latin typeface="Inter" pitchFamily="34" charset="0"/>
                <a:ea typeface="Inter" pitchFamily="34" charset="-122"/>
                <a:cs typeface="Inter" pitchFamily="34" charset="-120"/>
              </a:rPr>
              <a:t>All data exchange between the AI layer and PX4 occurs through the </a:t>
            </a:r>
            <a:r>
              <a:rPr lang="en-US" sz="800" b="1" dirty="0">
                <a:solidFill>
                  <a:srgbClr val="0F172A"/>
                </a:solidFill>
                <a:latin typeface="Inter SemiBold" pitchFamily="34" charset="0"/>
                <a:ea typeface="Inter SemiBold" pitchFamily="34" charset="-122"/>
                <a:cs typeface="Inter SemiBold" pitchFamily="34" charset="-120"/>
              </a:rPr>
              <a:t>uXRCE-DDS</a:t>
            </a:r>
            <a:r>
              <a:rPr lang="en-US" sz="850" dirty="0">
                <a:solidFill>
                  <a:srgbClr val="334155"/>
                </a:solidFill>
                <a:latin typeface="Inter" pitchFamily="34" charset="0"/>
                <a:ea typeface="Inter" pitchFamily="34" charset="-122"/>
                <a:cs typeface="Inter" pitchFamily="34" charset="-120"/>
              </a:rPr>
              <a:t> (ROS 2) bridge. This establishes a </a:t>
            </a:r>
            <a:r>
              <a:rPr lang="en-US" sz="850" dirty="0">
                <a:solidFill>
                  <a:srgbClr val="334155"/>
                </a:solidFill>
                <a:latin typeface="Inter" pitchFamily="34" charset="0"/>
                <a:ea typeface="Inter" pitchFamily="34" charset="-122"/>
                <a:cs typeface="Inter" pitchFamily="34" charset="-120"/>
              </a:rPr>
              <a:t>robust, bidirectional communication channel.</a:t>
            </a:r>
            <a:endParaRPr lang="en-US" sz="850" dirty="0"/>
          </a:p>
        </p:txBody>
      </p:sp>
      <p:sp>
        <p:nvSpPr>
          <p:cNvPr id="5" name="Shape 2"/>
          <p:cNvSpPr/>
          <p:nvPr/>
        </p:nvSpPr>
        <p:spPr>
          <a:xfrm>
            <a:off x="624185" y="1835218"/>
            <a:ext cx="7895630" cy="860822"/>
          </a:xfrm>
          <a:prstGeom prst="rect">
            <a:avLst/>
          </a:prstGeom>
          <a:solidFill>
            <a:srgbClr val="0F172A"/>
          </a:solidFill>
          <a:ln/>
        </p:spPr>
      </p:sp>
      <p:sp>
        <p:nvSpPr>
          <p:cNvPr id="6" name="Shape 3"/>
          <p:cNvSpPr/>
          <p:nvPr/>
        </p:nvSpPr>
        <p:spPr>
          <a:xfrm>
            <a:off x="624185" y="1835218"/>
            <a:ext cx="7895630" cy="28575"/>
          </a:xfrm>
          <a:prstGeom prst="rect">
            <a:avLst/>
          </a:prstGeom>
          <a:solidFill>
            <a:srgbClr val="991B1B"/>
          </a:solidFill>
          <a:ln/>
        </p:spPr>
      </p:sp>
      <p:sp>
        <p:nvSpPr>
          <p:cNvPr id="7" name="Shape 4"/>
          <p:cNvSpPr/>
          <p:nvPr/>
        </p:nvSpPr>
        <p:spPr>
          <a:xfrm>
            <a:off x="852785" y="2006668"/>
            <a:ext cx="1143000" cy="489347"/>
          </a:xfrm>
          <a:prstGeom prst="rect">
            <a:avLst/>
          </a:prstGeom>
          <a:solidFill>
            <a:srgbClr val="1E293B"/>
          </a:solidFill>
          <a:ln w="9144">
            <a:solidFill>
              <a:srgbClr val="334155"/>
            </a:solidFill>
            <a:prstDash val="solid"/>
          </a:ln>
        </p:spPr>
      </p:sp>
      <p:sp>
        <p:nvSpPr>
          <p:cNvPr id="8" name="Text 5"/>
          <p:cNvSpPr/>
          <p:nvPr/>
        </p:nvSpPr>
        <p:spPr>
          <a:xfrm>
            <a:off x="995660" y="2128112"/>
            <a:ext cx="857250" cy="121444"/>
          </a:xfrm>
          <a:prstGeom prst="rect">
            <a:avLst/>
          </a:prstGeom>
          <a:noFill/>
          <a:ln/>
        </p:spPr>
        <p:txBody>
          <a:bodyPr wrap="none" lIns="0" tIns="0" rIns="0" bIns="0" rtlCol="0" anchor="t">
            <a:spAutoFit/>
          </a:bodyPr>
          <a:lstStyle/>
          <a:p>
            <a:pPr algn="ctr" indent="0" marL="0">
              <a:buNone/>
            </a:pPr>
            <a:r>
              <a:rPr lang="en-US" sz="700" b="1" dirty="0">
                <a:solidFill>
                  <a:srgbClr val="F8FAFC"/>
                </a:solidFill>
                <a:latin typeface="Inter Bold" pitchFamily="34" charset="0"/>
                <a:ea typeface="Inter Bold" pitchFamily="34" charset="-122"/>
                <a:cs typeface="Inter Bold" pitchFamily="34" charset="-120"/>
              </a:rPr>
              <a:t>AI / ROS 2 Node</a:t>
            </a:r>
            <a:endParaRPr lang="en-US" sz="700" dirty="0"/>
          </a:p>
        </p:txBody>
      </p:sp>
      <p:sp>
        <p:nvSpPr>
          <p:cNvPr id="9" name="Text 6"/>
          <p:cNvSpPr/>
          <p:nvPr/>
        </p:nvSpPr>
        <p:spPr>
          <a:xfrm>
            <a:off x="995660" y="2278131"/>
            <a:ext cx="857250" cy="96441"/>
          </a:xfrm>
          <a:prstGeom prst="rect">
            <a:avLst/>
          </a:prstGeom>
          <a:noFill/>
          <a:ln/>
        </p:spPr>
        <p:txBody>
          <a:bodyPr wrap="none" lIns="0" tIns="0" rIns="0" bIns="0" rtlCol="0" anchor="t">
            <a:spAutoFit/>
          </a:bodyPr>
          <a:lstStyle/>
          <a:p>
            <a:pPr algn="ctr" indent="0" marL="0">
              <a:buNone/>
            </a:pPr>
            <a:r>
              <a:rPr lang="en-US" sz="550" dirty="0">
                <a:solidFill>
                  <a:srgbClr val="94A3B8"/>
                </a:solidFill>
                <a:latin typeface="Inter" pitchFamily="34" charset="0"/>
                <a:ea typeface="Inter" pitchFamily="34" charset="-122"/>
                <a:cs typeface="Inter" pitchFamily="34" charset="-120"/>
              </a:rPr>
              <a:t>Source</a:t>
            </a:r>
            <a:endParaRPr lang="en-US" sz="550" dirty="0"/>
          </a:p>
        </p:txBody>
      </p:sp>
      <p:sp>
        <p:nvSpPr>
          <p:cNvPr id="10" name="Shape 7"/>
          <p:cNvSpPr/>
          <p:nvPr/>
        </p:nvSpPr>
        <p:spPr>
          <a:xfrm>
            <a:off x="2052935" y="2244198"/>
            <a:ext cx="285750" cy="14288"/>
          </a:xfrm>
          <a:prstGeom prst="rect">
            <a:avLst/>
          </a:prstGeom>
          <a:solidFill>
            <a:srgbClr val="991B1B"/>
          </a:solidFill>
          <a:ln/>
        </p:spPr>
      </p:sp>
      <p:sp>
        <p:nvSpPr>
          <p:cNvPr id="11" name="Shape 8"/>
          <p:cNvSpPr/>
          <p:nvPr/>
        </p:nvSpPr>
        <p:spPr>
          <a:xfrm>
            <a:off x="2395835" y="2006668"/>
            <a:ext cx="1209080" cy="489347"/>
          </a:xfrm>
          <a:prstGeom prst="rect">
            <a:avLst/>
          </a:prstGeom>
          <a:solidFill>
            <a:srgbClr val="1E293B"/>
          </a:solidFill>
          <a:ln w="9144">
            <a:solidFill>
              <a:srgbClr val="334155"/>
            </a:solidFill>
            <a:prstDash val="solid"/>
          </a:ln>
        </p:spPr>
      </p:sp>
      <p:sp>
        <p:nvSpPr>
          <p:cNvPr id="12" name="Text 9"/>
          <p:cNvSpPr/>
          <p:nvPr/>
        </p:nvSpPr>
        <p:spPr>
          <a:xfrm>
            <a:off x="2545854" y="2128112"/>
            <a:ext cx="909042" cy="121444"/>
          </a:xfrm>
          <a:prstGeom prst="rect">
            <a:avLst/>
          </a:prstGeom>
          <a:noFill/>
          <a:ln/>
        </p:spPr>
        <p:txBody>
          <a:bodyPr wrap="none" lIns="0" tIns="0" rIns="0" bIns="0" rtlCol="0" anchor="t">
            <a:spAutoFit/>
          </a:bodyPr>
          <a:lstStyle/>
          <a:p>
            <a:pPr algn="ctr" indent="0" marL="0">
              <a:buNone/>
            </a:pPr>
            <a:r>
              <a:rPr lang="en-US" sz="700" b="1" dirty="0">
                <a:solidFill>
                  <a:srgbClr val="F8FAFC"/>
                </a:solidFill>
                <a:latin typeface="Inter Bold" pitchFamily="34" charset="0"/>
                <a:ea typeface="Inter Bold" pitchFamily="34" charset="-122"/>
                <a:cs typeface="Inter Bold" pitchFamily="34" charset="-120"/>
              </a:rPr>
              <a:t>uXRCE-DDS Agent</a:t>
            </a:r>
            <a:endParaRPr lang="en-US" sz="700" dirty="0"/>
          </a:p>
        </p:txBody>
      </p:sp>
      <p:sp>
        <p:nvSpPr>
          <p:cNvPr id="13" name="Text 10"/>
          <p:cNvSpPr/>
          <p:nvPr/>
        </p:nvSpPr>
        <p:spPr>
          <a:xfrm>
            <a:off x="2545854" y="2278131"/>
            <a:ext cx="909042" cy="96441"/>
          </a:xfrm>
          <a:prstGeom prst="rect">
            <a:avLst/>
          </a:prstGeom>
          <a:noFill/>
          <a:ln/>
        </p:spPr>
        <p:txBody>
          <a:bodyPr wrap="none" lIns="0" tIns="0" rIns="0" bIns="0" rtlCol="0" anchor="t">
            <a:spAutoFit/>
          </a:bodyPr>
          <a:lstStyle/>
          <a:p>
            <a:pPr algn="ctr" indent="0" marL="0">
              <a:buNone/>
            </a:pPr>
            <a:r>
              <a:rPr lang="en-US" sz="550" dirty="0">
                <a:solidFill>
                  <a:srgbClr val="94A3B8"/>
                </a:solidFill>
                <a:latin typeface="Inter" pitchFamily="34" charset="0"/>
                <a:ea typeface="Inter" pitchFamily="34" charset="-122"/>
                <a:cs typeface="Inter" pitchFamily="34" charset="-120"/>
              </a:rPr>
              <a:t>Bridge Entry</a:t>
            </a:r>
            <a:endParaRPr lang="en-US" sz="550" dirty="0"/>
          </a:p>
        </p:txBody>
      </p:sp>
      <p:sp>
        <p:nvSpPr>
          <p:cNvPr id="14" name="Shape 11"/>
          <p:cNvSpPr/>
          <p:nvPr/>
        </p:nvSpPr>
        <p:spPr>
          <a:xfrm>
            <a:off x="3654921" y="2244198"/>
            <a:ext cx="285750" cy="14288"/>
          </a:xfrm>
          <a:prstGeom prst="rect">
            <a:avLst/>
          </a:prstGeom>
          <a:solidFill>
            <a:srgbClr val="991B1B"/>
          </a:solidFill>
          <a:ln/>
        </p:spPr>
      </p:sp>
      <p:sp>
        <p:nvSpPr>
          <p:cNvPr id="15" name="Shape 12"/>
          <p:cNvSpPr/>
          <p:nvPr/>
        </p:nvSpPr>
        <p:spPr>
          <a:xfrm>
            <a:off x="3997821" y="2006668"/>
            <a:ext cx="1200150" cy="489347"/>
          </a:xfrm>
          <a:prstGeom prst="rect">
            <a:avLst/>
          </a:prstGeom>
          <a:solidFill>
            <a:srgbClr val="1E293B"/>
          </a:solidFill>
          <a:ln w="9144">
            <a:solidFill>
              <a:srgbClr val="334155"/>
            </a:solidFill>
            <a:prstDash val="solid"/>
          </a:ln>
        </p:spPr>
      </p:sp>
      <p:sp>
        <p:nvSpPr>
          <p:cNvPr id="16" name="Text 13"/>
          <p:cNvSpPr/>
          <p:nvPr/>
        </p:nvSpPr>
        <p:spPr>
          <a:xfrm>
            <a:off x="4147840" y="2128112"/>
            <a:ext cx="900113" cy="121444"/>
          </a:xfrm>
          <a:prstGeom prst="rect">
            <a:avLst/>
          </a:prstGeom>
          <a:noFill/>
          <a:ln/>
        </p:spPr>
        <p:txBody>
          <a:bodyPr wrap="none" lIns="0" tIns="0" rIns="0" bIns="0" rtlCol="0" anchor="t">
            <a:spAutoFit/>
          </a:bodyPr>
          <a:lstStyle/>
          <a:p>
            <a:pPr algn="ctr" indent="0" marL="0">
              <a:buNone/>
            </a:pPr>
            <a:r>
              <a:rPr lang="en-US" sz="700" b="1" dirty="0">
                <a:solidFill>
                  <a:srgbClr val="F8FAFC"/>
                </a:solidFill>
                <a:latin typeface="Inter Bold" pitchFamily="34" charset="0"/>
                <a:ea typeface="Inter Bold" pitchFamily="34" charset="-122"/>
                <a:cs typeface="Inter Bold" pitchFamily="34" charset="-120"/>
              </a:rPr>
              <a:t>uXRCE-DDS Client</a:t>
            </a:r>
            <a:endParaRPr lang="en-US" sz="700" dirty="0"/>
          </a:p>
        </p:txBody>
      </p:sp>
      <p:sp>
        <p:nvSpPr>
          <p:cNvPr id="17" name="Text 14"/>
          <p:cNvSpPr/>
          <p:nvPr/>
        </p:nvSpPr>
        <p:spPr>
          <a:xfrm>
            <a:off x="4147840" y="2278131"/>
            <a:ext cx="900113" cy="96441"/>
          </a:xfrm>
          <a:prstGeom prst="rect">
            <a:avLst/>
          </a:prstGeom>
          <a:noFill/>
          <a:ln/>
        </p:spPr>
        <p:txBody>
          <a:bodyPr wrap="none" lIns="0" tIns="0" rIns="0" bIns="0" rtlCol="0" anchor="t">
            <a:spAutoFit/>
          </a:bodyPr>
          <a:lstStyle/>
          <a:p>
            <a:pPr algn="ctr" indent="0" marL="0">
              <a:buNone/>
            </a:pPr>
            <a:r>
              <a:rPr lang="en-US" sz="550" dirty="0">
                <a:solidFill>
                  <a:srgbClr val="94A3B8"/>
                </a:solidFill>
                <a:latin typeface="Inter" pitchFamily="34" charset="0"/>
                <a:ea typeface="Inter" pitchFamily="34" charset="-122"/>
                <a:cs typeface="Inter" pitchFamily="34" charset="-120"/>
              </a:rPr>
              <a:t>Bridge Exit</a:t>
            </a:r>
            <a:endParaRPr lang="en-US" sz="550" dirty="0"/>
          </a:p>
        </p:txBody>
      </p:sp>
      <p:sp>
        <p:nvSpPr>
          <p:cNvPr id="18" name="Shape 15"/>
          <p:cNvSpPr/>
          <p:nvPr/>
        </p:nvSpPr>
        <p:spPr>
          <a:xfrm>
            <a:off x="5247977" y="2244198"/>
            <a:ext cx="285750" cy="14288"/>
          </a:xfrm>
          <a:prstGeom prst="rect">
            <a:avLst/>
          </a:prstGeom>
          <a:solidFill>
            <a:srgbClr val="991B1B"/>
          </a:solidFill>
          <a:ln/>
        </p:spPr>
      </p:sp>
      <p:sp>
        <p:nvSpPr>
          <p:cNvPr id="19" name="Shape 16"/>
          <p:cNvSpPr/>
          <p:nvPr/>
        </p:nvSpPr>
        <p:spPr>
          <a:xfrm>
            <a:off x="5590877" y="2006668"/>
            <a:ext cx="1143000" cy="489347"/>
          </a:xfrm>
          <a:prstGeom prst="rect">
            <a:avLst/>
          </a:prstGeom>
          <a:solidFill>
            <a:srgbClr val="1E293B"/>
          </a:solidFill>
          <a:ln w="9144">
            <a:solidFill>
              <a:srgbClr val="334155"/>
            </a:solidFill>
            <a:prstDash val="solid"/>
          </a:ln>
        </p:spPr>
      </p:sp>
      <p:sp>
        <p:nvSpPr>
          <p:cNvPr id="20" name="Text 17"/>
          <p:cNvSpPr/>
          <p:nvPr/>
        </p:nvSpPr>
        <p:spPr>
          <a:xfrm>
            <a:off x="5733752" y="2128112"/>
            <a:ext cx="857250" cy="121444"/>
          </a:xfrm>
          <a:prstGeom prst="rect">
            <a:avLst/>
          </a:prstGeom>
          <a:noFill/>
          <a:ln/>
        </p:spPr>
        <p:txBody>
          <a:bodyPr wrap="none" lIns="0" tIns="0" rIns="0" bIns="0" rtlCol="0" anchor="t">
            <a:spAutoFit/>
          </a:bodyPr>
          <a:lstStyle/>
          <a:p>
            <a:pPr algn="ctr" indent="0" marL="0">
              <a:buNone/>
            </a:pPr>
            <a:r>
              <a:rPr lang="en-US" sz="700" b="1" dirty="0">
                <a:solidFill>
                  <a:srgbClr val="F8FAFC"/>
                </a:solidFill>
                <a:latin typeface="Inter Bold" pitchFamily="34" charset="0"/>
                <a:ea typeface="Inter Bold" pitchFamily="34" charset="-122"/>
                <a:cs typeface="Inter Bold" pitchFamily="34" charset="-120"/>
              </a:rPr>
              <a:t>PX4 uORB</a:t>
            </a:r>
            <a:endParaRPr lang="en-US" sz="700" dirty="0"/>
          </a:p>
        </p:txBody>
      </p:sp>
      <p:sp>
        <p:nvSpPr>
          <p:cNvPr id="21" name="Text 18"/>
          <p:cNvSpPr/>
          <p:nvPr/>
        </p:nvSpPr>
        <p:spPr>
          <a:xfrm>
            <a:off x="5733752" y="2278131"/>
            <a:ext cx="857250" cy="96441"/>
          </a:xfrm>
          <a:prstGeom prst="rect">
            <a:avLst/>
          </a:prstGeom>
          <a:noFill/>
          <a:ln/>
        </p:spPr>
        <p:txBody>
          <a:bodyPr wrap="none" lIns="0" tIns="0" rIns="0" bIns="0" rtlCol="0" anchor="t">
            <a:spAutoFit/>
          </a:bodyPr>
          <a:lstStyle/>
          <a:p>
            <a:pPr algn="ctr" indent="0" marL="0">
              <a:buNone/>
            </a:pPr>
            <a:r>
              <a:rPr lang="en-US" sz="550" dirty="0">
                <a:solidFill>
                  <a:srgbClr val="94A3B8"/>
                </a:solidFill>
                <a:latin typeface="Inter" pitchFamily="34" charset="0"/>
                <a:ea typeface="Inter" pitchFamily="34" charset="-122"/>
                <a:cs typeface="Inter" pitchFamily="34" charset="-120"/>
              </a:rPr>
              <a:t>Internal Bus</a:t>
            </a:r>
            <a:endParaRPr lang="en-US" sz="550" dirty="0"/>
          </a:p>
        </p:txBody>
      </p:sp>
      <p:sp>
        <p:nvSpPr>
          <p:cNvPr id="22" name="Shape 19"/>
          <p:cNvSpPr/>
          <p:nvPr/>
        </p:nvSpPr>
        <p:spPr>
          <a:xfrm>
            <a:off x="6791027" y="2244198"/>
            <a:ext cx="285750" cy="14288"/>
          </a:xfrm>
          <a:prstGeom prst="rect">
            <a:avLst/>
          </a:prstGeom>
          <a:solidFill>
            <a:srgbClr val="991B1B"/>
          </a:solidFill>
          <a:ln/>
        </p:spPr>
      </p:sp>
      <p:sp>
        <p:nvSpPr>
          <p:cNvPr id="23" name="Shape 20"/>
          <p:cNvSpPr/>
          <p:nvPr/>
        </p:nvSpPr>
        <p:spPr>
          <a:xfrm>
            <a:off x="7133927" y="2006668"/>
            <a:ext cx="1143000" cy="489347"/>
          </a:xfrm>
          <a:prstGeom prst="rect">
            <a:avLst/>
          </a:prstGeom>
          <a:solidFill>
            <a:srgbClr val="1E293B"/>
          </a:solidFill>
          <a:ln w="9144">
            <a:solidFill>
              <a:srgbClr val="334155"/>
            </a:solidFill>
            <a:prstDash val="solid"/>
          </a:ln>
        </p:spPr>
      </p:sp>
      <p:sp>
        <p:nvSpPr>
          <p:cNvPr id="24" name="Text 21"/>
          <p:cNvSpPr/>
          <p:nvPr/>
        </p:nvSpPr>
        <p:spPr>
          <a:xfrm>
            <a:off x="7276802" y="2120968"/>
            <a:ext cx="857250" cy="121444"/>
          </a:xfrm>
          <a:prstGeom prst="rect">
            <a:avLst/>
          </a:prstGeom>
          <a:noFill/>
          <a:ln/>
        </p:spPr>
        <p:txBody>
          <a:bodyPr wrap="none" lIns="0" tIns="0" rIns="0" bIns="0" rtlCol="0" anchor="t">
            <a:spAutoFit/>
          </a:bodyPr>
          <a:lstStyle/>
          <a:p>
            <a:pPr algn="ctr" indent="0" marL="0">
              <a:buNone/>
            </a:pPr>
            <a:r>
              <a:rPr lang="en-US" sz="700" b="1" dirty="0">
                <a:solidFill>
                  <a:srgbClr val="F8FAFC"/>
                </a:solidFill>
                <a:latin typeface="Inter Bold" pitchFamily="34" charset="0"/>
                <a:ea typeface="Inter Bold" pitchFamily="34" charset="-122"/>
                <a:cs typeface="Inter Bold" pitchFamily="34" charset="-120"/>
              </a:rPr>
              <a:t>Flight Control</a:t>
            </a:r>
            <a:endParaRPr lang="en-US" sz="700" dirty="0"/>
          </a:p>
        </p:txBody>
      </p:sp>
      <p:sp>
        <p:nvSpPr>
          <p:cNvPr id="25" name="Text 22"/>
          <p:cNvSpPr/>
          <p:nvPr/>
        </p:nvSpPr>
        <p:spPr>
          <a:xfrm>
            <a:off x="7276802" y="2270987"/>
            <a:ext cx="857250" cy="96441"/>
          </a:xfrm>
          <a:prstGeom prst="rect">
            <a:avLst/>
          </a:prstGeom>
          <a:noFill/>
          <a:ln/>
        </p:spPr>
        <p:txBody>
          <a:bodyPr wrap="none" lIns="0" tIns="0" rIns="0" bIns="0" rtlCol="0" anchor="t">
            <a:spAutoFit/>
          </a:bodyPr>
          <a:lstStyle/>
          <a:p>
            <a:pPr algn="ctr" indent="0" marL="0">
              <a:buNone/>
            </a:pPr>
            <a:r>
              <a:rPr lang="en-US" sz="550" dirty="0">
                <a:solidFill>
                  <a:srgbClr val="94A3B8"/>
                </a:solidFill>
                <a:latin typeface="Inter" pitchFamily="34" charset="0"/>
                <a:ea typeface="Inter" pitchFamily="34" charset="-122"/>
                <a:cs typeface="Inter" pitchFamily="34" charset="-120"/>
              </a:rPr>
              <a:t>Executor</a:t>
            </a:r>
            <a:endParaRPr lang="en-US" sz="550" dirty="0"/>
          </a:p>
        </p:txBody>
      </p:sp>
      <p:pic>
        <p:nvPicPr>
          <p:cNvPr id="26" name="Image 1" descr="preencoded.png">    </p:cNvPr>
          <p:cNvPicPr>
            <a:picLocks noChangeAspect="1"/>
          </p:cNvPicPr>
          <p:nvPr/>
        </p:nvPicPr>
        <p:blipFill>
          <a:blip r:embed="rId2"/>
          <a:stretch>
            <a:fillRect/>
          </a:stretch>
        </p:blipFill>
        <p:spPr>
          <a:xfrm>
            <a:off x="714375" y="3225571"/>
            <a:ext cx="128588" cy="171450"/>
          </a:xfrm>
          <a:prstGeom prst="rect">
            <a:avLst/>
          </a:prstGeom>
        </p:spPr>
      </p:pic>
      <p:sp>
        <p:nvSpPr>
          <p:cNvPr id="27" name="Text 23"/>
          <p:cNvSpPr/>
          <p:nvPr/>
        </p:nvSpPr>
        <p:spPr>
          <a:xfrm>
            <a:off x="928688" y="3224678"/>
            <a:ext cx="650081" cy="173236"/>
          </a:xfrm>
          <a:prstGeom prst="rect">
            <a:avLst/>
          </a:prstGeom>
          <a:noFill/>
          <a:ln/>
        </p:spPr>
        <p:txBody>
          <a:bodyPr wrap="none" lIns="0" tIns="0" rIns="0" bIns="0" rtlCol="0" anchor="t">
            <a:spAutoFit/>
          </a:bodyPr>
          <a:lstStyle/>
          <a:p>
            <a:pPr algn="l" indent="0" marL="0">
              <a:buNone/>
            </a:pPr>
            <a:r>
              <a:rPr lang="en-US" sz="1000" b="1" dirty="0">
                <a:solidFill>
                  <a:srgbClr val="0F172A"/>
                </a:solidFill>
                <a:latin typeface="Inter Bold" pitchFamily="34" charset="0"/>
                <a:ea typeface="Inter Bold" pitchFamily="34" charset="-122"/>
                <a:cs typeface="Inter Bold" pitchFamily="34" charset="-120"/>
              </a:rPr>
              <a:t>Downlink</a:t>
            </a:r>
            <a:endParaRPr lang="en-US" sz="1000" dirty="0"/>
          </a:p>
        </p:txBody>
      </p:sp>
      <p:sp>
        <p:nvSpPr>
          <p:cNvPr id="28" name="Shape 24"/>
          <p:cNvSpPr/>
          <p:nvPr/>
        </p:nvSpPr>
        <p:spPr>
          <a:xfrm>
            <a:off x="714375" y="3540789"/>
            <a:ext cx="71438" cy="71438"/>
          </a:xfrm>
          <a:prstGeom prst="ellipse">
            <a:avLst/>
          </a:prstGeom>
          <a:solidFill>
            <a:srgbClr val="94A3B8"/>
          </a:solidFill>
          <a:ln/>
        </p:spPr>
      </p:sp>
      <p:sp>
        <p:nvSpPr>
          <p:cNvPr id="29" name="Text 25"/>
          <p:cNvSpPr/>
          <p:nvPr/>
        </p:nvSpPr>
        <p:spPr>
          <a:xfrm>
            <a:off x="714375" y="3483639"/>
            <a:ext cx="3686175" cy="128588"/>
          </a:xfrm>
          <a:prstGeom prst="rect">
            <a:avLst/>
          </a:prstGeom>
          <a:noFill/>
          <a:ln/>
        </p:spPr>
        <p:txBody>
          <a:bodyPr wrap="square" lIns="204089" tIns="0" rIns="0" bIns="0" rtlCol="0" anchor="t">
            <a:spAutoFit/>
          </a:bodyPr>
          <a:lstStyle/>
          <a:p>
            <a:pPr algn="l" indent="0" marL="0">
              <a:buNone/>
            </a:pPr>
            <a:r>
              <a:rPr lang="en-US" sz="750" b="1" dirty="0">
                <a:solidFill>
                  <a:srgbClr val="0F172A"/>
                </a:solidFill>
                <a:latin typeface="Inter SemiBold" pitchFamily="34" charset="0"/>
                <a:ea typeface="Inter SemiBold" pitchFamily="34" charset="-122"/>
                <a:cs typeface="Inter SemiBold" pitchFamily="34" charset="-120"/>
              </a:rPr>
              <a:t>Telemetry Data</a:t>
            </a:r>
            <a:r>
              <a:rPr lang="en-US" sz="800" dirty="0">
                <a:solidFill>
                  <a:srgbClr val="334155"/>
                </a:solidFill>
                <a:latin typeface="Inter" pitchFamily="34" charset="0"/>
                <a:ea typeface="Inter" pitchFamily="34" charset="-122"/>
                <a:cs typeface="Inter" pitchFamily="34" charset="-120"/>
              </a:rPr>
              <a:t> flowing from PX4 to the AI Advisor</a:t>
            </a:r>
            <a:endParaRPr lang="en-US" sz="750" dirty="0"/>
          </a:p>
        </p:txBody>
      </p:sp>
      <p:sp>
        <p:nvSpPr>
          <p:cNvPr id="30" name="Shape 26"/>
          <p:cNvSpPr/>
          <p:nvPr/>
        </p:nvSpPr>
        <p:spPr>
          <a:xfrm>
            <a:off x="714375" y="3755101"/>
            <a:ext cx="71438" cy="71438"/>
          </a:xfrm>
          <a:prstGeom prst="ellipse">
            <a:avLst/>
          </a:prstGeom>
          <a:solidFill>
            <a:srgbClr val="94A3B8"/>
          </a:solidFill>
          <a:ln/>
        </p:spPr>
      </p:sp>
      <p:sp>
        <p:nvSpPr>
          <p:cNvPr id="31" name="Text 27"/>
          <p:cNvSpPr/>
          <p:nvPr/>
        </p:nvSpPr>
        <p:spPr>
          <a:xfrm>
            <a:off x="714375" y="3697951"/>
            <a:ext cx="3686175" cy="128588"/>
          </a:xfrm>
          <a:prstGeom prst="rect">
            <a:avLst/>
          </a:prstGeom>
          <a:noFill/>
          <a:ln/>
        </p:spPr>
        <p:txBody>
          <a:bodyPr wrap="square" lIns="204089" tIns="0" rIns="0" bIns="0" rtlCol="0" anchor="t">
            <a:spAutoFit/>
          </a:bodyPr>
          <a:lstStyle/>
          <a:p>
            <a:pPr algn="l" indent="0" marL="0">
              <a:buNone/>
            </a:pPr>
            <a:r>
              <a:rPr lang="en-US" sz="800" dirty="0">
                <a:solidFill>
                  <a:srgbClr val="334155"/>
                </a:solidFill>
                <a:latin typeface="Inter" pitchFamily="34" charset="0"/>
                <a:ea typeface="Inter" pitchFamily="34" charset="-122"/>
                <a:cs typeface="Inter" pitchFamily="34" charset="-120"/>
              </a:rPr>
              <a:t>Real-time Position and Velocity</a:t>
            </a:r>
            <a:endParaRPr lang="en-US" sz="800" dirty="0"/>
          </a:p>
        </p:txBody>
      </p:sp>
      <p:sp>
        <p:nvSpPr>
          <p:cNvPr id="32" name="Shape 28"/>
          <p:cNvSpPr/>
          <p:nvPr/>
        </p:nvSpPr>
        <p:spPr>
          <a:xfrm>
            <a:off x="714375" y="3969414"/>
            <a:ext cx="71438" cy="71438"/>
          </a:xfrm>
          <a:prstGeom prst="ellipse">
            <a:avLst/>
          </a:prstGeom>
          <a:solidFill>
            <a:srgbClr val="94A3B8"/>
          </a:solidFill>
          <a:ln/>
        </p:spPr>
      </p:sp>
      <p:sp>
        <p:nvSpPr>
          <p:cNvPr id="33" name="Text 29"/>
          <p:cNvSpPr/>
          <p:nvPr/>
        </p:nvSpPr>
        <p:spPr>
          <a:xfrm>
            <a:off x="714375" y="3912264"/>
            <a:ext cx="3686175" cy="128588"/>
          </a:xfrm>
          <a:prstGeom prst="rect">
            <a:avLst/>
          </a:prstGeom>
          <a:noFill/>
          <a:ln/>
        </p:spPr>
        <p:txBody>
          <a:bodyPr wrap="square" lIns="204089" tIns="0" rIns="0" bIns="0" rtlCol="0" anchor="t">
            <a:spAutoFit/>
          </a:bodyPr>
          <a:lstStyle/>
          <a:p>
            <a:pPr algn="l" indent="0" marL="0">
              <a:buNone/>
            </a:pPr>
            <a:r>
              <a:rPr lang="en-US" sz="800" dirty="0">
                <a:solidFill>
                  <a:srgbClr val="334155"/>
                </a:solidFill>
                <a:latin typeface="Inter" pitchFamily="34" charset="0"/>
                <a:ea typeface="Inter" pitchFamily="34" charset="-122"/>
                <a:cs typeface="Inter" pitchFamily="34" charset="-120"/>
              </a:rPr>
              <a:t>Vehicle Attitude and Orientation</a:t>
            </a:r>
            <a:endParaRPr lang="en-US" sz="800" dirty="0"/>
          </a:p>
        </p:txBody>
      </p:sp>
      <p:sp>
        <p:nvSpPr>
          <p:cNvPr id="34" name="Shape 30"/>
          <p:cNvSpPr/>
          <p:nvPr/>
        </p:nvSpPr>
        <p:spPr>
          <a:xfrm>
            <a:off x="714375" y="4183726"/>
            <a:ext cx="71438" cy="71438"/>
          </a:xfrm>
          <a:prstGeom prst="ellipse">
            <a:avLst/>
          </a:prstGeom>
          <a:solidFill>
            <a:srgbClr val="94A3B8"/>
          </a:solidFill>
          <a:ln/>
        </p:spPr>
      </p:sp>
      <p:sp>
        <p:nvSpPr>
          <p:cNvPr id="35" name="Text 31"/>
          <p:cNvSpPr/>
          <p:nvPr/>
        </p:nvSpPr>
        <p:spPr>
          <a:xfrm>
            <a:off x="714375" y="4126576"/>
            <a:ext cx="3686175" cy="128588"/>
          </a:xfrm>
          <a:prstGeom prst="rect">
            <a:avLst/>
          </a:prstGeom>
          <a:noFill/>
          <a:ln/>
        </p:spPr>
        <p:txBody>
          <a:bodyPr wrap="square" lIns="204089" tIns="0" rIns="0" bIns="0" rtlCol="0" anchor="t">
            <a:spAutoFit/>
          </a:bodyPr>
          <a:lstStyle/>
          <a:p>
            <a:pPr algn="l" indent="0" marL="0">
              <a:buNone/>
            </a:pPr>
            <a:r>
              <a:rPr lang="en-US" sz="800" dirty="0">
                <a:solidFill>
                  <a:srgbClr val="334155"/>
                </a:solidFill>
                <a:latin typeface="Inter" pitchFamily="34" charset="0"/>
                <a:ea typeface="Inter" pitchFamily="34" charset="-122"/>
                <a:cs typeface="Inter" pitchFamily="34" charset="-120"/>
              </a:rPr>
              <a:t>Battery Status and Power Draw</a:t>
            </a:r>
            <a:endParaRPr lang="en-US" sz="800" dirty="0"/>
          </a:p>
        </p:txBody>
      </p:sp>
      <p:sp>
        <p:nvSpPr>
          <p:cNvPr id="36" name="Shape 32"/>
          <p:cNvSpPr/>
          <p:nvPr/>
        </p:nvSpPr>
        <p:spPr>
          <a:xfrm>
            <a:off x="714375" y="4398039"/>
            <a:ext cx="71438" cy="71438"/>
          </a:xfrm>
          <a:prstGeom prst="ellipse">
            <a:avLst/>
          </a:prstGeom>
          <a:solidFill>
            <a:srgbClr val="94A3B8"/>
          </a:solidFill>
          <a:ln/>
        </p:spPr>
      </p:sp>
      <p:sp>
        <p:nvSpPr>
          <p:cNvPr id="37" name="Text 33"/>
          <p:cNvSpPr/>
          <p:nvPr/>
        </p:nvSpPr>
        <p:spPr>
          <a:xfrm>
            <a:off x="714375" y="4340889"/>
            <a:ext cx="3686175" cy="128588"/>
          </a:xfrm>
          <a:prstGeom prst="rect">
            <a:avLst/>
          </a:prstGeom>
          <a:noFill/>
          <a:ln/>
        </p:spPr>
        <p:txBody>
          <a:bodyPr wrap="square" lIns="204089" tIns="0" rIns="0" bIns="0" rtlCol="0" anchor="t">
            <a:spAutoFit/>
          </a:bodyPr>
          <a:lstStyle/>
          <a:p>
            <a:pPr algn="l" indent="0" marL="0">
              <a:buNone/>
            </a:pPr>
            <a:r>
              <a:rPr lang="en-US" sz="800" dirty="0">
                <a:solidFill>
                  <a:srgbClr val="334155"/>
                </a:solidFill>
                <a:latin typeface="Inter" pitchFamily="34" charset="0"/>
                <a:ea typeface="Inter" pitchFamily="34" charset="-122"/>
                <a:cs typeface="Inter" pitchFamily="34" charset="-120"/>
              </a:rPr>
              <a:t>System Health and Operational Status</a:t>
            </a:r>
            <a:endParaRPr lang="en-US" sz="800" dirty="0"/>
          </a:p>
        </p:txBody>
      </p:sp>
      <p:pic>
        <p:nvPicPr>
          <p:cNvPr id="38" name="Image 2" descr="preencoded.png">    </p:cNvPr>
          <p:cNvPicPr>
            <a:picLocks noChangeAspect="1"/>
          </p:cNvPicPr>
          <p:nvPr/>
        </p:nvPicPr>
        <p:blipFill>
          <a:blip r:embed="rId3"/>
          <a:stretch>
            <a:fillRect/>
          </a:stretch>
        </p:blipFill>
        <p:spPr>
          <a:xfrm>
            <a:off x="4886325" y="3225571"/>
            <a:ext cx="128588" cy="171450"/>
          </a:xfrm>
          <a:prstGeom prst="rect">
            <a:avLst/>
          </a:prstGeom>
        </p:spPr>
      </p:pic>
      <p:sp>
        <p:nvSpPr>
          <p:cNvPr id="39" name="Text 34"/>
          <p:cNvSpPr/>
          <p:nvPr/>
        </p:nvSpPr>
        <p:spPr>
          <a:xfrm>
            <a:off x="5100638" y="3224678"/>
            <a:ext cx="444698" cy="173236"/>
          </a:xfrm>
          <a:prstGeom prst="rect">
            <a:avLst/>
          </a:prstGeom>
          <a:noFill/>
          <a:ln/>
        </p:spPr>
        <p:txBody>
          <a:bodyPr wrap="none" lIns="0" tIns="0" rIns="0" bIns="0" rtlCol="0" anchor="t">
            <a:spAutoFit/>
          </a:bodyPr>
          <a:lstStyle/>
          <a:p>
            <a:pPr algn="l" indent="0" marL="0">
              <a:buNone/>
            </a:pPr>
            <a:r>
              <a:rPr lang="en-US" sz="1000" b="1" dirty="0">
                <a:solidFill>
                  <a:srgbClr val="0F172A"/>
                </a:solidFill>
                <a:latin typeface="Inter Bold" pitchFamily="34" charset="0"/>
                <a:ea typeface="Inter Bold" pitchFamily="34" charset="-122"/>
                <a:cs typeface="Inter Bold" pitchFamily="34" charset="-120"/>
              </a:rPr>
              <a:t>Uplink</a:t>
            </a:r>
            <a:endParaRPr lang="en-US" sz="1000" dirty="0"/>
          </a:p>
        </p:txBody>
      </p:sp>
      <p:sp>
        <p:nvSpPr>
          <p:cNvPr id="40" name="Shape 35"/>
          <p:cNvSpPr/>
          <p:nvPr/>
        </p:nvSpPr>
        <p:spPr>
          <a:xfrm>
            <a:off x="4886325" y="3540789"/>
            <a:ext cx="71438" cy="71438"/>
          </a:xfrm>
          <a:prstGeom prst="ellipse">
            <a:avLst/>
          </a:prstGeom>
          <a:solidFill>
            <a:srgbClr val="991B1B"/>
          </a:solidFill>
          <a:ln/>
        </p:spPr>
      </p:sp>
      <p:sp>
        <p:nvSpPr>
          <p:cNvPr id="41" name="Text 36"/>
          <p:cNvSpPr/>
          <p:nvPr/>
        </p:nvSpPr>
        <p:spPr>
          <a:xfrm>
            <a:off x="4886325" y="3483639"/>
            <a:ext cx="3686175" cy="128588"/>
          </a:xfrm>
          <a:prstGeom prst="rect">
            <a:avLst/>
          </a:prstGeom>
          <a:noFill/>
          <a:ln/>
        </p:spPr>
        <p:txBody>
          <a:bodyPr wrap="square" lIns="204089" tIns="0" rIns="0" bIns="0" rtlCol="0" anchor="t">
            <a:spAutoFit/>
          </a:bodyPr>
          <a:lstStyle/>
          <a:p>
            <a:pPr algn="l" indent="0" marL="0">
              <a:buNone/>
            </a:pPr>
            <a:r>
              <a:rPr lang="en-US" sz="750" b="1" dirty="0">
                <a:solidFill>
                  <a:srgbClr val="0F172A"/>
                </a:solidFill>
                <a:latin typeface="Inter SemiBold" pitchFamily="34" charset="0"/>
                <a:ea typeface="Inter SemiBold" pitchFamily="34" charset="-122"/>
                <a:cs typeface="Inter SemiBold" pitchFamily="34" charset="-120"/>
              </a:rPr>
              <a:t>High-Level Commands</a:t>
            </a:r>
            <a:r>
              <a:rPr lang="en-US" sz="800" dirty="0">
                <a:solidFill>
                  <a:srgbClr val="334155"/>
                </a:solidFill>
                <a:latin typeface="Inter" pitchFamily="34" charset="0"/>
                <a:ea typeface="Inter" pitchFamily="34" charset="-122"/>
                <a:cs typeface="Inter" pitchFamily="34" charset="-120"/>
              </a:rPr>
              <a:t> flowing from AI to PX4</a:t>
            </a:r>
            <a:endParaRPr lang="en-US" sz="750" dirty="0"/>
          </a:p>
        </p:txBody>
      </p:sp>
      <p:sp>
        <p:nvSpPr>
          <p:cNvPr id="42" name="Shape 37"/>
          <p:cNvSpPr/>
          <p:nvPr/>
        </p:nvSpPr>
        <p:spPr>
          <a:xfrm>
            <a:off x="4886325" y="3755101"/>
            <a:ext cx="71438" cy="71438"/>
          </a:xfrm>
          <a:prstGeom prst="ellipse">
            <a:avLst/>
          </a:prstGeom>
          <a:solidFill>
            <a:srgbClr val="991B1B"/>
          </a:solidFill>
          <a:ln/>
        </p:spPr>
      </p:sp>
      <p:sp>
        <p:nvSpPr>
          <p:cNvPr id="43" name="Text 38"/>
          <p:cNvSpPr/>
          <p:nvPr/>
        </p:nvSpPr>
        <p:spPr>
          <a:xfrm>
            <a:off x="4886325" y="3697951"/>
            <a:ext cx="3686175" cy="128588"/>
          </a:xfrm>
          <a:prstGeom prst="rect">
            <a:avLst/>
          </a:prstGeom>
          <a:noFill/>
          <a:ln/>
        </p:spPr>
        <p:txBody>
          <a:bodyPr wrap="square" lIns="204089" tIns="0" rIns="0" bIns="0" rtlCol="0" anchor="t">
            <a:spAutoFit/>
          </a:bodyPr>
          <a:lstStyle/>
          <a:p>
            <a:pPr algn="l" indent="0" marL="0">
              <a:buNone/>
            </a:pPr>
            <a:r>
              <a:rPr lang="en-US" sz="800" dirty="0">
                <a:solidFill>
                  <a:srgbClr val="334155"/>
                </a:solidFill>
                <a:latin typeface="Inter" pitchFamily="34" charset="0"/>
                <a:ea typeface="Inter" pitchFamily="34" charset="-122"/>
                <a:cs typeface="Inter" pitchFamily="34" charset="-120"/>
              </a:rPr>
              <a:t>Continuous Setpoint Streaming</a:t>
            </a:r>
            <a:endParaRPr lang="en-US" sz="800" dirty="0"/>
          </a:p>
        </p:txBody>
      </p:sp>
      <p:sp>
        <p:nvSpPr>
          <p:cNvPr id="44" name="Shape 39"/>
          <p:cNvSpPr/>
          <p:nvPr/>
        </p:nvSpPr>
        <p:spPr>
          <a:xfrm>
            <a:off x="4886325" y="3969414"/>
            <a:ext cx="71438" cy="71438"/>
          </a:xfrm>
          <a:prstGeom prst="ellipse">
            <a:avLst/>
          </a:prstGeom>
          <a:solidFill>
            <a:srgbClr val="991B1B"/>
          </a:solidFill>
          <a:ln/>
        </p:spPr>
      </p:sp>
      <p:sp>
        <p:nvSpPr>
          <p:cNvPr id="45" name="Text 40"/>
          <p:cNvSpPr/>
          <p:nvPr/>
        </p:nvSpPr>
        <p:spPr>
          <a:xfrm>
            <a:off x="4886325" y="3912264"/>
            <a:ext cx="3686175" cy="128588"/>
          </a:xfrm>
          <a:prstGeom prst="rect">
            <a:avLst/>
          </a:prstGeom>
          <a:noFill/>
          <a:ln/>
        </p:spPr>
        <p:txBody>
          <a:bodyPr wrap="square" lIns="204089" tIns="0" rIns="0" bIns="0" rtlCol="0" anchor="t">
            <a:spAutoFit/>
          </a:bodyPr>
          <a:lstStyle/>
          <a:p>
            <a:pPr algn="l" indent="0" marL="0">
              <a:buNone/>
            </a:pPr>
            <a:r>
              <a:rPr lang="en-US" sz="800" dirty="0">
                <a:solidFill>
                  <a:srgbClr val="334155"/>
                </a:solidFill>
                <a:latin typeface="Inter" pitchFamily="34" charset="0"/>
                <a:ea typeface="Inter" pitchFamily="34" charset="-122"/>
                <a:cs typeface="Inter" pitchFamily="34" charset="-120"/>
              </a:rPr>
              <a:t>Discrete Vehicle Commands</a:t>
            </a:r>
            <a:endParaRPr lang="en-US" sz="800" dirty="0"/>
          </a:p>
        </p:txBody>
      </p:sp>
      <p:sp>
        <p:nvSpPr>
          <p:cNvPr id="46" name="Shape 41"/>
          <p:cNvSpPr/>
          <p:nvPr/>
        </p:nvSpPr>
        <p:spPr>
          <a:xfrm>
            <a:off x="4886325" y="4183726"/>
            <a:ext cx="71438" cy="71438"/>
          </a:xfrm>
          <a:prstGeom prst="ellipse">
            <a:avLst/>
          </a:prstGeom>
          <a:solidFill>
            <a:srgbClr val="991B1B"/>
          </a:solidFill>
          <a:ln/>
        </p:spPr>
      </p:sp>
      <p:sp>
        <p:nvSpPr>
          <p:cNvPr id="47" name="Text 42"/>
          <p:cNvSpPr/>
          <p:nvPr/>
        </p:nvSpPr>
        <p:spPr>
          <a:xfrm>
            <a:off x="4886325" y="4126576"/>
            <a:ext cx="3686175" cy="128588"/>
          </a:xfrm>
          <a:prstGeom prst="rect">
            <a:avLst/>
          </a:prstGeom>
          <a:noFill/>
          <a:ln/>
        </p:spPr>
        <p:txBody>
          <a:bodyPr wrap="square" lIns="204089" tIns="0" rIns="0" bIns="0" rtlCol="0" anchor="t">
            <a:spAutoFit/>
          </a:bodyPr>
          <a:lstStyle/>
          <a:p>
            <a:pPr algn="l" indent="0" marL="0">
              <a:buNone/>
            </a:pPr>
            <a:r>
              <a:rPr lang="en-US" sz="800" dirty="0">
                <a:solidFill>
                  <a:srgbClr val="334155"/>
                </a:solidFill>
                <a:latin typeface="Inter" pitchFamily="34" charset="0"/>
                <a:ea typeface="Inter" pitchFamily="34" charset="-122"/>
                <a:cs typeface="Inter" pitchFamily="34" charset="-120"/>
              </a:rPr>
              <a:t>Mode Change Requests</a:t>
            </a:r>
            <a:endParaRPr lang="en-US" sz="800" dirty="0"/>
          </a:p>
        </p:txBody>
      </p:sp>
      <p:sp>
        <p:nvSpPr>
          <p:cNvPr id="48" name="Shape 43"/>
          <p:cNvSpPr/>
          <p:nvPr/>
        </p:nvSpPr>
        <p:spPr>
          <a:xfrm>
            <a:off x="4886325" y="4398039"/>
            <a:ext cx="71438" cy="71438"/>
          </a:xfrm>
          <a:prstGeom prst="ellipse">
            <a:avLst/>
          </a:prstGeom>
          <a:solidFill>
            <a:srgbClr val="991B1B"/>
          </a:solidFill>
          <a:ln/>
        </p:spPr>
      </p:sp>
      <p:sp>
        <p:nvSpPr>
          <p:cNvPr id="49" name="Text 44"/>
          <p:cNvSpPr/>
          <p:nvPr/>
        </p:nvSpPr>
        <p:spPr>
          <a:xfrm>
            <a:off x="4886325" y="4340889"/>
            <a:ext cx="3686175" cy="128588"/>
          </a:xfrm>
          <a:prstGeom prst="rect">
            <a:avLst/>
          </a:prstGeom>
          <a:noFill/>
          <a:ln/>
        </p:spPr>
        <p:txBody>
          <a:bodyPr wrap="square" lIns="204089" tIns="0" rIns="0" bIns="0" rtlCol="0" anchor="t">
            <a:spAutoFit/>
          </a:bodyPr>
          <a:lstStyle/>
          <a:p>
            <a:pPr algn="l" indent="0" marL="0">
              <a:buNone/>
            </a:pPr>
            <a:r>
              <a:rPr lang="en-US" sz="800" dirty="0">
                <a:solidFill>
                  <a:srgbClr val="334155"/>
                </a:solidFill>
                <a:latin typeface="Inter" pitchFamily="34" charset="0"/>
                <a:ea typeface="Inter" pitchFamily="34" charset="-122"/>
                <a:cs typeface="Inter" pitchFamily="34" charset="-120"/>
              </a:rPr>
              <a:t>Mission Update Instructions</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571500" y="342900"/>
            <a:ext cx="8001000" cy="360759"/>
          </a:xfrm>
          <a:prstGeom prst="rect">
            <a:avLst/>
          </a:prstGeom>
          <a:noFill/>
          <a:ln/>
        </p:spPr>
        <p:txBody>
          <a:bodyPr wrap="square" lIns="0" tIns="0" rIns="0" bIns="0" rtlCol="0" anchor="t">
            <a:spAutoFit/>
          </a:bodyPr>
          <a:lstStyle/>
          <a:p>
            <a:pPr algn="l" indent="0" marL="0">
              <a:buNone/>
            </a:pPr>
            <a:r>
              <a:rPr lang="en-US" sz="1900" b="1" dirty="0">
                <a:solidFill>
                  <a:srgbClr val="0F172A"/>
                </a:solidFill>
                <a:latin typeface="Playfair Display ExtraBold" pitchFamily="34" charset="0"/>
                <a:ea typeface="Playfair Display ExtraBold" pitchFamily="34" charset="-122"/>
                <a:cs typeface="Playfair Display ExtraBold" pitchFamily="34" charset="-120"/>
              </a:rPr>
              <a:t>Communication Link Taxonomy</a:t>
            </a:r>
            <a:endParaRPr lang="en-US" sz="1900" dirty="0"/>
          </a:p>
        </p:txBody>
      </p:sp>
      <p:sp>
        <p:nvSpPr>
          <p:cNvPr id="4" name="Text 1"/>
          <p:cNvSpPr/>
          <p:nvPr/>
        </p:nvSpPr>
        <p:spPr>
          <a:xfrm>
            <a:off x="571500" y="1103709"/>
            <a:ext cx="8001000" cy="182863"/>
          </a:xfrm>
          <a:prstGeom prst="rect">
            <a:avLst/>
          </a:prstGeom>
          <a:noFill/>
          <a:ln/>
        </p:spPr>
        <p:txBody>
          <a:bodyPr wrap="none" lIns="0" tIns="0" rIns="0" bIns="0" rtlCol="0" anchor="t">
            <a:spAutoFit/>
          </a:bodyPr>
          <a:lstStyle/>
          <a:p>
            <a:pPr algn="l" indent="0" marL="0">
              <a:lnSpc>
                <a:spcPct val="128000"/>
              </a:lnSpc>
              <a:buNone/>
            </a:pPr>
            <a:r>
              <a:rPr lang="en-US" sz="850" dirty="0">
                <a:solidFill>
                  <a:srgbClr val="334155"/>
                </a:solidFill>
                <a:latin typeface="Inter" pitchFamily="34" charset="0"/>
                <a:ea typeface="Inter" pitchFamily="34" charset="-122"/>
                <a:cs typeface="Inter" pitchFamily="34" charset="-120"/>
              </a:rPr>
              <a:t>Not all "loss of signal" is the same failure. The architecture distinguishes three independent links, each with a different correct response.</a:t>
            </a:r>
            <a:endParaRPr lang="en-US" sz="850" dirty="0"/>
          </a:p>
        </p:txBody>
      </p:sp>
      <p:sp>
        <p:nvSpPr>
          <p:cNvPr id="5" name="Text 2"/>
          <p:cNvSpPr/>
          <p:nvPr/>
        </p:nvSpPr>
        <p:spPr>
          <a:xfrm>
            <a:off x="571500" y="1572323"/>
            <a:ext cx="2476509" cy="287536"/>
          </a:xfrm>
          <a:prstGeom prst="rect">
            <a:avLst/>
          </a:prstGeom>
          <a:noFill/>
          <a:ln/>
        </p:spPr>
        <p:txBody>
          <a:bodyPr wrap="square" lIns="0" tIns="0" rIns="0" bIns="102108" rtlCol="0" anchor="t">
            <a:spAutoFit/>
          </a:bodyPr>
          <a:lstStyle/>
          <a:p>
            <a:pPr algn="l" indent="0" marL="0">
              <a:buNone/>
            </a:pPr>
            <a:r>
              <a:rPr lang="en-US" sz="1000" b="1" spc="1" kern="0" dirty="0">
                <a:solidFill>
                  <a:srgbClr val="0F172A"/>
                </a:solidFill>
                <a:latin typeface="Inter Bold" pitchFamily="34" charset="0"/>
                <a:ea typeface="Inter Bold" pitchFamily="34" charset="-122"/>
                <a:cs typeface="Inter Bold" pitchFamily="34" charset="-120"/>
              </a:rPr>
              <a:t>1. GROUND LINK</a:t>
            </a:r>
            <a:endParaRPr lang="en-US" sz="1000" dirty="0"/>
          </a:p>
        </p:txBody>
      </p:sp>
      <p:sp>
        <p:nvSpPr>
          <p:cNvPr id="6" name="Text 3"/>
          <p:cNvSpPr/>
          <p:nvPr/>
        </p:nvSpPr>
        <p:spPr>
          <a:xfrm>
            <a:off x="571500" y="2031309"/>
            <a:ext cx="2476509" cy="105370"/>
          </a:xfrm>
          <a:prstGeom prst="rect">
            <a:avLst/>
          </a:prstGeom>
          <a:noFill/>
          <a:ln/>
        </p:spPr>
        <p:txBody>
          <a:bodyPr wrap="square" lIns="0" tIns="0" rIns="0" bIns="0" rtlCol="0" anchor="t">
            <a:spAutoFit/>
          </a:bodyPr>
          <a:lstStyle/>
          <a:p>
            <a:pPr algn="l" indent="0" marL="0">
              <a:buNone/>
            </a:pPr>
            <a:r>
              <a:rPr lang="en-US" sz="600" spc="1" kern="0" dirty="0">
                <a:solidFill>
                  <a:srgbClr val="64748B"/>
                </a:solidFill>
                <a:latin typeface="Inter" pitchFamily="34" charset="0"/>
                <a:ea typeface="Inter" pitchFamily="34" charset="-122"/>
                <a:cs typeface="Inter" pitchFamily="34" charset="-120"/>
              </a:rPr>
              <a:t>COMMUNICATION PATH</a:t>
            </a:r>
            <a:endParaRPr lang="en-US" sz="600" dirty="0"/>
          </a:p>
        </p:txBody>
      </p:sp>
      <p:sp>
        <p:nvSpPr>
          <p:cNvPr id="7" name="Text 4"/>
          <p:cNvSpPr/>
          <p:nvPr/>
        </p:nvSpPr>
        <p:spPr>
          <a:xfrm>
            <a:off x="571500" y="2175970"/>
            <a:ext cx="859036" cy="137517"/>
          </a:xfrm>
          <a:prstGeom prst="rect">
            <a:avLst/>
          </a:prstGeom>
          <a:noFill/>
          <a:ln/>
        </p:spPr>
        <p:txBody>
          <a:bodyPr wrap="none" lIns="0" tIns="0" rIns="0" bIns="0" rtlCol="0" anchor="t">
            <a:spAutoFit/>
          </a:bodyPr>
          <a:lstStyle/>
          <a:p>
            <a:pPr algn="l" indent="0" marL="0">
              <a:lnSpc>
                <a:spcPct val="112000"/>
              </a:lnSpc>
              <a:buNone/>
            </a:pPr>
            <a:r>
              <a:rPr lang="en-US" sz="800" b="1" dirty="0">
                <a:solidFill>
                  <a:srgbClr val="991B1B"/>
                </a:solidFill>
                <a:latin typeface="Inter SemiBold" pitchFamily="34" charset="0"/>
                <a:ea typeface="Inter SemiBold" pitchFamily="34" charset="-122"/>
                <a:cs typeface="Inter SemiBold" pitchFamily="34" charset="-120"/>
              </a:rPr>
              <a:t>Ground Station</a:t>
            </a:r>
            <a:endParaRPr lang="en-US" sz="800" dirty="0"/>
          </a:p>
        </p:txBody>
      </p:sp>
      <p:pic>
        <p:nvPicPr>
          <p:cNvPr id="8" name="Image 1" descr="preencoded.png">    </p:cNvPr>
          <p:cNvPicPr>
            <a:picLocks noChangeAspect="1"/>
          </p:cNvPicPr>
          <p:nvPr/>
        </p:nvPicPr>
        <p:blipFill>
          <a:blip r:embed="rId2"/>
          <a:stretch>
            <a:fillRect/>
          </a:stretch>
        </p:blipFill>
        <p:spPr>
          <a:xfrm>
            <a:off x="1430536" y="2186685"/>
            <a:ext cx="114300" cy="114300"/>
          </a:xfrm>
          <a:prstGeom prst="rect">
            <a:avLst/>
          </a:prstGeom>
        </p:spPr>
      </p:pic>
      <p:sp>
        <p:nvSpPr>
          <p:cNvPr id="9" name="Text 5"/>
          <p:cNvSpPr/>
          <p:nvPr/>
        </p:nvSpPr>
        <p:spPr>
          <a:xfrm>
            <a:off x="1544836" y="2175970"/>
            <a:ext cx="1243013" cy="137517"/>
          </a:xfrm>
          <a:prstGeom prst="rect">
            <a:avLst/>
          </a:prstGeom>
          <a:noFill/>
          <a:ln/>
        </p:spPr>
        <p:txBody>
          <a:bodyPr wrap="none" lIns="0" tIns="0" rIns="0" bIns="0" rtlCol="0" anchor="t">
            <a:spAutoFit/>
          </a:bodyPr>
          <a:lstStyle/>
          <a:p>
            <a:pPr algn="l" indent="0" marL="0">
              <a:lnSpc>
                <a:spcPct val="112000"/>
              </a:lnSpc>
              <a:buNone/>
            </a:pPr>
            <a:r>
              <a:rPr lang="en-US" sz="800" b="1" dirty="0">
                <a:solidFill>
                  <a:srgbClr val="991B1B"/>
                </a:solidFill>
                <a:latin typeface="Inter SemiBold" pitchFamily="34" charset="0"/>
                <a:ea typeface="Inter SemiBold" pitchFamily="34" charset="-122"/>
                <a:cs typeface="Inter SemiBold" pitchFamily="34" charset="-120"/>
              </a:rPr>
              <a:t>Companion Computer</a:t>
            </a:r>
            <a:endParaRPr lang="en-US" sz="800" dirty="0"/>
          </a:p>
        </p:txBody>
      </p:sp>
      <p:sp>
        <p:nvSpPr>
          <p:cNvPr id="10" name="Shape 6"/>
          <p:cNvSpPr/>
          <p:nvPr/>
        </p:nvSpPr>
        <p:spPr>
          <a:xfrm>
            <a:off x="571500" y="2625300"/>
            <a:ext cx="171450" cy="171450"/>
          </a:xfrm>
          <a:prstGeom prst="ellipse">
            <a:avLst/>
          </a:prstGeom>
          <a:solidFill>
            <a:srgbClr val="0F172A"/>
          </a:solidFill>
          <a:ln/>
        </p:spPr>
      </p:sp>
      <p:pic>
        <p:nvPicPr>
          <p:cNvPr id="11" name="Image 2" descr="preencoded.png">    </p:cNvPr>
          <p:cNvPicPr>
            <a:picLocks noChangeAspect="1"/>
          </p:cNvPicPr>
          <p:nvPr/>
        </p:nvPicPr>
        <p:blipFill>
          <a:blip r:embed="rId3"/>
          <a:stretch>
            <a:fillRect/>
          </a:stretch>
        </p:blipFill>
        <p:spPr>
          <a:xfrm>
            <a:off x="630436" y="2675306"/>
            <a:ext cx="53578" cy="71438"/>
          </a:xfrm>
          <a:prstGeom prst="rect">
            <a:avLst/>
          </a:prstGeom>
        </p:spPr>
      </p:pic>
      <p:sp>
        <p:nvSpPr>
          <p:cNvPr id="12" name="Text 7"/>
          <p:cNvSpPr/>
          <p:nvPr/>
        </p:nvSpPr>
        <p:spPr>
          <a:xfrm>
            <a:off x="857250" y="2611013"/>
            <a:ext cx="1216223" cy="160734"/>
          </a:xfrm>
          <a:prstGeom prst="rect">
            <a:avLst/>
          </a:prstGeom>
          <a:noFill/>
          <a:ln/>
        </p:spPr>
        <p:txBody>
          <a:bodyPr wrap="none" lIns="0" tIns="0" rIns="0" bIns="0" rtlCol="0" anchor="t">
            <a:spAutoFit/>
          </a:bodyPr>
          <a:lstStyle/>
          <a:p>
            <a:pPr algn="l" indent="0" marL="0">
              <a:lnSpc>
                <a:spcPct val="120000"/>
              </a:lnSpc>
              <a:buNone/>
            </a:pPr>
            <a:r>
              <a:rPr lang="en-US" sz="750" b="1" dirty="0">
                <a:solidFill>
                  <a:srgbClr val="0F172A"/>
                </a:solidFill>
                <a:latin typeface="Inter SemiBold" pitchFamily="34" charset="0"/>
                <a:ea typeface="Inter SemiBold" pitchFamily="34" charset="-122"/>
                <a:cs typeface="Inter SemiBold" pitchFamily="34" charset="-120"/>
              </a:rPr>
              <a:t>Loss Behavior Owner</a:t>
            </a:r>
            <a:endParaRPr lang="en-US" sz="750" dirty="0"/>
          </a:p>
        </p:txBody>
      </p:sp>
      <p:sp>
        <p:nvSpPr>
          <p:cNvPr id="13" name="Text 8"/>
          <p:cNvSpPr/>
          <p:nvPr/>
        </p:nvSpPr>
        <p:spPr>
          <a:xfrm>
            <a:off x="857250" y="2800322"/>
            <a:ext cx="1216223" cy="112514"/>
          </a:xfrm>
          <a:prstGeom prst="rect">
            <a:avLst/>
          </a:prstGeom>
          <a:noFill/>
          <a:ln/>
        </p:spPr>
        <p:txBody>
          <a:bodyPr wrap="none" lIns="0" tIns="0" rIns="0" bIns="0" rtlCol="0" anchor="t">
            <a:spAutoFit/>
          </a:bodyPr>
          <a:lstStyle/>
          <a:p>
            <a:pPr algn="l" indent="0" marL="0">
              <a:buNone/>
            </a:pPr>
            <a:r>
              <a:rPr lang="en-US" sz="650" dirty="0">
                <a:solidFill>
                  <a:srgbClr val="64748B"/>
                </a:solidFill>
                <a:latin typeface="Inter" pitchFamily="34" charset="0"/>
                <a:ea typeface="Inter" pitchFamily="34" charset="-122"/>
                <a:cs typeface="Inter" pitchFamily="34" charset="-120"/>
              </a:rPr>
              <a:t>Tactical Layer (Middleware)</a:t>
            </a:r>
            <a:endParaRPr lang="en-US" sz="650" dirty="0"/>
          </a:p>
        </p:txBody>
      </p:sp>
      <p:sp>
        <p:nvSpPr>
          <p:cNvPr id="14" name="Shape 9"/>
          <p:cNvSpPr/>
          <p:nvPr/>
        </p:nvSpPr>
        <p:spPr>
          <a:xfrm>
            <a:off x="571500" y="3084286"/>
            <a:ext cx="2476509" cy="682228"/>
          </a:xfrm>
          <a:prstGeom prst="rect">
            <a:avLst/>
          </a:prstGeom>
          <a:solidFill>
            <a:srgbClr val="E2E8F0"/>
          </a:solidFill>
          <a:ln/>
        </p:spPr>
      </p:sp>
      <p:sp>
        <p:nvSpPr>
          <p:cNvPr id="15" name="Text 10"/>
          <p:cNvSpPr/>
          <p:nvPr/>
        </p:nvSpPr>
        <p:spPr>
          <a:xfrm>
            <a:off x="714375" y="3198586"/>
            <a:ext cx="2190759" cy="96441"/>
          </a:xfrm>
          <a:prstGeom prst="rect">
            <a:avLst/>
          </a:prstGeom>
          <a:noFill/>
          <a:ln/>
        </p:spPr>
        <p:txBody>
          <a:bodyPr wrap="square" lIns="0" tIns="0" rIns="0" bIns="0" rtlCol="0" anchor="t">
            <a:spAutoFit/>
          </a:bodyPr>
          <a:lstStyle/>
          <a:p>
            <a:pPr algn="l" indent="0" marL="0">
              <a:buNone/>
            </a:pPr>
            <a:r>
              <a:rPr lang="en-US" sz="550" b="1" spc="1" kern="0" dirty="0">
                <a:solidFill>
                  <a:srgbClr val="334155"/>
                </a:solidFill>
                <a:latin typeface="Inter Bold" pitchFamily="34" charset="0"/>
                <a:ea typeface="Inter Bold" pitchFamily="34" charset="-122"/>
                <a:cs typeface="Inter Bold" pitchFamily="34" charset="-120"/>
              </a:rPr>
              <a:t>TYPICAL CAUSES</a:t>
            </a:r>
            <a:endParaRPr lang="en-US" sz="550" dirty="0"/>
          </a:p>
        </p:txBody>
      </p:sp>
      <p:sp>
        <p:nvSpPr>
          <p:cNvPr id="16" name="Text 11"/>
          <p:cNvSpPr/>
          <p:nvPr/>
        </p:nvSpPr>
        <p:spPr>
          <a:xfrm>
            <a:off x="714375" y="3352177"/>
            <a:ext cx="2190759" cy="300038"/>
          </a:xfrm>
          <a:prstGeom prst="rect">
            <a:avLst/>
          </a:prstGeom>
          <a:noFill/>
          <a:ln/>
        </p:spPr>
        <p:txBody>
          <a:bodyPr wrap="square" lIns="0" tIns="0" rIns="0" bIns="0" rtlCol="0" anchor="t">
            <a:spAutoFit/>
          </a:bodyPr>
          <a:lstStyle/>
          <a:p>
            <a:pPr algn="l" indent="0" marL="0">
              <a:lnSpc>
                <a:spcPct val="120000"/>
              </a:lnSpc>
              <a:buNone/>
            </a:pPr>
            <a:r>
              <a:rPr lang="en-US" sz="750" dirty="0">
                <a:solidFill>
                  <a:srgbClr val="334155"/>
                </a:solidFill>
                <a:latin typeface="Inter" pitchFamily="34" charset="0"/>
                <a:ea typeface="Inter" pitchFamily="34" charset="-122"/>
                <a:cs typeface="Inter" pitchFamily="34" charset="-120"/>
              </a:rPr>
              <a:t>Radio range limitations, terrain occlusion, active jamming.</a:t>
            </a:r>
            <a:endParaRPr lang="en-US" sz="750" dirty="0"/>
          </a:p>
        </p:txBody>
      </p:sp>
      <p:sp>
        <p:nvSpPr>
          <p:cNvPr id="17" name="Text 12"/>
          <p:cNvSpPr/>
          <p:nvPr/>
        </p:nvSpPr>
        <p:spPr>
          <a:xfrm>
            <a:off x="3333759" y="1572323"/>
            <a:ext cx="2476509" cy="287536"/>
          </a:xfrm>
          <a:prstGeom prst="rect">
            <a:avLst/>
          </a:prstGeom>
          <a:noFill/>
          <a:ln/>
        </p:spPr>
        <p:txBody>
          <a:bodyPr wrap="square" lIns="0" tIns="0" rIns="0" bIns="102108" rtlCol="0" anchor="t">
            <a:spAutoFit/>
          </a:bodyPr>
          <a:lstStyle/>
          <a:p>
            <a:pPr algn="l" indent="0" marL="0">
              <a:buNone/>
            </a:pPr>
            <a:r>
              <a:rPr lang="en-US" sz="1000" b="1" spc="1" kern="0" dirty="0">
                <a:solidFill>
                  <a:srgbClr val="0F172A"/>
                </a:solidFill>
                <a:latin typeface="Inter Bold" pitchFamily="34" charset="0"/>
                <a:ea typeface="Inter Bold" pitchFamily="34" charset="-122"/>
                <a:cs typeface="Inter Bold" pitchFamily="34" charset="-120"/>
              </a:rPr>
              <a:t>2. ONBOARD HEARTBEAT</a:t>
            </a:r>
            <a:endParaRPr lang="en-US" sz="1000" dirty="0"/>
          </a:p>
        </p:txBody>
      </p:sp>
      <p:sp>
        <p:nvSpPr>
          <p:cNvPr id="18" name="Text 13"/>
          <p:cNvSpPr/>
          <p:nvPr/>
        </p:nvSpPr>
        <p:spPr>
          <a:xfrm>
            <a:off x="3333759" y="2031309"/>
            <a:ext cx="2476509" cy="105370"/>
          </a:xfrm>
          <a:prstGeom prst="rect">
            <a:avLst/>
          </a:prstGeom>
          <a:noFill/>
          <a:ln/>
        </p:spPr>
        <p:txBody>
          <a:bodyPr wrap="square" lIns="0" tIns="0" rIns="0" bIns="0" rtlCol="0" anchor="t">
            <a:spAutoFit/>
          </a:bodyPr>
          <a:lstStyle/>
          <a:p>
            <a:pPr algn="l" indent="0" marL="0">
              <a:buNone/>
            </a:pPr>
            <a:r>
              <a:rPr lang="en-US" sz="600" spc="1" kern="0" dirty="0">
                <a:solidFill>
                  <a:srgbClr val="64748B"/>
                </a:solidFill>
                <a:latin typeface="Inter" pitchFamily="34" charset="0"/>
                <a:ea typeface="Inter" pitchFamily="34" charset="-122"/>
                <a:cs typeface="Inter" pitchFamily="34" charset="-120"/>
              </a:rPr>
              <a:t>COMMUNICATION PATH</a:t>
            </a:r>
            <a:endParaRPr lang="en-US" sz="600" dirty="0"/>
          </a:p>
        </p:txBody>
      </p:sp>
      <p:sp>
        <p:nvSpPr>
          <p:cNvPr id="19" name="Text 14"/>
          <p:cNvSpPr/>
          <p:nvPr/>
        </p:nvSpPr>
        <p:spPr>
          <a:xfrm>
            <a:off x="3333759" y="2175970"/>
            <a:ext cx="1243013" cy="137517"/>
          </a:xfrm>
          <a:prstGeom prst="rect">
            <a:avLst/>
          </a:prstGeom>
          <a:noFill/>
          <a:ln/>
        </p:spPr>
        <p:txBody>
          <a:bodyPr wrap="none" lIns="0" tIns="0" rIns="0" bIns="0" rtlCol="0" anchor="t">
            <a:spAutoFit/>
          </a:bodyPr>
          <a:lstStyle/>
          <a:p>
            <a:pPr algn="l" indent="0" marL="0">
              <a:lnSpc>
                <a:spcPct val="112000"/>
              </a:lnSpc>
              <a:buNone/>
            </a:pPr>
            <a:r>
              <a:rPr lang="en-US" sz="800" b="1" dirty="0">
                <a:solidFill>
                  <a:srgbClr val="991B1B"/>
                </a:solidFill>
                <a:latin typeface="Inter SemiBold" pitchFamily="34" charset="0"/>
                <a:ea typeface="Inter SemiBold" pitchFamily="34" charset="-122"/>
                <a:cs typeface="Inter SemiBold" pitchFamily="34" charset="-120"/>
              </a:rPr>
              <a:t>Companion Computer</a:t>
            </a:r>
            <a:endParaRPr lang="en-US" sz="800" dirty="0"/>
          </a:p>
        </p:txBody>
      </p:sp>
      <p:pic>
        <p:nvPicPr>
          <p:cNvPr id="20" name="Image 3" descr="preencoded.png">    </p:cNvPr>
          <p:cNvPicPr>
            <a:picLocks noChangeAspect="1"/>
          </p:cNvPicPr>
          <p:nvPr/>
        </p:nvPicPr>
        <p:blipFill>
          <a:blip r:embed="rId4"/>
          <a:stretch>
            <a:fillRect/>
          </a:stretch>
        </p:blipFill>
        <p:spPr>
          <a:xfrm>
            <a:off x="4576772" y="2186685"/>
            <a:ext cx="114300" cy="114300"/>
          </a:xfrm>
          <a:prstGeom prst="rect">
            <a:avLst/>
          </a:prstGeom>
        </p:spPr>
      </p:pic>
      <p:sp>
        <p:nvSpPr>
          <p:cNvPr id="21" name="Text 15"/>
          <p:cNvSpPr/>
          <p:nvPr/>
        </p:nvSpPr>
        <p:spPr>
          <a:xfrm>
            <a:off x="4691072" y="2175970"/>
            <a:ext cx="255389" cy="137517"/>
          </a:xfrm>
          <a:prstGeom prst="rect">
            <a:avLst/>
          </a:prstGeom>
          <a:noFill/>
          <a:ln/>
        </p:spPr>
        <p:txBody>
          <a:bodyPr wrap="none" lIns="0" tIns="0" rIns="0" bIns="0" rtlCol="0" anchor="t">
            <a:spAutoFit/>
          </a:bodyPr>
          <a:lstStyle/>
          <a:p>
            <a:pPr algn="l" indent="0" marL="0">
              <a:lnSpc>
                <a:spcPct val="112000"/>
              </a:lnSpc>
              <a:buNone/>
            </a:pPr>
            <a:r>
              <a:rPr lang="en-US" sz="800" b="1" dirty="0">
                <a:solidFill>
                  <a:srgbClr val="991B1B"/>
                </a:solidFill>
                <a:latin typeface="Inter SemiBold" pitchFamily="34" charset="0"/>
                <a:ea typeface="Inter SemiBold" pitchFamily="34" charset="-122"/>
                <a:cs typeface="Inter SemiBold" pitchFamily="34" charset="-120"/>
              </a:rPr>
              <a:t>PX4</a:t>
            </a:r>
            <a:endParaRPr lang="en-US" sz="800" dirty="0"/>
          </a:p>
        </p:txBody>
      </p:sp>
      <p:sp>
        <p:nvSpPr>
          <p:cNvPr id="22" name="Shape 16"/>
          <p:cNvSpPr/>
          <p:nvPr/>
        </p:nvSpPr>
        <p:spPr>
          <a:xfrm>
            <a:off x="3333759" y="2625300"/>
            <a:ext cx="171450" cy="171450"/>
          </a:xfrm>
          <a:prstGeom prst="ellipse">
            <a:avLst/>
          </a:prstGeom>
          <a:solidFill>
            <a:srgbClr val="0F172A"/>
          </a:solidFill>
          <a:ln/>
        </p:spPr>
      </p:sp>
      <p:pic>
        <p:nvPicPr>
          <p:cNvPr id="23" name="Image 4" descr="preencoded.png">    </p:cNvPr>
          <p:cNvPicPr>
            <a:picLocks noChangeAspect="1"/>
          </p:cNvPicPr>
          <p:nvPr/>
        </p:nvPicPr>
        <p:blipFill>
          <a:blip r:embed="rId5"/>
          <a:stretch>
            <a:fillRect/>
          </a:stretch>
        </p:blipFill>
        <p:spPr>
          <a:xfrm>
            <a:off x="3383766" y="2675306"/>
            <a:ext cx="71438" cy="71438"/>
          </a:xfrm>
          <a:prstGeom prst="rect">
            <a:avLst/>
          </a:prstGeom>
        </p:spPr>
      </p:pic>
      <p:sp>
        <p:nvSpPr>
          <p:cNvPr id="24" name="Text 17"/>
          <p:cNvSpPr/>
          <p:nvPr/>
        </p:nvSpPr>
        <p:spPr>
          <a:xfrm>
            <a:off x="3619509" y="2611013"/>
            <a:ext cx="1405533" cy="160734"/>
          </a:xfrm>
          <a:prstGeom prst="rect">
            <a:avLst/>
          </a:prstGeom>
          <a:noFill/>
          <a:ln/>
        </p:spPr>
        <p:txBody>
          <a:bodyPr wrap="none" lIns="0" tIns="0" rIns="0" bIns="0" rtlCol="0" anchor="t">
            <a:spAutoFit/>
          </a:bodyPr>
          <a:lstStyle/>
          <a:p>
            <a:pPr algn="l" indent="0" marL="0">
              <a:lnSpc>
                <a:spcPct val="120000"/>
              </a:lnSpc>
              <a:buNone/>
            </a:pPr>
            <a:r>
              <a:rPr lang="en-US" sz="750" b="1" dirty="0">
                <a:solidFill>
                  <a:srgbClr val="0F172A"/>
                </a:solidFill>
                <a:latin typeface="Inter SemiBold" pitchFamily="34" charset="0"/>
                <a:ea typeface="Inter SemiBold" pitchFamily="34" charset="-122"/>
                <a:cs typeface="Inter SemiBold" pitchFamily="34" charset="-120"/>
              </a:rPr>
              <a:t>Loss Behavior Owner</a:t>
            </a:r>
            <a:endParaRPr lang="en-US" sz="750" dirty="0"/>
          </a:p>
        </p:txBody>
      </p:sp>
      <p:sp>
        <p:nvSpPr>
          <p:cNvPr id="25" name="Text 18"/>
          <p:cNvSpPr/>
          <p:nvPr/>
        </p:nvSpPr>
        <p:spPr>
          <a:xfrm>
            <a:off x="3619509" y="2800322"/>
            <a:ext cx="1405533" cy="112514"/>
          </a:xfrm>
          <a:prstGeom prst="rect">
            <a:avLst/>
          </a:prstGeom>
          <a:noFill/>
          <a:ln/>
        </p:spPr>
        <p:txBody>
          <a:bodyPr wrap="square" lIns="0" tIns="0" rIns="0" bIns="0" rtlCol="0" anchor="t">
            <a:spAutoFit/>
          </a:bodyPr>
          <a:lstStyle/>
          <a:p>
            <a:pPr algn="l" indent="0" marL="0">
              <a:buNone/>
            </a:pPr>
            <a:r>
              <a:rPr lang="en-US" sz="650" dirty="0">
                <a:solidFill>
                  <a:srgbClr val="64748B"/>
                </a:solidFill>
                <a:latin typeface="Inter" pitchFamily="34" charset="0"/>
                <a:ea typeface="Inter" pitchFamily="34" charset="-122"/>
                <a:cs typeface="Inter" pitchFamily="34" charset="-120"/>
              </a:rPr>
              <a:t>PX4 Failsafe (COM_OF_LOSS_T)</a:t>
            </a:r>
            <a:endParaRPr lang="en-US" sz="650" dirty="0"/>
          </a:p>
        </p:txBody>
      </p:sp>
      <p:sp>
        <p:nvSpPr>
          <p:cNvPr id="26" name="Shape 19"/>
          <p:cNvSpPr/>
          <p:nvPr/>
        </p:nvSpPr>
        <p:spPr>
          <a:xfrm>
            <a:off x="3333759" y="3084286"/>
            <a:ext cx="2476509" cy="682228"/>
          </a:xfrm>
          <a:prstGeom prst="rect">
            <a:avLst/>
          </a:prstGeom>
          <a:solidFill>
            <a:srgbClr val="E2E8F0"/>
          </a:solidFill>
          <a:ln/>
        </p:spPr>
      </p:sp>
      <p:sp>
        <p:nvSpPr>
          <p:cNvPr id="27" name="Text 20"/>
          <p:cNvSpPr/>
          <p:nvPr/>
        </p:nvSpPr>
        <p:spPr>
          <a:xfrm>
            <a:off x="3476634" y="3198586"/>
            <a:ext cx="2190759" cy="96441"/>
          </a:xfrm>
          <a:prstGeom prst="rect">
            <a:avLst/>
          </a:prstGeom>
          <a:noFill/>
          <a:ln/>
        </p:spPr>
        <p:txBody>
          <a:bodyPr wrap="square" lIns="0" tIns="0" rIns="0" bIns="0" rtlCol="0" anchor="t">
            <a:spAutoFit/>
          </a:bodyPr>
          <a:lstStyle/>
          <a:p>
            <a:pPr algn="l" indent="0" marL="0">
              <a:buNone/>
            </a:pPr>
            <a:r>
              <a:rPr lang="en-US" sz="550" b="1" spc="1" kern="0" dirty="0">
                <a:solidFill>
                  <a:srgbClr val="334155"/>
                </a:solidFill>
                <a:latin typeface="Inter Bold" pitchFamily="34" charset="0"/>
                <a:ea typeface="Inter Bold" pitchFamily="34" charset="-122"/>
                <a:cs typeface="Inter Bold" pitchFamily="34" charset="-120"/>
              </a:rPr>
              <a:t>TYPICAL CAUSES</a:t>
            </a:r>
            <a:endParaRPr lang="en-US" sz="550" dirty="0"/>
          </a:p>
        </p:txBody>
      </p:sp>
      <p:sp>
        <p:nvSpPr>
          <p:cNvPr id="28" name="Text 21"/>
          <p:cNvSpPr/>
          <p:nvPr/>
        </p:nvSpPr>
        <p:spPr>
          <a:xfrm>
            <a:off x="3476634" y="3352177"/>
            <a:ext cx="2190759" cy="300038"/>
          </a:xfrm>
          <a:prstGeom prst="rect">
            <a:avLst/>
          </a:prstGeom>
          <a:noFill/>
          <a:ln/>
        </p:spPr>
        <p:txBody>
          <a:bodyPr wrap="square" lIns="0" tIns="0" rIns="0" bIns="0" rtlCol="0" anchor="t">
            <a:spAutoFit/>
          </a:bodyPr>
          <a:lstStyle/>
          <a:p>
            <a:pPr algn="l" indent="0" marL="0">
              <a:lnSpc>
                <a:spcPct val="120000"/>
              </a:lnSpc>
              <a:buNone/>
            </a:pPr>
            <a:r>
              <a:rPr lang="en-US" sz="750" dirty="0">
                <a:solidFill>
                  <a:srgbClr val="334155"/>
                </a:solidFill>
                <a:latin typeface="Inter" pitchFamily="34" charset="0"/>
                <a:ea typeface="Inter" pitchFamily="34" charset="-122"/>
                <a:cs typeface="Inter" pitchFamily="34" charset="-120"/>
              </a:rPr>
              <a:t>Software crash on companion, physical cable or serial fault.</a:t>
            </a:r>
            <a:endParaRPr lang="en-US" sz="750" dirty="0"/>
          </a:p>
        </p:txBody>
      </p:sp>
      <p:sp>
        <p:nvSpPr>
          <p:cNvPr id="29" name="Text 22"/>
          <p:cNvSpPr/>
          <p:nvPr/>
        </p:nvSpPr>
        <p:spPr>
          <a:xfrm>
            <a:off x="6096019" y="1572323"/>
            <a:ext cx="2476509" cy="287536"/>
          </a:xfrm>
          <a:prstGeom prst="rect">
            <a:avLst/>
          </a:prstGeom>
          <a:noFill/>
          <a:ln/>
        </p:spPr>
        <p:txBody>
          <a:bodyPr wrap="square" lIns="0" tIns="0" rIns="0" bIns="102108" rtlCol="0" anchor="t">
            <a:spAutoFit/>
          </a:bodyPr>
          <a:lstStyle/>
          <a:p>
            <a:pPr algn="l" indent="0" marL="0">
              <a:buNone/>
            </a:pPr>
            <a:r>
              <a:rPr lang="en-US" sz="1000" b="1" spc="1" kern="0" dirty="0">
                <a:solidFill>
                  <a:srgbClr val="0F172A"/>
                </a:solidFill>
                <a:latin typeface="Inter Bold" pitchFamily="34" charset="0"/>
                <a:ea typeface="Inter Bold" pitchFamily="34" charset="-122"/>
                <a:cs typeface="Inter Bold" pitchFamily="34" charset="-120"/>
              </a:rPr>
              <a:t>3. POSITIONING SIGNAL</a:t>
            </a:r>
            <a:endParaRPr lang="en-US" sz="1000" dirty="0"/>
          </a:p>
        </p:txBody>
      </p:sp>
      <p:sp>
        <p:nvSpPr>
          <p:cNvPr id="30" name="Text 23"/>
          <p:cNvSpPr/>
          <p:nvPr/>
        </p:nvSpPr>
        <p:spPr>
          <a:xfrm>
            <a:off x="6096019" y="2031309"/>
            <a:ext cx="2476509" cy="105370"/>
          </a:xfrm>
          <a:prstGeom prst="rect">
            <a:avLst/>
          </a:prstGeom>
          <a:noFill/>
          <a:ln/>
        </p:spPr>
        <p:txBody>
          <a:bodyPr wrap="square" lIns="0" tIns="0" rIns="0" bIns="0" rtlCol="0" anchor="t">
            <a:spAutoFit/>
          </a:bodyPr>
          <a:lstStyle/>
          <a:p>
            <a:pPr algn="l" indent="0" marL="0">
              <a:buNone/>
            </a:pPr>
            <a:r>
              <a:rPr lang="en-US" sz="600" spc="1" kern="0" dirty="0">
                <a:solidFill>
                  <a:srgbClr val="64748B"/>
                </a:solidFill>
                <a:latin typeface="Inter" pitchFamily="34" charset="0"/>
                <a:ea typeface="Inter" pitchFamily="34" charset="-122"/>
                <a:cs typeface="Inter" pitchFamily="34" charset="-120"/>
              </a:rPr>
              <a:t>COMMUNICATION PATH</a:t>
            </a:r>
            <a:endParaRPr lang="en-US" sz="600" dirty="0"/>
          </a:p>
        </p:txBody>
      </p:sp>
      <p:sp>
        <p:nvSpPr>
          <p:cNvPr id="31" name="Text 24"/>
          <p:cNvSpPr/>
          <p:nvPr/>
        </p:nvSpPr>
        <p:spPr>
          <a:xfrm>
            <a:off x="6096019" y="2175970"/>
            <a:ext cx="628650" cy="137517"/>
          </a:xfrm>
          <a:prstGeom prst="rect">
            <a:avLst/>
          </a:prstGeom>
          <a:noFill/>
          <a:ln/>
        </p:spPr>
        <p:txBody>
          <a:bodyPr wrap="none" lIns="0" tIns="0" rIns="0" bIns="0" rtlCol="0" anchor="t">
            <a:spAutoFit/>
          </a:bodyPr>
          <a:lstStyle/>
          <a:p>
            <a:pPr algn="l" indent="0" marL="0">
              <a:lnSpc>
                <a:spcPct val="112000"/>
              </a:lnSpc>
              <a:buNone/>
            </a:pPr>
            <a:r>
              <a:rPr lang="en-US" sz="800" b="1" dirty="0">
                <a:solidFill>
                  <a:srgbClr val="991B1B"/>
                </a:solidFill>
                <a:latin typeface="Inter SemiBold" pitchFamily="34" charset="0"/>
                <a:ea typeface="Inter SemiBold" pitchFamily="34" charset="-122"/>
                <a:cs typeface="Inter SemiBold" pitchFamily="34" charset="-120"/>
              </a:rPr>
              <a:t>GPS/GNSS</a:t>
            </a:r>
            <a:endParaRPr lang="en-US" sz="800" dirty="0"/>
          </a:p>
        </p:txBody>
      </p:sp>
      <p:pic>
        <p:nvPicPr>
          <p:cNvPr id="32" name="Image 5" descr="preencoded.png">    </p:cNvPr>
          <p:cNvPicPr>
            <a:picLocks noChangeAspect="1"/>
          </p:cNvPicPr>
          <p:nvPr/>
        </p:nvPicPr>
        <p:blipFill>
          <a:blip r:embed="rId6"/>
          <a:stretch>
            <a:fillRect/>
          </a:stretch>
        </p:blipFill>
        <p:spPr>
          <a:xfrm>
            <a:off x="6724669" y="2186685"/>
            <a:ext cx="114300" cy="114300"/>
          </a:xfrm>
          <a:prstGeom prst="rect">
            <a:avLst/>
          </a:prstGeom>
        </p:spPr>
      </p:pic>
      <p:sp>
        <p:nvSpPr>
          <p:cNvPr id="33" name="Text 25"/>
          <p:cNvSpPr/>
          <p:nvPr/>
        </p:nvSpPr>
        <p:spPr>
          <a:xfrm>
            <a:off x="6838969" y="2175970"/>
            <a:ext cx="246459" cy="137517"/>
          </a:xfrm>
          <a:prstGeom prst="rect">
            <a:avLst/>
          </a:prstGeom>
          <a:noFill/>
          <a:ln/>
        </p:spPr>
        <p:txBody>
          <a:bodyPr wrap="none" lIns="0" tIns="0" rIns="0" bIns="0" rtlCol="0" anchor="t">
            <a:spAutoFit/>
          </a:bodyPr>
          <a:lstStyle/>
          <a:p>
            <a:pPr algn="l" indent="0" marL="0">
              <a:lnSpc>
                <a:spcPct val="112000"/>
              </a:lnSpc>
              <a:buNone/>
            </a:pPr>
            <a:r>
              <a:rPr lang="en-US" sz="800" b="1" dirty="0">
                <a:solidFill>
                  <a:srgbClr val="991B1B"/>
                </a:solidFill>
                <a:latin typeface="Inter SemiBold" pitchFamily="34" charset="0"/>
                <a:ea typeface="Inter SemiBold" pitchFamily="34" charset="-122"/>
                <a:cs typeface="Inter SemiBold" pitchFamily="34" charset="-120"/>
              </a:rPr>
              <a:t>EKF</a:t>
            </a:r>
            <a:endParaRPr lang="en-US" sz="800" dirty="0"/>
          </a:p>
        </p:txBody>
      </p:sp>
      <p:sp>
        <p:nvSpPr>
          <p:cNvPr id="34" name="Shape 26"/>
          <p:cNvSpPr/>
          <p:nvPr/>
        </p:nvSpPr>
        <p:spPr>
          <a:xfrm>
            <a:off x="6096019" y="2625300"/>
            <a:ext cx="171450" cy="171450"/>
          </a:xfrm>
          <a:prstGeom prst="ellipse">
            <a:avLst/>
          </a:prstGeom>
          <a:solidFill>
            <a:srgbClr val="0F172A"/>
          </a:solidFill>
          <a:ln/>
        </p:spPr>
      </p:sp>
      <p:pic>
        <p:nvPicPr>
          <p:cNvPr id="35" name="Image 6" descr="preencoded.png">    </p:cNvPr>
          <p:cNvPicPr>
            <a:picLocks noChangeAspect="1"/>
          </p:cNvPicPr>
          <p:nvPr/>
        </p:nvPicPr>
        <p:blipFill>
          <a:blip r:embed="rId7"/>
          <a:stretch>
            <a:fillRect/>
          </a:stretch>
        </p:blipFill>
        <p:spPr>
          <a:xfrm>
            <a:off x="6154955" y="2675306"/>
            <a:ext cx="53578" cy="71438"/>
          </a:xfrm>
          <a:prstGeom prst="rect">
            <a:avLst/>
          </a:prstGeom>
        </p:spPr>
      </p:pic>
      <p:sp>
        <p:nvSpPr>
          <p:cNvPr id="36" name="Text 27"/>
          <p:cNvSpPr/>
          <p:nvPr/>
        </p:nvSpPr>
        <p:spPr>
          <a:xfrm>
            <a:off x="6381769" y="2611013"/>
            <a:ext cx="1596628" cy="160734"/>
          </a:xfrm>
          <a:prstGeom prst="rect">
            <a:avLst/>
          </a:prstGeom>
          <a:noFill/>
          <a:ln/>
        </p:spPr>
        <p:txBody>
          <a:bodyPr wrap="none" lIns="0" tIns="0" rIns="0" bIns="0" rtlCol="0" anchor="t">
            <a:spAutoFit/>
          </a:bodyPr>
          <a:lstStyle/>
          <a:p>
            <a:pPr algn="l" indent="0" marL="0">
              <a:lnSpc>
                <a:spcPct val="120000"/>
              </a:lnSpc>
              <a:buNone/>
            </a:pPr>
            <a:r>
              <a:rPr lang="en-US" sz="750" b="1" dirty="0">
                <a:solidFill>
                  <a:srgbClr val="0F172A"/>
                </a:solidFill>
                <a:latin typeface="Inter SemiBold" pitchFamily="34" charset="0"/>
                <a:ea typeface="Inter SemiBold" pitchFamily="34" charset="-122"/>
                <a:cs typeface="Inter SemiBold" pitchFamily="34" charset="-120"/>
              </a:rPr>
              <a:t>Loss Behavior Owner</a:t>
            </a:r>
            <a:endParaRPr lang="en-US" sz="750" dirty="0"/>
          </a:p>
        </p:txBody>
      </p:sp>
      <p:sp>
        <p:nvSpPr>
          <p:cNvPr id="37" name="Text 28"/>
          <p:cNvSpPr/>
          <p:nvPr/>
        </p:nvSpPr>
        <p:spPr>
          <a:xfrm>
            <a:off x="6381769" y="2800322"/>
            <a:ext cx="1596628" cy="112514"/>
          </a:xfrm>
          <a:prstGeom prst="rect">
            <a:avLst/>
          </a:prstGeom>
          <a:noFill/>
          <a:ln/>
        </p:spPr>
        <p:txBody>
          <a:bodyPr wrap="square" lIns="0" tIns="0" rIns="0" bIns="0" rtlCol="0" anchor="t">
            <a:spAutoFit/>
          </a:bodyPr>
          <a:lstStyle/>
          <a:p>
            <a:pPr algn="l" indent="0" marL="0">
              <a:buNone/>
            </a:pPr>
            <a:r>
              <a:rPr lang="en-US" sz="650" dirty="0">
                <a:solidFill>
                  <a:srgbClr val="64748B"/>
                </a:solidFill>
                <a:latin typeface="Inter" pitchFamily="34" charset="0"/>
                <a:ea typeface="Inter" pitchFamily="34" charset="-122"/>
                <a:cs typeface="Inter" pitchFamily="34" charset="-120"/>
              </a:rPr>
              <a:t>PX4 EKF Fallback / Vision Odometry</a:t>
            </a:r>
            <a:endParaRPr lang="en-US" sz="650" dirty="0"/>
          </a:p>
        </p:txBody>
      </p:sp>
      <p:sp>
        <p:nvSpPr>
          <p:cNvPr id="38" name="Shape 29"/>
          <p:cNvSpPr/>
          <p:nvPr/>
        </p:nvSpPr>
        <p:spPr>
          <a:xfrm>
            <a:off x="6096019" y="3084286"/>
            <a:ext cx="2476509" cy="682228"/>
          </a:xfrm>
          <a:prstGeom prst="rect">
            <a:avLst/>
          </a:prstGeom>
          <a:solidFill>
            <a:srgbClr val="E2E8F0"/>
          </a:solidFill>
          <a:ln/>
        </p:spPr>
      </p:sp>
      <p:sp>
        <p:nvSpPr>
          <p:cNvPr id="39" name="Text 30"/>
          <p:cNvSpPr/>
          <p:nvPr/>
        </p:nvSpPr>
        <p:spPr>
          <a:xfrm>
            <a:off x="6238894" y="3198586"/>
            <a:ext cx="2190759" cy="96441"/>
          </a:xfrm>
          <a:prstGeom prst="rect">
            <a:avLst/>
          </a:prstGeom>
          <a:noFill/>
          <a:ln/>
        </p:spPr>
        <p:txBody>
          <a:bodyPr wrap="square" lIns="0" tIns="0" rIns="0" bIns="0" rtlCol="0" anchor="t">
            <a:spAutoFit/>
          </a:bodyPr>
          <a:lstStyle/>
          <a:p>
            <a:pPr algn="l" indent="0" marL="0">
              <a:buNone/>
            </a:pPr>
            <a:r>
              <a:rPr lang="en-US" sz="550" b="1" spc="1" kern="0" dirty="0">
                <a:solidFill>
                  <a:srgbClr val="334155"/>
                </a:solidFill>
                <a:latin typeface="Inter Bold" pitchFamily="34" charset="0"/>
                <a:ea typeface="Inter Bold" pitchFamily="34" charset="-122"/>
                <a:cs typeface="Inter Bold" pitchFamily="34" charset="-120"/>
              </a:rPr>
              <a:t>TYPICAL CAUSES</a:t>
            </a:r>
            <a:endParaRPr lang="en-US" sz="550" dirty="0"/>
          </a:p>
        </p:txBody>
      </p:sp>
      <p:sp>
        <p:nvSpPr>
          <p:cNvPr id="40" name="Text 31"/>
          <p:cNvSpPr/>
          <p:nvPr/>
        </p:nvSpPr>
        <p:spPr>
          <a:xfrm>
            <a:off x="6238894" y="3352177"/>
            <a:ext cx="2190759" cy="300038"/>
          </a:xfrm>
          <a:prstGeom prst="rect">
            <a:avLst/>
          </a:prstGeom>
          <a:noFill/>
          <a:ln/>
        </p:spPr>
        <p:txBody>
          <a:bodyPr wrap="square" lIns="0" tIns="0" rIns="0" bIns="0" rtlCol="0" anchor="t">
            <a:spAutoFit/>
          </a:bodyPr>
          <a:lstStyle/>
          <a:p>
            <a:pPr algn="l" indent="0" marL="0">
              <a:lnSpc>
                <a:spcPct val="120000"/>
              </a:lnSpc>
              <a:buNone/>
            </a:pPr>
            <a:r>
              <a:rPr lang="en-US" sz="750" dirty="0">
                <a:solidFill>
                  <a:srgbClr val="334155"/>
                </a:solidFill>
                <a:latin typeface="Inter" pitchFamily="34" charset="0"/>
                <a:ea typeface="Inter" pitchFamily="34" charset="-122"/>
                <a:cs typeface="Inter" pitchFamily="34" charset="-120"/>
              </a:rPr>
              <a:t>GPS denial, urban canyon effects, indoor environments.</a:t>
            </a:r>
            <a:endParaRPr lang="en-US" sz="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571500" y="342900"/>
            <a:ext cx="8001000" cy="360759"/>
          </a:xfrm>
          <a:prstGeom prst="rect">
            <a:avLst/>
          </a:prstGeom>
          <a:noFill/>
          <a:ln/>
        </p:spPr>
        <p:txBody>
          <a:bodyPr wrap="square" lIns="0" tIns="0" rIns="0" bIns="0" rtlCol="0" anchor="t">
            <a:spAutoFit/>
          </a:bodyPr>
          <a:lstStyle/>
          <a:p>
            <a:pPr algn="l" indent="0" marL="0">
              <a:buNone/>
            </a:pPr>
            <a:r>
              <a:rPr lang="en-US" sz="1900" b="1" dirty="0">
                <a:solidFill>
                  <a:srgbClr val="0F172A"/>
                </a:solidFill>
                <a:latin typeface="Playfair Display ExtraBold" pitchFamily="34" charset="0"/>
                <a:ea typeface="Playfair Display ExtraBold" pitchFamily="34" charset="-122"/>
                <a:cs typeface="Playfair Display ExtraBold" pitchFamily="34" charset="-120"/>
              </a:rPr>
              <a:t>PX4 Capabilities</a:t>
            </a:r>
            <a:endParaRPr lang="en-US" sz="1900" dirty="0"/>
          </a:p>
        </p:txBody>
      </p:sp>
      <p:sp>
        <p:nvSpPr>
          <p:cNvPr id="4" name="Text 1"/>
          <p:cNvSpPr/>
          <p:nvPr/>
        </p:nvSpPr>
        <p:spPr>
          <a:xfrm>
            <a:off x="571500" y="1103709"/>
            <a:ext cx="3829050" cy="244673"/>
          </a:xfrm>
          <a:prstGeom prst="rect">
            <a:avLst/>
          </a:prstGeom>
          <a:noFill/>
          <a:ln/>
        </p:spPr>
        <p:txBody>
          <a:bodyPr wrap="square" lIns="0" tIns="0" rIns="0" bIns="68072" rtlCol="0" anchor="t">
            <a:spAutoFit/>
          </a:bodyPr>
          <a:lstStyle/>
          <a:p>
            <a:pPr algn="l" indent="0" marL="0">
              <a:buNone/>
            </a:pPr>
            <a:r>
              <a:rPr lang="en-US" sz="1000" b="1" spc="1" kern="0" dirty="0">
                <a:solidFill>
                  <a:srgbClr val="0F172A"/>
                </a:solidFill>
                <a:latin typeface="Inter Bold" pitchFamily="34" charset="0"/>
                <a:ea typeface="Inter Bold" pitchFamily="34" charset="-122"/>
                <a:cs typeface="Inter Bold" pitchFamily="34" charset="-120"/>
              </a:rPr>
              <a:t>DATA HANDLING CAPABILITIES</a:t>
            </a:r>
            <a:endParaRPr lang="en-US" sz="1000" dirty="0"/>
          </a:p>
        </p:txBody>
      </p:sp>
      <p:sp>
        <p:nvSpPr>
          <p:cNvPr id="5" name="Shape 2"/>
          <p:cNvSpPr/>
          <p:nvPr/>
        </p:nvSpPr>
        <p:spPr>
          <a:xfrm>
            <a:off x="571500" y="1519833"/>
            <a:ext cx="171450" cy="171450"/>
          </a:xfrm>
          <a:prstGeom prst="ellipse">
            <a:avLst/>
          </a:prstGeom>
          <a:solidFill>
            <a:srgbClr val="991B1B"/>
          </a:solidFill>
          <a:ln/>
        </p:spPr>
      </p:sp>
      <p:sp>
        <p:nvSpPr>
          <p:cNvPr id="6" name="Text 3"/>
          <p:cNvSpPr/>
          <p:nvPr/>
        </p:nvSpPr>
        <p:spPr>
          <a:xfrm>
            <a:off x="571500" y="1519833"/>
            <a:ext cx="171450" cy="171450"/>
          </a:xfrm>
          <a:prstGeom prst="rect">
            <a:avLst/>
          </a:prstGeom>
          <a:noFill/>
          <a:ln/>
        </p:spPr>
        <p:txBody>
          <a:bodyPr wrap="none" lIns="0" tIns="0" rIns="0" bIns="0" rtlCol="0" anchor="ctr">
            <a:spAutoFit/>
          </a:bodyPr>
          <a:lstStyle/>
          <a:p>
            <a:pPr algn="ctr" indent="0" marL="0">
              <a:buNone/>
            </a:pPr>
            <a:r>
              <a:rPr lang="en-US" sz="600" b="1" dirty="0">
                <a:solidFill>
                  <a:srgbClr val="FFFFFF"/>
                </a:solidFill>
                <a:latin typeface="Inter Bold" pitchFamily="34" charset="0"/>
                <a:ea typeface="Inter Bold" pitchFamily="34" charset="-122"/>
                <a:cs typeface="Inter Bold" pitchFamily="34" charset="-120"/>
              </a:rPr>
              <a:t>1</a:t>
            </a:r>
            <a:endParaRPr lang="en-US" sz="600" dirty="0"/>
          </a:p>
        </p:txBody>
      </p:sp>
      <p:sp>
        <p:nvSpPr>
          <p:cNvPr id="7" name="Text 4"/>
          <p:cNvSpPr/>
          <p:nvPr/>
        </p:nvSpPr>
        <p:spPr>
          <a:xfrm>
            <a:off x="857250" y="1519833"/>
            <a:ext cx="3543300" cy="128588"/>
          </a:xfrm>
          <a:prstGeom prst="rect">
            <a:avLst/>
          </a:prstGeom>
          <a:noFill/>
          <a:ln/>
        </p:spPr>
        <p:txBody>
          <a:bodyPr wrap="square" lIns="0" tIns="0" rIns="0" bIns="0" rtlCol="0" anchor="t">
            <a:spAutoFit/>
          </a:bodyPr>
          <a:lstStyle/>
          <a:p>
            <a:pPr algn="l" indent="0" marL="0">
              <a:buNone/>
            </a:pPr>
            <a:r>
              <a:rPr lang="en-US" sz="750" b="1" dirty="0">
                <a:solidFill>
                  <a:srgbClr val="0F172A"/>
                </a:solidFill>
                <a:latin typeface="Inter Bold" pitchFamily="34" charset="0"/>
                <a:ea typeface="Inter Bold" pitchFamily="34" charset="-122"/>
                <a:cs typeface="Inter Bold" pitchFamily="34" charset="-120"/>
              </a:rPr>
              <a:t>Sensor Data Rate</a:t>
            </a:r>
            <a:endParaRPr lang="en-US" sz="750" dirty="0"/>
          </a:p>
        </p:txBody>
      </p:sp>
      <p:sp>
        <p:nvSpPr>
          <p:cNvPr id="8" name="Text 5"/>
          <p:cNvSpPr/>
          <p:nvPr/>
        </p:nvSpPr>
        <p:spPr>
          <a:xfrm>
            <a:off x="857250" y="1676995"/>
            <a:ext cx="3543300" cy="160009"/>
          </a:xfrm>
          <a:prstGeom prst="rect">
            <a:avLst/>
          </a:prstGeom>
          <a:noFill/>
          <a:ln/>
        </p:spPr>
        <p:txBody>
          <a:bodyPr wrap="none" lIns="0" tIns="0" rIns="0" bIns="0" rtlCol="0" anchor="t">
            <a:spAutoFit/>
          </a:bodyPr>
          <a:lstStyle/>
          <a:p>
            <a:pPr algn="l" indent="0" marL="0">
              <a:lnSpc>
                <a:spcPct val="128000"/>
              </a:lnSpc>
              <a:buNone/>
            </a:pPr>
            <a:r>
              <a:rPr lang="en-US" sz="750" dirty="0">
                <a:solidFill>
                  <a:srgbClr val="334155"/>
                </a:solidFill>
                <a:latin typeface="Inter" pitchFamily="34" charset="0"/>
                <a:ea typeface="Inter" pitchFamily="34" charset="-122"/>
                <a:cs typeface="Inter" pitchFamily="34" charset="-120"/>
              </a:rPr>
              <a:t>50 Hz to 1 kHz</a:t>
            </a:r>
            <a:endParaRPr lang="en-US" sz="750" dirty="0"/>
          </a:p>
        </p:txBody>
      </p:sp>
      <p:sp>
        <p:nvSpPr>
          <p:cNvPr id="9" name="Shape 6"/>
          <p:cNvSpPr/>
          <p:nvPr/>
        </p:nvSpPr>
        <p:spPr>
          <a:xfrm>
            <a:off x="571500" y="2008454"/>
            <a:ext cx="171450" cy="171450"/>
          </a:xfrm>
          <a:prstGeom prst="ellipse">
            <a:avLst/>
          </a:prstGeom>
          <a:solidFill>
            <a:srgbClr val="991B1B"/>
          </a:solidFill>
          <a:ln/>
        </p:spPr>
      </p:sp>
      <p:sp>
        <p:nvSpPr>
          <p:cNvPr id="10" name="Text 7"/>
          <p:cNvSpPr/>
          <p:nvPr/>
        </p:nvSpPr>
        <p:spPr>
          <a:xfrm>
            <a:off x="571500" y="2008454"/>
            <a:ext cx="171450" cy="171450"/>
          </a:xfrm>
          <a:prstGeom prst="rect">
            <a:avLst/>
          </a:prstGeom>
          <a:noFill/>
          <a:ln/>
        </p:spPr>
        <p:txBody>
          <a:bodyPr wrap="none" lIns="0" tIns="0" rIns="0" bIns="0" rtlCol="0" anchor="ctr">
            <a:spAutoFit/>
          </a:bodyPr>
          <a:lstStyle/>
          <a:p>
            <a:pPr algn="ctr" indent="0" marL="0">
              <a:buNone/>
            </a:pPr>
            <a:r>
              <a:rPr lang="en-US" sz="600" b="1" dirty="0">
                <a:solidFill>
                  <a:srgbClr val="FFFFFF"/>
                </a:solidFill>
                <a:latin typeface="Inter Bold" pitchFamily="34" charset="0"/>
                <a:ea typeface="Inter Bold" pitchFamily="34" charset="-122"/>
                <a:cs typeface="Inter Bold" pitchFamily="34" charset="-120"/>
              </a:rPr>
              <a:t>2</a:t>
            </a:r>
            <a:endParaRPr lang="en-US" sz="600" dirty="0"/>
          </a:p>
        </p:txBody>
      </p:sp>
      <p:sp>
        <p:nvSpPr>
          <p:cNvPr id="11" name="Text 8"/>
          <p:cNvSpPr/>
          <p:nvPr/>
        </p:nvSpPr>
        <p:spPr>
          <a:xfrm>
            <a:off x="857250" y="2008454"/>
            <a:ext cx="3543300" cy="128588"/>
          </a:xfrm>
          <a:prstGeom prst="rect">
            <a:avLst/>
          </a:prstGeom>
          <a:noFill/>
          <a:ln/>
        </p:spPr>
        <p:txBody>
          <a:bodyPr wrap="square" lIns="0" tIns="0" rIns="0" bIns="0" rtlCol="0" anchor="t">
            <a:spAutoFit/>
          </a:bodyPr>
          <a:lstStyle/>
          <a:p>
            <a:pPr algn="l" indent="0" marL="0">
              <a:buNone/>
            </a:pPr>
            <a:r>
              <a:rPr lang="en-US" sz="750" b="1" dirty="0">
                <a:solidFill>
                  <a:srgbClr val="0F172A"/>
                </a:solidFill>
                <a:latin typeface="Inter Bold" pitchFamily="34" charset="0"/>
                <a:ea typeface="Inter Bold" pitchFamily="34" charset="-122"/>
                <a:cs typeface="Inter Bold" pitchFamily="34" charset="-120"/>
              </a:rPr>
              <a:t>Control Loop Frequency</a:t>
            </a:r>
            <a:endParaRPr lang="en-US" sz="750" dirty="0"/>
          </a:p>
        </p:txBody>
      </p:sp>
      <p:sp>
        <p:nvSpPr>
          <p:cNvPr id="12" name="Text 9"/>
          <p:cNvSpPr/>
          <p:nvPr/>
        </p:nvSpPr>
        <p:spPr>
          <a:xfrm>
            <a:off x="857250" y="2165617"/>
            <a:ext cx="3543300" cy="160009"/>
          </a:xfrm>
          <a:prstGeom prst="rect">
            <a:avLst/>
          </a:prstGeom>
          <a:noFill/>
          <a:ln/>
        </p:spPr>
        <p:txBody>
          <a:bodyPr wrap="none" lIns="0" tIns="0" rIns="0" bIns="0" rtlCol="0" anchor="t">
            <a:spAutoFit/>
          </a:bodyPr>
          <a:lstStyle/>
          <a:p>
            <a:pPr algn="l" indent="0" marL="0">
              <a:lnSpc>
                <a:spcPct val="128000"/>
              </a:lnSpc>
              <a:buNone/>
            </a:pPr>
            <a:r>
              <a:rPr lang="en-US" sz="750" dirty="0">
                <a:solidFill>
                  <a:srgbClr val="334155"/>
                </a:solidFill>
                <a:latin typeface="Inter" pitchFamily="34" charset="0"/>
                <a:ea typeface="Inter" pitchFamily="34" charset="-122"/>
                <a:cs typeface="Inter" pitchFamily="34" charset="-120"/>
              </a:rPr>
              <a:t>200 Hz typical</a:t>
            </a:r>
            <a:endParaRPr lang="en-US" sz="750" dirty="0"/>
          </a:p>
        </p:txBody>
      </p:sp>
      <p:sp>
        <p:nvSpPr>
          <p:cNvPr id="13" name="Shape 10"/>
          <p:cNvSpPr/>
          <p:nvPr/>
        </p:nvSpPr>
        <p:spPr>
          <a:xfrm>
            <a:off x="571500" y="2497075"/>
            <a:ext cx="171450" cy="171450"/>
          </a:xfrm>
          <a:prstGeom prst="ellipse">
            <a:avLst/>
          </a:prstGeom>
          <a:solidFill>
            <a:srgbClr val="991B1B"/>
          </a:solidFill>
          <a:ln/>
        </p:spPr>
      </p:sp>
      <p:sp>
        <p:nvSpPr>
          <p:cNvPr id="14" name="Text 11"/>
          <p:cNvSpPr/>
          <p:nvPr/>
        </p:nvSpPr>
        <p:spPr>
          <a:xfrm>
            <a:off x="571500" y="2497075"/>
            <a:ext cx="171450" cy="171450"/>
          </a:xfrm>
          <a:prstGeom prst="rect">
            <a:avLst/>
          </a:prstGeom>
          <a:noFill/>
          <a:ln/>
        </p:spPr>
        <p:txBody>
          <a:bodyPr wrap="none" lIns="0" tIns="0" rIns="0" bIns="0" rtlCol="0" anchor="ctr">
            <a:spAutoFit/>
          </a:bodyPr>
          <a:lstStyle/>
          <a:p>
            <a:pPr algn="ctr" indent="0" marL="0">
              <a:buNone/>
            </a:pPr>
            <a:r>
              <a:rPr lang="en-US" sz="600" b="1" dirty="0">
                <a:solidFill>
                  <a:srgbClr val="FFFFFF"/>
                </a:solidFill>
                <a:latin typeface="Inter Bold" pitchFamily="34" charset="0"/>
                <a:ea typeface="Inter Bold" pitchFamily="34" charset="-122"/>
                <a:cs typeface="Inter Bold" pitchFamily="34" charset="-120"/>
              </a:rPr>
              <a:t>3</a:t>
            </a:r>
            <a:endParaRPr lang="en-US" sz="600" dirty="0"/>
          </a:p>
        </p:txBody>
      </p:sp>
      <p:sp>
        <p:nvSpPr>
          <p:cNvPr id="15" name="Text 12"/>
          <p:cNvSpPr/>
          <p:nvPr/>
        </p:nvSpPr>
        <p:spPr>
          <a:xfrm>
            <a:off x="857250" y="2497075"/>
            <a:ext cx="3543300" cy="128588"/>
          </a:xfrm>
          <a:prstGeom prst="rect">
            <a:avLst/>
          </a:prstGeom>
          <a:noFill/>
          <a:ln/>
        </p:spPr>
        <p:txBody>
          <a:bodyPr wrap="square" lIns="0" tIns="0" rIns="0" bIns="0" rtlCol="0" anchor="t">
            <a:spAutoFit/>
          </a:bodyPr>
          <a:lstStyle/>
          <a:p>
            <a:pPr algn="l" indent="0" marL="0">
              <a:buNone/>
            </a:pPr>
            <a:r>
              <a:rPr lang="en-US" sz="750" b="1" dirty="0">
                <a:solidFill>
                  <a:srgbClr val="0F172A"/>
                </a:solidFill>
                <a:latin typeface="Inter Bold" pitchFamily="34" charset="0"/>
                <a:ea typeface="Inter Bold" pitchFamily="34" charset="-122"/>
                <a:cs typeface="Inter Bold" pitchFamily="34" charset="-120"/>
              </a:rPr>
              <a:t>Internal Messaging</a:t>
            </a:r>
            <a:endParaRPr lang="en-US" sz="750" dirty="0"/>
          </a:p>
        </p:txBody>
      </p:sp>
      <p:sp>
        <p:nvSpPr>
          <p:cNvPr id="16" name="Text 13"/>
          <p:cNvSpPr/>
          <p:nvPr/>
        </p:nvSpPr>
        <p:spPr>
          <a:xfrm>
            <a:off x="857250" y="2654238"/>
            <a:ext cx="3543300" cy="160009"/>
          </a:xfrm>
          <a:prstGeom prst="rect">
            <a:avLst/>
          </a:prstGeom>
          <a:noFill/>
          <a:ln/>
        </p:spPr>
        <p:txBody>
          <a:bodyPr wrap="none" lIns="0" tIns="0" rIns="0" bIns="0" rtlCol="0" anchor="t">
            <a:spAutoFit/>
          </a:bodyPr>
          <a:lstStyle/>
          <a:p>
            <a:pPr algn="l" indent="0" marL="0">
              <a:lnSpc>
                <a:spcPct val="128000"/>
              </a:lnSpc>
              <a:buNone/>
            </a:pPr>
            <a:r>
              <a:rPr lang="en-US" sz="750" dirty="0">
                <a:solidFill>
                  <a:srgbClr val="334155"/>
                </a:solidFill>
                <a:latin typeface="Inter" pitchFamily="34" charset="0"/>
                <a:ea typeface="Inter" pitchFamily="34" charset="-122"/>
                <a:cs typeface="Inter" pitchFamily="34" charset="-120"/>
              </a:rPr>
              <a:t>uORB bus with sub-millisecond latency</a:t>
            </a:r>
            <a:endParaRPr lang="en-US" sz="750" dirty="0"/>
          </a:p>
        </p:txBody>
      </p:sp>
      <p:sp>
        <p:nvSpPr>
          <p:cNvPr id="17" name="Shape 14"/>
          <p:cNvSpPr/>
          <p:nvPr/>
        </p:nvSpPr>
        <p:spPr>
          <a:xfrm>
            <a:off x="571500" y="2985697"/>
            <a:ext cx="171450" cy="171450"/>
          </a:xfrm>
          <a:prstGeom prst="ellipse">
            <a:avLst/>
          </a:prstGeom>
          <a:solidFill>
            <a:srgbClr val="991B1B"/>
          </a:solidFill>
          <a:ln/>
        </p:spPr>
      </p:sp>
      <p:sp>
        <p:nvSpPr>
          <p:cNvPr id="18" name="Text 15"/>
          <p:cNvSpPr/>
          <p:nvPr/>
        </p:nvSpPr>
        <p:spPr>
          <a:xfrm>
            <a:off x="571500" y="2985697"/>
            <a:ext cx="171450" cy="171450"/>
          </a:xfrm>
          <a:prstGeom prst="rect">
            <a:avLst/>
          </a:prstGeom>
          <a:noFill/>
          <a:ln/>
        </p:spPr>
        <p:txBody>
          <a:bodyPr wrap="none" lIns="0" tIns="0" rIns="0" bIns="0" rtlCol="0" anchor="ctr">
            <a:spAutoFit/>
          </a:bodyPr>
          <a:lstStyle/>
          <a:p>
            <a:pPr algn="ctr" indent="0" marL="0">
              <a:buNone/>
            </a:pPr>
            <a:r>
              <a:rPr lang="en-US" sz="600" b="1" dirty="0">
                <a:solidFill>
                  <a:srgbClr val="FFFFFF"/>
                </a:solidFill>
                <a:latin typeface="Inter Bold" pitchFamily="34" charset="0"/>
                <a:ea typeface="Inter Bold" pitchFamily="34" charset="-122"/>
                <a:cs typeface="Inter Bold" pitchFamily="34" charset="-120"/>
              </a:rPr>
              <a:t>4</a:t>
            </a:r>
            <a:endParaRPr lang="en-US" sz="600" dirty="0"/>
          </a:p>
        </p:txBody>
      </p:sp>
      <p:sp>
        <p:nvSpPr>
          <p:cNvPr id="19" name="Text 16"/>
          <p:cNvSpPr/>
          <p:nvPr/>
        </p:nvSpPr>
        <p:spPr>
          <a:xfrm>
            <a:off x="857250" y="2985697"/>
            <a:ext cx="3543300" cy="128588"/>
          </a:xfrm>
          <a:prstGeom prst="rect">
            <a:avLst/>
          </a:prstGeom>
          <a:noFill/>
          <a:ln/>
        </p:spPr>
        <p:txBody>
          <a:bodyPr wrap="square" lIns="0" tIns="0" rIns="0" bIns="0" rtlCol="0" anchor="t">
            <a:spAutoFit/>
          </a:bodyPr>
          <a:lstStyle/>
          <a:p>
            <a:pPr algn="l" indent="0" marL="0">
              <a:buNone/>
            </a:pPr>
            <a:r>
              <a:rPr lang="en-US" sz="750" b="1" dirty="0">
                <a:solidFill>
                  <a:srgbClr val="0F172A"/>
                </a:solidFill>
                <a:latin typeface="Inter Bold" pitchFamily="34" charset="0"/>
                <a:ea typeface="Inter Bold" pitchFamily="34" charset="-122"/>
                <a:cs typeface="Inter Bold" pitchFamily="34" charset="-120"/>
              </a:rPr>
              <a:t>State Estimation</a:t>
            </a:r>
            <a:endParaRPr lang="en-US" sz="750" dirty="0"/>
          </a:p>
        </p:txBody>
      </p:sp>
      <p:sp>
        <p:nvSpPr>
          <p:cNvPr id="20" name="Text 17"/>
          <p:cNvSpPr/>
          <p:nvPr/>
        </p:nvSpPr>
        <p:spPr>
          <a:xfrm>
            <a:off x="857250" y="3142859"/>
            <a:ext cx="3543300" cy="160009"/>
          </a:xfrm>
          <a:prstGeom prst="rect">
            <a:avLst/>
          </a:prstGeom>
          <a:noFill/>
          <a:ln/>
        </p:spPr>
        <p:txBody>
          <a:bodyPr wrap="none" lIns="0" tIns="0" rIns="0" bIns="0" rtlCol="0" anchor="t">
            <a:spAutoFit/>
          </a:bodyPr>
          <a:lstStyle/>
          <a:p>
            <a:pPr algn="l" indent="0" marL="0">
              <a:lnSpc>
                <a:spcPct val="128000"/>
              </a:lnSpc>
              <a:buNone/>
            </a:pPr>
            <a:r>
              <a:rPr lang="en-US" sz="750" dirty="0">
                <a:solidFill>
                  <a:srgbClr val="334155"/>
                </a:solidFill>
                <a:latin typeface="Inter" pitchFamily="34" charset="0"/>
                <a:ea typeface="Inter" pitchFamily="34" charset="-122"/>
                <a:cs typeface="Inter" pitchFamily="34" charset="-120"/>
              </a:rPr>
              <a:t>Extended Kalman Filter (EKF) fusing multiple sensors</a:t>
            </a:r>
            <a:endParaRPr lang="en-US" sz="750" dirty="0"/>
          </a:p>
        </p:txBody>
      </p:sp>
      <p:sp>
        <p:nvSpPr>
          <p:cNvPr id="21" name="Text 18"/>
          <p:cNvSpPr/>
          <p:nvPr/>
        </p:nvSpPr>
        <p:spPr>
          <a:xfrm>
            <a:off x="4743450" y="1103709"/>
            <a:ext cx="3829050" cy="244673"/>
          </a:xfrm>
          <a:prstGeom prst="rect">
            <a:avLst/>
          </a:prstGeom>
          <a:noFill/>
          <a:ln/>
        </p:spPr>
        <p:txBody>
          <a:bodyPr wrap="square" lIns="0" tIns="0" rIns="0" bIns="68072" rtlCol="0" anchor="t">
            <a:spAutoFit/>
          </a:bodyPr>
          <a:lstStyle/>
          <a:p>
            <a:pPr algn="l" indent="0" marL="0">
              <a:buNone/>
            </a:pPr>
            <a:r>
              <a:rPr lang="en-US" sz="1000" b="1" spc="1" kern="0" dirty="0">
                <a:solidFill>
                  <a:srgbClr val="0F172A"/>
                </a:solidFill>
                <a:latin typeface="Inter Bold" pitchFamily="34" charset="0"/>
                <a:ea typeface="Inter Bold" pitchFamily="34" charset="-122"/>
                <a:cs typeface="Inter Bold" pitchFamily="34" charset="-120"/>
              </a:rPr>
              <a:t>SUPPORTED CONTROL MODES</a:t>
            </a:r>
            <a:endParaRPr lang="en-US" sz="1000" dirty="0"/>
          </a:p>
        </p:txBody>
      </p:sp>
      <p:sp>
        <p:nvSpPr>
          <p:cNvPr id="22" name="Text 19"/>
          <p:cNvSpPr/>
          <p:nvPr/>
        </p:nvSpPr>
        <p:spPr>
          <a:xfrm>
            <a:off x="4900613" y="1519833"/>
            <a:ext cx="735806" cy="121444"/>
          </a:xfrm>
          <a:prstGeom prst="rect">
            <a:avLst/>
          </a:prstGeom>
          <a:noFill/>
          <a:ln/>
        </p:spPr>
        <p:txBody>
          <a:bodyPr wrap="none" lIns="0" tIns="0" rIns="0" bIns="0" rtlCol="0" anchor="t">
            <a:spAutoFit/>
          </a:bodyPr>
          <a:lstStyle/>
          <a:p>
            <a:pPr algn="l" indent="0" marL="0">
              <a:buNone/>
            </a:pPr>
            <a:r>
              <a:rPr lang="en-US" sz="700" b="1" dirty="0">
                <a:solidFill>
                  <a:srgbClr val="0F172A"/>
                </a:solidFill>
                <a:latin typeface="Inter Bold" pitchFamily="34" charset="0"/>
                <a:ea typeface="Inter Bold" pitchFamily="34" charset="-122"/>
                <a:cs typeface="Inter Bold" pitchFamily="34" charset="-120"/>
              </a:rPr>
              <a:t>Offboard Mode</a:t>
            </a:r>
            <a:endParaRPr lang="en-US" sz="700" dirty="0"/>
          </a:p>
        </p:txBody>
      </p:sp>
      <p:sp>
        <p:nvSpPr>
          <p:cNvPr id="23" name="Text 20"/>
          <p:cNvSpPr/>
          <p:nvPr/>
        </p:nvSpPr>
        <p:spPr>
          <a:xfrm>
            <a:off x="5693569" y="1519833"/>
            <a:ext cx="2668191" cy="121444"/>
          </a:xfrm>
          <a:prstGeom prst="rect">
            <a:avLst/>
          </a:prstGeom>
          <a:noFill/>
          <a:ln/>
        </p:spPr>
        <p:txBody>
          <a:bodyPr wrap="square" lIns="0" tIns="0" rIns="0" bIns="0" rtlCol="0" anchor="t">
            <a:spAutoFit/>
          </a:bodyPr>
          <a:lstStyle/>
          <a:p>
            <a:pPr algn="l" indent="0" marL="0">
              <a:buNone/>
            </a:pPr>
            <a:r>
              <a:rPr lang="en-US" sz="750" dirty="0">
                <a:solidFill>
                  <a:srgbClr val="334155"/>
                </a:solidFill>
                <a:latin typeface="Inter" pitchFamily="34" charset="0"/>
                <a:ea typeface="Inter" pitchFamily="34" charset="-122"/>
                <a:cs typeface="Inter" pitchFamily="34" charset="-120"/>
              </a:rPr>
              <a:t>Accepts external setpoints (Primary mode for AI control)</a:t>
            </a:r>
            <a:endParaRPr lang="en-US" sz="750" dirty="0"/>
          </a:p>
        </p:txBody>
      </p:sp>
      <p:sp>
        <p:nvSpPr>
          <p:cNvPr id="24" name="Text 21"/>
          <p:cNvSpPr/>
          <p:nvPr/>
        </p:nvSpPr>
        <p:spPr>
          <a:xfrm>
            <a:off x="4900613" y="1755577"/>
            <a:ext cx="778669" cy="121444"/>
          </a:xfrm>
          <a:prstGeom prst="rect">
            <a:avLst/>
          </a:prstGeom>
          <a:noFill/>
          <a:ln/>
        </p:spPr>
        <p:txBody>
          <a:bodyPr wrap="none" lIns="0" tIns="0" rIns="0" bIns="0" rtlCol="0" anchor="t">
            <a:spAutoFit/>
          </a:bodyPr>
          <a:lstStyle/>
          <a:p>
            <a:pPr algn="l" indent="0" marL="0">
              <a:buNone/>
            </a:pPr>
            <a:r>
              <a:rPr lang="en-US" sz="700" b="1" dirty="0">
                <a:solidFill>
                  <a:srgbClr val="0F172A"/>
                </a:solidFill>
                <a:latin typeface="Inter Bold" pitchFamily="34" charset="0"/>
                <a:ea typeface="Inter Bold" pitchFamily="34" charset="-122"/>
                <a:cs typeface="Inter Bold" pitchFamily="34" charset="-120"/>
              </a:rPr>
              <a:t>Position Control</a:t>
            </a:r>
            <a:endParaRPr lang="en-US" sz="700" dirty="0"/>
          </a:p>
        </p:txBody>
      </p:sp>
      <p:sp>
        <p:nvSpPr>
          <p:cNvPr id="25" name="Text 22"/>
          <p:cNvSpPr/>
          <p:nvPr/>
        </p:nvSpPr>
        <p:spPr>
          <a:xfrm>
            <a:off x="5736431" y="1755577"/>
            <a:ext cx="2089547" cy="121444"/>
          </a:xfrm>
          <a:prstGeom prst="rect">
            <a:avLst/>
          </a:prstGeom>
          <a:noFill/>
          <a:ln/>
        </p:spPr>
        <p:txBody>
          <a:bodyPr wrap="square" lIns="0" tIns="0" rIns="0" bIns="0" rtlCol="0" anchor="t">
            <a:spAutoFit/>
          </a:bodyPr>
          <a:lstStyle/>
          <a:p>
            <a:pPr algn="l" indent="0" marL="0">
              <a:buNone/>
            </a:pPr>
            <a:r>
              <a:rPr lang="en-US" sz="750" dirty="0">
                <a:solidFill>
                  <a:srgbClr val="334155"/>
                </a:solidFill>
                <a:latin typeface="Inter" pitchFamily="34" charset="0"/>
                <a:ea typeface="Inter" pitchFamily="34" charset="-122"/>
                <a:cs typeface="Inter" pitchFamily="34" charset="-120"/>
              </a:rPr>
              <a:t>Internal PX4 loop tracking position setpoints</a:t>
            </a:r>
            <a:endParaRPr lang="en-US" sz="750" dirty="0"/>
          </a:p>
        </p:txBody>
      </p:sp>
      <p:sp>
        <p:nvSpPr>
          <p:cNvPr id="26" name="Text 23"/>
          <p:cNvSpPr/>
          <p:nvPr/>
        </p:nvSpPr>
        <p:spPr>
          <a:xfrm>
            <a:off x="4900613" y="1991320"/>
            <a:ext cx="785813" cy="121444"/>
          </a:xfrm>
          <a:prstGeom prst="rect">
            <a:avLst/>
          </a:prstGeom>
          <a:noFill/>
          <a:ln/>
        </p:spPr>
        <p:txBody>
          <a:bodyPr wrap="none" lIns="0" tIns="0" rIns="0" bIns="0" rtlCol="0" anchor="t">
            <a:spAutoFit/>
          </a:bodyPr>
          <a:lstStyle/>
          <a:p>
            <a:pPr algn="l" indent="0" marL="0">
              <a:buNone/>
            </a:pPr>
            <a:r>
              <a:rPr lang="en-US" sz="700" b="1" dirty="0">
                <a:solidFill>
                  <a:srgbClr val="0F172A"/>
                </a:solidFill>
                <a:latin typeface="Inter Bold" pitchFamily="34" charset="0"/>
                <a:ea typeface="Inter Bold" pitchFamily="34" charset="-122"/>
                <a:cs typeface="Inter Bold" pitchFamily="34" charset="-120"/>
              </a:rPr>
              <a:t>Velocity Control</a:t>
            </a:r>
            <a:endParaRPr lang="en-US" sz="700" dirty="0"/>
          </a:p>
        </p:txBody>
      </p:sp>
      <p:sp>
        <p:nvSpPr>
          <p:cNvPr id="27" name="Text 24"/>
          <p:cNvSpPr/>
          <p:nvPr/>
        </p:nvSpPr>
        <p:spPr>
          <a:xfrm>
            <a:off x="5743575" y="1991320"/>
            <a:ext cx="2082403" cy="121444"/>
          </a:xfrm>
          <a:prstGeom prst="rect">
            <a:avLst/>
          </a:prstGeom>
          <a:noFill/>
          <a:ln/>
        </p:spPr>
        <p:txBody>
          <a:bodyPr wrap="square" lIns="0" tIns="0" rIns="0" bIns="0" rtlCol="0" anchor="t">
            <a:spAutoFit/>
          </a:bodyPr>
          <a:lstStyle/>
          <a:p>
            <a:pPr algn="l" indent="0" marL="0">
              <a:buNone/>
            </a:pPr>
            <a:r>
              <a:rPr lang="en-US" sz="750" dirty="0">
                <a:solidFill>
                  <a:srgbClr val="334155"/>
                </a:solidFill>
                <a:latin typeface="Inter" pitchFamily="34" charset="0"/>
                <a:ea typeface="Inter" pitchFamily="34" charset="-122"/>
                <a:cs typeface="Inter" pitchFamily="34" charset="-120"/>
              </a:rPr>
              <a:t>Internal PX4 loop tracking velocity setpoints</a:t>
            </a:r>
            <a:endParaRPr lang="en-US" sz="750" dirty="0"/>
          </a:p>
        </p:txBody>
      </p:sp>
      <p:sp>
        <p:nvSpPr>
          <p:cNvPr id="28" name="Text 25"/>
          <p:cNvSpPr/>
          <p:nvPr/>
        </p:nvSpPr>
        <p:spPr>
          <a:xfrm>
            <a:off x="4900613" y="2227064"/>
            <a:ext cx="773311" cy="121444"/>
          </a:xfrm>
          <a:prstGeom prst="rect">
            <a:avLst/>
          </a:prstGeom>
          <a:noFill/>
          <a:ln/>
        </p:spPr>
        <p:txBody>
          <a:bodyPr wrap="none" lIns="0" tIns="0" rIns="0" bIns="0" rtlCol="0" anchor="t">
            <a:spAutoFit/>
          </a:bodyPr>
          <a:lstStyle/>
          <a:p>
            <a:pPr algn="l" indent="0" marL="0">
              <a:buNone/>
            </a:pPr>
            <a:r>
              <a:rPr lang="en-US" sz="700" b="1" dirty="0">
                <a:solidFill>
                  <a:srgbClr val="0F172A"/>
                </a:solidFill>
                <a:latin typeface="Inter Bold" pitchFamily="34" charset="0"/>
                <a:ea typeface="Inter Bold" pitchFamily="34" charset="-122"/>
                <a:cs typeface="Inter Bold" pitchFamily="34" charset="-120"/>
              </a:rPr>
              <a:t>Altitude Control</a:t>
            </a:r>
            <a:endParaRPr lang="en-US" sz="700" dirty="0"/>
          </a:p>
        </p:txBody>
      </p:sp>
      <p:sp>
        <p:nvSpPr>
          <p:cNvPr id="29" name="Text 26"/>
          <p:cNvSpPr/>
          <p:nvPr/>
        </p:nvSpPr>
        <p:spPr>
          <a:xfrm>
            <a:off x="5731073" y="2227064"/>
            <a:ext cx="1600200" cy="121444"/>
          </a:xfrm>
          <a:prstGeom prst="rect">
            <a:avLst/>
          </a:prstGeom>
          <a:noFill/>
          <a:ln/>
        </p:spPr>
        <p:txBody>
          <a:bodyPr wrap="square" lIns="0" tIns="0" rIns="0" bIns="0" rtlCol="0" anchor="t">
            <a:spAutoFit/>
          </a:bodyPr>
          <a:lstStyle/>
          <a:p>
            <a:pPr algn="l" indent="0" marL="0">
              <a:buNone/>
            </a:pPr>
            <a:r>
              <a:rPr lang="en-US" sz="750" dirty="0">
                <a:solidFill>
                  <a:srgbClr val="334155"/>
                </a:solidFill>
                <a:latin typeface="Inter" pitchFamily="34" charset="0"/>
                <a:ea typeface="Inter" pitchFamily="34" charset="-122"/>
                <a:cs typeface="Inter" pitchFamily="34" charset="-120"/>
              </a:rPr>
              <a:t>Internal PX4 loop tracking altitude</a:t>
            </a:r>
            <a:endParaRPr lang="en-US" sz="750" dirty="0"/>
          </a:p>
        </p:txBody>
      </p:sp>
      <p:sp>
        <p:nvSpPr>
          <p:cNvPr id="30" name="Shape 27"/>
          <p:cNvSpPr/>
          <p:nvPr/>
        </p:nvSpPr>
        <p:spPr>
          <a:xfrm>
            <a:off x="4743450" y="2548533"/>
            <a:ext cx="3829050" cy="1644848"/>
          </a:xfrm>
          <a:prstGeom prst="rect">
            <a:avLst/>
          </a:prstGeom>
          <a:solidFill>
            <a:srgbClr val="0F172A"/>
          </a:solidFill>
          <a:ln/>
        </p:spPr>
      </p:sp>
      <p:sp>
        <p:nvSpPr>
          <p:cNvPr id="31" name="Text 28"/>
          <p:cNvSpPr/>
          <p:nvPr/>
        </p:nvSpPr>
        <p:spPr>
          <a:xfrm>
            <a:off x="4914900" y="2719983"/>
            <a:ext cx="830461" cy="208955"/>
          </a:xfrm>
          <a:prstGeom prst="rect">
            <a:avLst/>
          </a:prstGeom>
          <a:noFill/>
          <a:ln/>
        </p:spPr>
        <p:txBody>
          <a:bodyPr wrap="none" lIns="0" tIns="0" rIns="0" bIns="68072" rtlCol="0" anchor="t">
            <a:spAutoFit/>
          </a:bodyPr>
          <a:lstStyle/>
          <a:p>
            <a:pPr algn="l" indent="0" marL="0">
              <a:buNone/>
            </a:pPr>
            <a:r>
              <a:rPr lang="en-US" sz="800" b="1" dirty="0">
                <a:solidFill>
                  <a:srgbClr val="F8FAFC"/>
                </a:solidFill>
                <a:latin typeface="Inter Bold" pitchFamily="34" charset="0"/>
                <a:ea typeface="Inter Bold" pitchFamily="34" charset="-122"/>
                <a:cs typeface="Inter Bold" pitchFamily="34" charset="-120"/>
              </a:rPr>
              <a:t>AI Extensibility</a:t>
            </a:r>
            <a:endParaRPr lang="en-US" sz="800" dirty="0"/>
          </a:p>
        </p:txBody>
      </p:sp>
      <p:sp>
        <p:nvSpPr>
          <p:cNvPr id="32" name="Shape 29"/>
          <p:cNvSpPr/>
          <p:nvPr/>
        </p:nvSpPr>
        <p:spPr>
          <a:xfrm>
            <a:off x="4914900" y="3086100"/>
            <a:ext cx="57150" cy="57150"/>
          </a:xfrm>
          <a:prstGeom prst="ellipse">
            <a:avLst/>
          </a:prstGeom>
          <a:solidFill>
            <a:srgbClr val="991B1B"/>
          </a:solidFill>
          <a:ln/>
        </p:spPr>
      </p:sp>
      <p:sp>
        <p:nvSpPr>
          <p:cNvPr id="33" name="Text 30"/>
          <p:cNvSpPr/>
          <p:nvPr/>
        </p:nvSpPr>
        <p:spPr>
          <a:xfrm>
            <a:off x="5029200" y="3043238"/>
            <a:ext cx="1571625" cy="139303"/>
          </a:xfrm>
          <a:prstGeom prst="rect">
            <a:avLst/>
          </a:prstGeom>
          <a:noFill/>
          <a:ln/>
        </p:spPr>
        <p:txBody>
          <a:bodyPr wrap="none" lIns="0" tIns="0" rIns="0" bIns="0" rtlCol="0" anchor="t">
            <a:spAutoFit/>
          </a:bodyPr>
          <a:lstStyle/>
          <a:p>
            <a:pPr algn="l" indent="0" marL="0">
              <a:lnSpc>
                <a:spcPct val="120000"/>
              </a:lnSpc>
              <a:buNone/>
            </a:pPr>
            <a:r>
              <a:rPr lang="en-US" sz="650" b="1" dirty="0">
                <a:solidFill>
                  <a:srgbClr val="F8FAFC"/>
                </a:solidFill>
                <a:latin typeface="Inter Bold" pitchFamily="34" charset="0"/>
                <a:ea typeface="Inter Bold" pitchFamily="34" charset="-122"/>
                <a:cs typeface="Inter Bold" pitchFamily="34" charset="-120"/>
              </a:rPr>
              <a:t>Offboard Mode</a:t>
            </a:r>
            <a:endParaRPr lang="en-US" sz="650" dirty="0"/>
          </a:p>
        </p:txBody>
      </p:sp>
      <p:sp>
        <p:nvSpPr>
          <p:cNvPr id="34" name="Text 31"/>
          <p:cNvSpPr/>
          <p:nvPr/>
        </p:nvSpPr>
        <p:spPr>
          <a:xfrm>
            <a:off x="5029200" y="3209330"/>
            <a:ext cx="1225153" cy="112514"/>
          </a:xfrm>
          <a:prstGeom prst="rect">
            <a:avLst/>
          </a:prstGeom>
          <a:noFill/>
          <a:ln/>
        </p:spPr>
        <p:txBody>
          <a:bodyPr wrap="none" lIns="0" tIns="0" rIns="0" bIns="0" rtlCol="0" anchor="t">
            <a:spAutoFit/>
          </a:bodyPr>
          <a:lstStyle/>
          <a:p>
            <a:pPr algn="l" indent="0" marL="0">
              <a:lnSpc>
                <a:spcPct val="120000"/>
              </a:lnSpc>
              <a:buNone/>
            </a:pPr>
            <a:r>
              <a:rPr lang="en-US" sz="650" dirty="0">
                <a:solidFill>
                  <a:srgbClr val="CBD5E1"/>
                </a:solidFill>
                <a:latin typeface="Inter" pitchFamily="34" charset="0"/>
                <a:ea typeface="Inter" pitchFamily="34" charset="-122"/>
                <a:cs typeface="Inter" pitchFamily="34" charset="-120"/>
              </a:rPr>
              <a:t>External control via setpoint</a:t>
            </a:r>
            <a:endParaRPr lang="en-US" sz="650" dirty="0"/>
          </a:p>
        </p:txBody>
      </p:sp>
      <p:sp>
        <p:nvSpPr>
          <p:cNvPr id="35" name="Text 32"/>
          <p:cNvSpPr/>
          <p:nvPr/>
        </p:nvSpPr>
        <p:spPr>
          <a:xfrm>
            <a:off x="5029200" y="3348633"/>
            <a:ext cx="437555" cy="112514"/>
          </a:xfrm>
          <a:prstGeom prst="rect">
            <a:avLst/>
          </a:prstGeom>
          <a:noFill/>
          <a:ln/>
        </p:spPr>
        <p:txBody>
          <a:bodyPr wrap="none" lIns="0" tIns="0" rIns="0" bIns="0" rtlCol="0" anchor="t">
            <a:spAutoFit/>
          </a:bodyPr>
          <a:lstStyle/>
          <a:p>
            <a:pPr algn="l" indent="0" marL="0">
              <a:lnSpc>
                <a:spcPct val="120000"/>
              </a:lnSpc>
              <a:buNone/>
            </a:pPr>
            <a:r>
              <a:rPr lang="en-US" sz="650" dirty="0">
                <a:solidFill>
                  <a:srgbClr val="CBD5E1"/>
                </a:solidFill>
                <a:latin typeface="Inter" pitchFamily="34" charset="0"/>
                <a:ea typeface="Inter" pitchFamily="34" charset="-122"/>
                <a:cs typeface="Inter" pitchFamily="34" charset="-120"/>
              </a:rPr>
              <a:t>streaming</a:t>
            </a:r>
            <a:endParaRPr lang="en-US" sz="650" dirty="0"/>
          </a:p>
        </p:txBody>
      </p:sp>
      <p:sp>
        <p:nvSpPr>
          <p:cNvPr id="36" name="Shape 33"/>
          <p:cNvSpPr/>
          <p:nvPr/>
        </p:nvSpPr>
        <p:spPr>
          <a:xfrm>
            <a:off x="6715125" y="3086100"/>
            <a:ext cx="57150" cy="57150"/>
          </a:xfrm>
          <a:prstGeom prst="ellipse">
            <a:avLst/>
          </a:prstGeom>
          <a:solidFill>
            <a:srgbClr val="991B1B"/>
          </a:solidFill>
          <a:ln/>
        </p:spPr>
      </p:sp>
      <p:sp>
        <p:nvSpPr>
          <p:cNvPr id="37" name="Text 34"/>
          <p:cNvSpPr/>
          <p:nvPr/>
        </p:nvSpPr>
        <p:spPr>
          <a:xfrm>
            <a:off x="6829425" y="3043238"/>
            <a:ext cx="1571625" cy="139303"/>
          </a:xfrm>
          <a:prstGeom prst="rect">
            <a:avLst/>
          </a:prstGeom>
          <a:noFill/>
          <a:ln/>
        </p:spPr>
        <p:txBody>
          <a:bodyPr wrap="none" lIns="0" tIns="0" rIns="0" bIns="0" rtlCol="0" anchor="t">
            <a:spAutoFit/>
          </a:bodyPr>
          <a:lstStyle/>
          <a:p>
            <a:pPr algn="l" indent="0" marL="0">
              <a:lnSpc>
                <a:spcPct val="120000"/>
              </a:lnSpc>
              <a:buNone/>
            </a:pPr>
            <a:r>
              <a:rPr lang="en-US" sz="650" b="1" dirty="0">
                <a:solidFill>
                  <a:srgbClr val="F8FAFC"/>
                </a:solidFill>
                <a:latin typeface="Inter Bold" pitchFamily="34" charset="0"/>
                <a:ea typeface="Inter Bold" pitchFamily="34" charset="-122"/>
                <a:cs typeface="Inter Bold" pitchFamily="34" charset="-120"/>
              </a:rPr>
              <a:t>Distance Sensors</a:t>
            </a:r>
            <a:endParaRPr lang="en-US" sz="650" dirty="0"/>
          </a:p>
        </p:txBody>
      </p:sp>
      <p:sp>
        <p:nvSpPr>
          <p:cNvPr id="38" name="Text 35"/>
          <p:cNvSpPr/>
          <p:nvPr/>
        </p:nvSpPr>
        <p:spPr>
          <a:xfrm>
            <a:off x="6829425" y="3209330"/>
            <a:ext cx="1534120" cy="112514"/>
          </a:xfrm>
          <a:prstGeom prst="rect">
            <a:avLst/>
          </a:prstGeom>
          <a:noFill/>
          <a:ln/>
        </p:spPr>
        <p:txBody>
          <a:bodyPr wrap="none" lIns="0" tIns="0" rIns="0" bIns="0" rtlCol="0" anchor="t">
            <a:spAutoFit/>
          </a:bodyPr>
          <a:lstStyle/>
          <a:p>
            <a:pPr algn="l" indent="0" marL="0">
              <a:lnSpc>
                <a:spcPct val="120000"/>
              </a:lnSpc>
              <a:buNone/>
            </a:pPr>
            <a:r>
              <a:rPr lang="en-US" sz="650" dirty="0">
                <a:solidFill>
                  <a:srgbClr val="CBD5E1"/>
                </a:solidFill>
                <a:latin typeface="Inter" pitchFamily="34" charset="0"/>
                <a:ea typeface="Inter" pitchFamily="34" charset="-122"/>
                <a:cs typeface="Inter" pitchFamily="34" charset="-120"/>
              </a:rPr>
              <a:t>Collision prevention using obstacle</a:t>
            </a:r>
            <a:endParaRPr lang="en-US" sz="650" dirty="0"/>
          </a:p>
        </p:txBody>
      </p:sp>
      <p:sp>
        <p:nvSpPr>
          <p:cNvPr id="39" name="Text 36"/>
          <p:cNvSpPr/>
          <p:nvPr/>
        </p:nvSpPr>
        <p:spPr>
          <a:xfrm>
            <a:off x="6829425" y="3348633"/>
            <a:ext cx="191095" cy="112514"/>
          </a:xfrm>
          <a:prstGeom prst="rect">
            <a:avLst/>
          </a:prstGeom>
          <a:noFill/>
          <a:ln/>
        </p:spPr>
        <p:txBody>
          <a:bodyPr wrap="none" lIns="0" tIns="0" rIns="0" bIns="0" rtlCol="0" anchor="t">
            <a:spAutoFit/>
          </a:bodyPr>
          <a:lstStyle/>
          <a:p>
            <a:pPr algn="l" indent="0" marL="0">
              <a:lnSpc>
                <a:spcPct val="120000"/>
              </a:lnSpc>
              <a:buNone/>
            </a:pPr>
            <a:r>
              <a:rPr lang="en-US" sz="650" dirty="0">
                <a:solidFill>
                  <a:srgbClr val="CBD5E1"/>
                </a:solidFill>
                <a:latin typeface="Inter" pitchFamily="34" charset="0"/>
                <a:ea typeface="Inter" pitchFamily="34" charset="-122"/>
                <a:cs typeface="Inter" pitchFamily="34" charset="-120"/>
              </a:rPr>
              <a:t>data</a:t>
            </a:r>
            <a:endParaRPr lang="en-US" sz="650" dirty="0"/>
          </a:p>
        </p:txBody>
      </p:sp>
      <p:sp>
        <p:nvSpPr>
          <p:cNvPr id="40" name="Shape 37"/>
          <p:cNvSpPr/>
          <p:nvPr/>
        </p:nvSpPr>
        <p:spPr>
          <a:xfrm>
            <a:off x="4914900" y="3632597"/>
            <a:ext cx="57150" cy="57150"/>
          </a:xfrm>
          <a:prstGeom prst="ellipse">
            <a:avLst/>
          </a:prstGeom>
          <a:solidFill>
            <a:srgbClr val="991B1B"/>
          </a:solidFill>
          <a:ln/>
        </p:spPr>
      </p:sp>
      <p:sp>
        <p:nvSpPr>
          <p:cNvPr id="41" name="Text 38"/>
          <p:cNvSpPr/>
          <p:nvPr/>
        </p:nvSpPr>
        <p:spPr>
          <a:xfrm>
            <a:off x="5029200" y="3589734"/>
            <a:ext cx="1571625" cy="139303"/>
          </a:xfrm>
          <a:prstGeom prst="rect">
            <a:avLst/>
          </a:prstGeom>
          <a:noFill/>
          <a:ln/>
        </p:spPr>
        <p:txBody>
          <a:bodyPr wrap="none" lIns="0" tIns="0" rIns="0" bIns="0" rtlCol="0" anchor="t">
            <a:spAutoFit/>
          </a:bodyPr>
          <a:lstStyle/>
          <a:p>
            <a:pPr algn="l" indent="0" marL="0">
              <a:lnSpc>
                <a:spcPct val="120000"/>
              </a:lnSpc>
              <a:buNone/>
            </a:pPr>
            <a:r>
              <a:rPr lang="en-US" sz="650" b="1" dirty="0">
                <a:solidFill>
                  <a:srgbClr val="F8FAFC"/>
                </a:solidFill>
                <a:latin typeface="Inter Bold" pitchFamily="34" charset="0"/>
                <a:ea typeface="Inter Bold" pitchFamily="34" charset="-122"/>
                <a:cs typeface="Inter Bold" pitchFamily="34" charset="-120"/>
              </a:rPr>
              <a:t>Vision / Visual Odometry</a:t>
            </a:r>
            <a:endParaRPr lang="en-US" sz="650" dirty="0"/>
          </a:p>
        </p:txBody>
      </p:sp>
      <p:sp>
        <p:nvSpPr>
          <p:cNvPr id="42" name="Text 39"/>
          <p:cNvSpPr/>
          <p:nvPr/>
        </p:nvSpPr>
        <p:spPr>
          <a:xfrm>
            <a:off x="5029200" y="3755827"/>
            <a:ext cx="1296591" cy="112514"/>
          </a:xfrm>
          <a:prstGeom prst="rect">
            <a:avLst/>
          </a:prstGeom>
          <a:noFill/>
          <a:ln/>
        </p:spPr>
        <p:txBody>
          <a:bodyPr wrap="none" lIns="0" tIns="0" rIns="0" bIns="0" rtlCol="0" anchor="t">
            <a:spAutoFit/>
          </a:bodyPr>
          <a:lstStyle/>
          <a:p>
            <a:pPr algn="l" indent="0" marL="0">
              <a:lnSpc>
                <a:spcPct val="120000"/>
              </a:lnSpc>
              <a:buNone/>
            </a:pPr>
            <a:r>
              <a:rPr lang="en-US" sz="650" dirty="0">
                <a:solidFill>
                  <a:srgbClr val="CBD5E1"/>
                </a:solidFill>
                <a:latin typeface="Inter" pitchFamily="34" charset="0"/>
                <a:ea typeface="Inter" pitchFamily="34" charset="-122"/>
                <a:cs typeface="Inter" pitchFamily="34" charset="-120"/>
              </a:rPr>
              <a:t>EKF fusion for improved state</a:t>
            </a:r>
            <a:endParaRPr lang="en-US" sz="650" dirty="0"/>
          </a:p>
        </p:txBody>
      </p:sp>
      <p:sp>
        <p:nvSpPr>
          <p:cNvPr id="43" name="Text 40"/>
          <p:cNvSpPr/>
          <p:nvPr/>
        </p:nvSpPr>
        <p:spPr>
          <a:xfrm>
            <a:off x="5029200" y="3895130"/>
            <a:ext cx="453628" cy="112514"/>
          </a:xfrm>
          <a:prstGeom prst="rect">
            <a:avLst/>
          </a:prstGeom>
          <a:noFill/>
          <a:ln/>
        </p:spPr>
        <p:txBody>
          <a:bodyPr wrap="none" lIns="0" tIns="0" rIns="0" bIns="0" rtlCol="0" anchor="t">
            <a:spAutoFit/>
          </a:bodyPr>
          <a:lstStyle/>
          <a:p>
            <a:pPr algn="l" indent="0" marL="0">
              <a:lnSpc>
                <a:spcPct val="120000"/>
              </a:lnSpc>
              <a:buNone/>
            </a:pPr>
            <a:r>
              <a:rPr lang="en-US" sz="650" dirty="0">
                <a:solidFill>
                  <a:srgbClr val="CBD5E1"/>
                </a:solidFill>
                <a:latin typeface="Inter" pitchFamily="34" charset="0"/>
                <a:ea typeface="Inter" pitchFamily="34" charset="-122"/>
                <a:cs typeface="Inter" pitchFamily="34" charset="-120"/>
              </a:rPr>
              <a:t>estimation</a:t>
            </a:r>
            <a:endParaRPr lang="en-US" sz="650" dirty="0"/>
          </a:p>
        </p:txBody>
      </p:sp>
      <p:sp>
        <p:nvSpPr>
          <p:cNvPr id="44" name="Shape 41"/>
          <p:cNvSpPr/>
          <p:nvPr/>
        </p:nvSpPr>
        <p:spPr>
          <a:xfrm>
            <a:off x="6715125" y="3632597"/>
            <a:ext cx="57150" cy="57150"/>
          </a:xfrm>
          <a:prstGeom prst="ellipse">
            <a:avLst/>
          </a:prstGeom>
          <a:solidFill>
            <a:srgbClr val="991B1B"/>
          </a:solidFill>
          <a:ln/>
        </p:spPr>
      </p:sp>
      <p:sp>
        <p:nvSpPr>
          <p:cNvPr id="45" name="Text 42"/>
          <p:cNvSpPr/>
          <p:nvPr/>
        </p:nvSpPr>
        <p:spPr>
          <a:xfrm>
            <a:off x="6829425" y="3589734"/>
            <a:ext cx="1571625" cy="139303"/>
          </a:xfrm>
          <a:prstGeom prst="rect">
            <a:avLst/>
          </a:prstGeom>
          <a:noFill/>
          <a:ln/>
        </p:spPr>
        <p:txBody>
          <a:bodyPr wrap="none" lIns="0" tIns="0" rIns="0" bIns="0" rtlCol="0" anchor="t">
            <a:spAutoFit/>
          </a:bodyPr>
          <a:lstStyle/>
          <a:p>
            <a:pPr algn="l" indent="0" marL="0">
              <a:lnSpc>
                <a:spcPct val="120000"/>
              </a:lnSpc>
              <a:buNone/>
            </a:pPr>
            <a:r>
              <a:rPr lang="en-US" sz="650" b="1" dirty="0">
                <a:solidFill>
                  <a:srgbClr val="F8FAFC"/>
                </a:solidFill>
                <a:latin typeface="Inter Bold" pitchFamily="34" charset="0"/>
                <a:ea typeface="Inter Bold" pitchFamily="34" charset="-122"/>
                <a:cs typeface="Inter Bold" pitchFamily="34" charset="-120"/>
              </a:rPr>
              <a:t>Custom Flight Modes</a:t>
            </a:r>
            <a:endParaRPr lang="en-US" sz="650" dirty="0"/>
          </a:p>
        </p:txBody>
      </p:sp>
      <p:sp>
        <p:nvSpPr>
          <p:cNvPr id="46" name="Text 43"/>
          <p:cNvSpPr/>
          <p:nvPr/>
        </p:nvSpPr>
        <p:spPr>
          <a:xfrm>
            <a:off x="6829425" y="3755827"/>
            <a:ext cx="1262658" cy="112514"/>
          </a:xfrm>
          <a:prstGeom prst="rect">
            <a:avLst/>
          </a:prstGeom>
          <a:noFill/>
          <a:ln/>
        </p:spPr>
        <p:txBody>
          <a:bodyPr wrap="none" lIns="0" tIns="0" rIns="0" bIns="0" rtlCol="0" anchor="t">
            <a:spAutoFit/>
          </a:bodyPr>
          <a:lstStyle/>
          <a:p>
            <a:pPr algn="l" indent="0" marL="0">
              <a:lnSpc>
                <a:spcPct val="120000"/>
              </a:lnSpc>
              <a:buNone/>
            </a:pPr>
            <a:r>
              <a:rPr lang="en-US" sz="650" dirty="0">
                <a:solidFill>
                  <a:srgbClr val="CBD5E1"/>
                </a:solidFill>
                <a:latin typeface="Inter" pitchFamily="34" charset="0"/>
                <a:ea typeface="Inter" pitchFamily="34" charset="-122"/>
                <a:cs typeface="Inter" pitchFamily="34" charset="-120"/>
              </a:rPr>
              <a:t>Experimental neural network</a:t>
            </a:r>
            <a:endParaRPr lang="en-US" sz="650" dirty="0"/>
          </a:p>
        </p:txBody>
      </p:sp>
      <p:sp>
        <p:nvSpPr>
          <p:cNvPr id="47" name="Text 44"/>
          <p:cNvSpPr/>
          <p:nvPr/>
        </p:nvSpPr>
        <p:spPr>
          <a:xfrm>
            <a:off x="6829425" y="3895130"/>
            <a:ext cx="660797" cy="112514"/>
          </a:xfrm>
          <a:prstGeom prst="rect">
            <a:avLst/>
          </a:prstGeom>
          <a:noFill/>
          <a:ln/>
        </p:spPr>
        <p:txBody>
          <a:bodyPr wrap="none" lIns="0" tIns="0" rIns="0" bIns="0" rtlCol="0" anchor="t">
            <a:spAutoFit/>
          </a:bodyPr>
          <a:lstStyle/>
          <a:p>
            <a:pPr algn="l" indent="0" marL="0">
              <a:lnSpc>
                <a:spcPct val="120000"/>
              </a:lnSpc>
              <a:buNone/>
            </a:pPr>
            <a:r>
              <a:rPr lang="en-US" sz="650" dirty="0">
                <a:solidFill>
                  <a:srgbClr val="CBD5E1"/>
                </a:solidFill>
                <a:latin typeface="Inter" pitchFamily="34" charset="0"/>
                <a:ea typeface="Inter" pitchFamily="34" charset="-122"/>
                <a:cs typeface="Inter" pitchFamily="34" charset="-120"/>
              </a:rPr>
              <a:t>control (v1.17+)</a:t>
            </a:r>
            <a:endParaRPr lang="en-US" sz="6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571500" y="342900"/>
            <a:ext cx="8001000" cy="360759"/>
          </a:xfrm>
          <a:prstGeom prst="rect">
            <a:avLst/>
          </a:prstGeom>
          <a:noFill/>
          <a:ln/>
        </p:spPr>
        <p:txBody>
          <a:bodyPr wrap="square" lIns="0" tIns="0" rIns="0" bIns="0" rtlCol="0" anchor="t">
            <a:spAutoFit/>
          </a:bodyPr>
          <a:lstStyle/>
          <a:p>
            <a:pPr algn="l" indent="0" marL="0">
              <a:buNone/>
            </a:pPr>
            <a:r>
              <a:rPr lang="en-US" sz="1900" b="1" dirty="0">
                <a:solidFill>
                  <a:srgbClr val="0F172A"/>
                </a:solidFill>
                <a:latin typeface="Playfair Display ExtraBold" pitchFamily="34" charset="0"/>
                <a:ea typeface="Playfair Display ExtraBold" pitchFamily="34" charset="-122"/>
                <a:cs typeface="Playfair Display ExtraBold" pitchFamily="34" charset="-120"/>
              </a:rPr>
              <a:t>Ground-Link-Loss Decision Framework</a:t>
            </a:r>
            <a:endParaRPr lang="en-US" sz="1900" dirty="0"/>
          </a:p>
        </p:txBody>
      </p:sp>
      <p:sp>
        <p:nvSpPr>
          <p:cNvPr id="4" name="Text 1"/>
          <p:cNvSpPr/>
          <p:nvPr/>
        </p:nvSpPr>
        <p:spPr>
          <a:xfrm>
            <a:off x="571500" y="1017984"/>
            <a:ext cx="2953494" cy="731453"/>
          </a:xfrm>
          <a:prstGeom prst="rect">
            <a:avLst/>
          </a:prstGeom>
          <a:noFill/>
          <a:ln/>
        </p:spPr>
        <p:txBody>
          <a:bodyPr wrap="square" lIns="0" tIns="0" rIns="0" bIns="0" rtlCol="0" anchor="t">
            <a:spAutoFit/>
          </a:bodyPr>
          <a:lstStyle/>
          <a:p>
            <a:pPr algn="l" indent="0" marL="0">
              <a:lnSpc>
                <a:spcPct val="128000"/>
              </a:lnSpc>
              <a:buNone/>
            </a:pPr>
            <a:r>
              <a:rPr lang="en-US" sz="850" dirty="0">
                <a:solidFill>
                  <a:srgbClr val="334155"/>
                </a:solidFill>
                <a:latin typeface="Inter" pitchFamily="34" charset="0"/>
                <a:ea typeface="Inter" pitchFamily="34" charset="-122"/>
                <a:cs typeface="Inter" pitchFamily="34" charset="-120"/>
              </a:rPr>
              <a:t>Loss of the ground station link does </a:t>
            </a:r>
            <a:r>
              <a:rPr lang="en-US" sz="800" b="1" dirty="0">
                <a:solidFill>
                  <a:srgbClr val="334155"/>
                </a:solidFill>
                <a:latin typeface="Inter Bold" pitchFamily="34" charset="0"/>
                <a:ea typeface="Inter Bold" pitchFamily="34" charset="-122"/>
                <a:cs typeface="Inter Bold" pitchFamily="34" charset="-120"/>
              </a:rPr>
              <a:t>not</a:t>
            </a:r>
            <a:r>
              <a:rPr lang="en-US" sz="850" dirty="0">
                <a:solidFill>
                  <a:srgbClr val="334155"/>
                </a:solidFill>
                <a:latin typeface="Inter" pitchFamily="34" charset="0"/>
                <a:ea typeface="Inter" pitchFamily="34" charset="-122"/>
                <a:cs typeface="Inter" pitchFamily="34" charset="-120"/>
              </a:rPr>
              <a:t> mean loss of </a:t>
            </a:r>
            <a:r>
              <a:rPr lang="en-US" sz="850" dirty="0">
                <a:solidFill>
                  <a:srgbClr val="334155"/>
                </a:solidFill>
                <a:latin typeface="Inter" pitchFamily="34" charset="0"/>
                <a:ea typeface="Inter" pitchFamily="34" charset="-122"/>
                <a:cs typeface="Inter" pitchFamily="34" charset="-120"/>
              </a:rPr>
              <a:t>vehicle authority — the drone retains full onboard </a:t>
            </a:r>
            <a:r>
              <a:rPr lang="en-US" sz="850" dirty="0">
                <a:solidFill>
                  <a:srgbClr val="334155"/>
                </a:solidFill>
                <a:latin typeface="Inter" pitchFamily="34" charset="0"/>
                <a:ea typeface="Inter" pitchFamily="34" charset="-122"/>
                <a:cs typeface="Inter" pitchFamily="34" charset="-120"/>
              </a:rPr>
              <a:t>sensing, computing, and control. The design question </a:t>
            </a:r>
            <a:r>
              <a:rPr lang="en-US" sz="850" dirty="0">
                <a:solidFill>
                  <a:srgbClr val="334155"/>
                </a:solidFill>
                <a:latin typeface="Inter" pitchFamily="34" charset="0"/>
                <a:ea typeface="Inter" pitchFamily="34" charset="-122"/>
                <a:cs typeface="Inter" pitchFamily="34" charset="-120"/>
              </a:rPr>
              <a:t>is what the AI advisor should decide on its own.</a:t>
            </a:r>
            <a:endParaRPr lang="en-US" sz="850" dirty="0"/>
          </a:p>
        </p:txBody>
      </p:sp>
      <p:sp>
        <p:nvSpPr>
          <p:cNvPr id="5" name="Shape 2"/>
          <p:cNvSpPr/>
          <p:nvPr/>
        </p:nvSpPr>
        <p:spPr>
          <a:xfrm>
            <a:off x="571500" y="1835162"/>
            <a:ext cx="2953494" cy="1123355"/>
          </a:xfrm>
          <a:prstGeom prst="rect">
            <a:avLst/>
          </a:prstGeom>
          <a:solidFill>
            <a:srgbClr val="0F172A"/>
          </a:solidFill>
          <a:ln/>
        </p:spPr>
      </p:sp>
      <p:sp>
        <p:nvSpPr>
          <p:cNvPr id="6" name="Shape 3"/>
          <p:cNvSpPr/>
          <p:nvPr/>
        </p:nvSpPr>
        <p:spPr>
          <a:xfrm>
            <a:off x="571500" y="1835162"/>
            <a:ext cx="42863" cy="1123355"/>
          </a:xfrm>
          <a:prstGeom prst="rect">
            <a:avLst/>
          </a:prstGeom>
          <a:solidFill>
            <a:srgbClr val="991B1B"/>
          </a:solidFill>
          <a:ln/>
        </p:spPr>
      </p:sp>
      <p:sp>
        <p:nvSpPr>
          <p:cNvPr id="7" name="Text 4"/>
          <p:cNvSpPr/>
          <p:nvPr/>
        </p:nvSpPr>
        <p:spPr>
          <a:xfrm>
            <a:off x="685800" y="1949462"/>
            <a:ext cx="2724894" cy="137517"/>
          </a:xfrm>
          <a:prstGeom prst="rect">
            <a:avLst/>
          </a:prstGeom>
          <a:noFill/>
          <a:ln/>
        </p:spPr>
        <p:txBody>
          <a:bodyPr wrap="square" lIns="0" tIns="0" rIns="0" bIns="0" rtlCol="0" anchor="t">
            <a:spAutoFit/>
          </a:bodyPr>
          <a:lstStyle/>
          <a:p>
            <a:pPr algn="l" indent="0" marL="0">
              <a:buNone/>
            </a:pPr>
            <a:r>
              <a:rPr lang="en-US" sz="800" b="1" spc="1" kern="0" dirty="0">
                <a:solidFill>
                  <a:srgbClr val="F8FAFC"/>
                </a:solidFill>
                <a:latin typeface="Inter Bold" pitchFamily="34" charset="0"/>
                <a:ea typeface="Inter Bold" pitchFamily="34" charset="-122"/>
                <a:cs typeface="Inter Bold" pitchFamily="34" charset="-120"/>
              </a:rPr>
              <a:t>GOVERNING PRIORITIES</a:t>
            </a:r>
            <a:endParaRPr lang="en-US" sz="800" dirty="0"/>
          </a:p>
        </p:txBody>
      </p:sp>
      <p:sp>
        <p:nvSpPr>
          <p:cNvPr id="8" name="Text 5"/>
          <p:cNvSpPr/>
          <p:nvPr/>
        </p:nvSpPr>
        <p:spPr>
          <a:xfrm>
            <a:off x="685800" y="2172705"/>
            <a:ext cx="142875" cy="171450"/>
          </a:xfrm>
          <a:prstGeom prst="rect">
            <a:avLst/>
          </a:prstGeom>
          <a:noFill/>
          <a:ln/>
        </p:spPr>
        <p:txBody>
          <a:bodyPr wrap="none" lIns="0" tIns="0" rIns="0" bIns="0" rtlCol="0" anchor="t">
            <a:spAutoFit/>
          </a:bodyPr>
          <a:lstStyle/>
          <a:p>
            <a:pPr algn="l" indent="0" marL="0">
              <a:lnSpc>
                <a:spcPct val="120000"/>
              </a:lnSpc>
              <a:buNone/>
            </a:pPr>
            <a:r>
              <a:rPr lang="en-US" sz="800" b="1" dirty="0">
                <a:solidFill>
                  <a:srgbClr val="991B1B"/>
                </a:solidFill>
                <a:latin typeface="Inter Bold" pitchFamily="34" charset="0"/>
                <a:ea typeface="Inter Bold" pitchFamily="34" charset="-122"/>
                <a:cs typeface="Inter Bold" pitchFamily="34" charset="-120"/>
              </a:rPr>
              <a:t>1.</a:t>
            </a:r>
            <a:endParaRPr lang="en-US" sz="800" dirty="0"/>
          </a:p>
        </p:txBody>
      </p:sp>
      <p:sp>
        <p:nvSpPr>
          <p:cNvPr id="9" name="Text 6"/>
          <p:cNvSpPr/>
          <p:nvPr/>
        </p:nvSpPr>
        <p:spPr>
          <a:xfrm>
            <a:off x="914400" y="2172705"/>
            <a:ext cx="2496294" cy="300038"/>
          </a:xfrm>
          <a:prstGeom prst="rect">
            <a:avLst/>
          </a:prstGeom>
          <a:noFill/>
          <a:ln/>
        </p:spPr>
        <p:txBody>
          <a:bodyPr wrap="square" lIns="0" tIns="0" rIns="0" bIns="0" rtlCol="0" anchor="t">
            <a:spAutoFit/>
          </a:bodyPr>
          <a:lstStyle/>
          <a:p>
            <a:pPr algn="l" indent="0" marL="0">
              <a:lnSpc>
                <a:spcPct val="120000"/>
              </a:lnSpc>
              <a:buNone/>
            </a:pPr>
            <a:r>
              <a:rPr lang="en-US" sz="750" dirty="0">
                <a:solidFill>
                  <a:srgbClr val="CBD5E1"/>
                </a:solidFill>
                <a:latin typeface="Inter" pitchFamily="34" charset="0"/>
                <a:ea typeface="Inter" pitchFamily="34" charset="-122"/>
                <a:cs typeface="Inter" pitchFamily="34" charset="-120"/>
              </a:rPr>
              <a:t>Do not act irreversibly on unconfirmed information without a human.</a:t>
            </a:r>
            <a:endParaRPr lang="en-US" sz="750" dirty="0"/>
          </a:p>
        </p:txBody>
      </p:sp>
      <p:sp>
        <p:nvSpPr>
          <p:cNvPr id="10" name="Text 7"/>
          <p:cNvSpPr/>
          <p:nvPr/>
        </p:nvSpPr>
        <p:spPr>
          <a:xfrm>
            <a:off x="685800" y="2544180"/>
            <a:ext cx="142875" cy="171450"/>
          </a:xfrm>
          <a:prstGeom prst="rect">
            <a:avLst/>
          </a:prstGeom>
          <a:noFill/>
          <a:ln/>
        </p:spPr>
        <p:txBody>
          <a:bodyPr wrap="none" lIns="0" tIns="0" rIns="0" bIns="0" rtlCol="0" anchor="t">
            <a:spAutoFit/>
          </a:bodyPr>
          <a:lstStyle/>
          <a:p>
            <a:pPr algn="l" indent="0" marL="0">
              <a:lnSpc>
                <a:spcPct val="120000"/>
              </a:lnSpc>
              <a:buNone/>
            </a:pPr>
            <a:r>
              <a:rPr lang="en-US" sz="800" b="1" dirty="0">
                <a:solidFill>
                  <a:srgbClr val="991B1B"/>
                </a:solidFill>
                <a:latin typeface="Inter Bold" pitchFamily="34" charset="0"/>
                <a:ea typeface="Inter Bold" pitchFamily="34" charset="-122"/>
                <a:cs typeface="Inter Bold" pitchFamily="34" charset="-120"/>
              </a:rPr>
              <a:t>2.</a:t>
            </a:r>
            <a:endParaRPr lang="en-US" sz="800" dirty="0"/>
          </a:p>
        </p:txBody>
      </p:sp>
      <p:sp>
        <p:nvSpPr>
          <p:cNvPr id="11" name="Text 8"/>
          <p:cNvSpPr/>
          <p:nvPr/>
        </p:nvSpPr>
        <p:spPr>
          <a:xfrm>
            <a:off x="914400" y="2544180"/>
            <a:ext cx="2496294" cy="300038"/>
          </a:xfrm>
          <a:prstGeom prst="rect">
            <a:avLst/>
          </a:prstGeom>
          <a:noFill/>
          <a:ln/>
        </p:spPr>
        <p:txBody>
          <a:bodyPr wrap="square" lIns="0" tIns="0" rIns="0" bIns="0" rtlCol="0" anchor="t">
            <a:spAutoFit/>
          </a:bodyPr>
          <a:lstStyle/>
          <a:p>
            <a:pPr algn="l" indent="0" marL="0">
              <a:lnSpc>
                <a:spcPct val="120000"/>
              </a:lnSpc>
              <a:buNone/>
            </a:pPr>
            <a:r>
              <a:rPr lang="en-US" sz="750" dirty="0">
                <a:solidFill>
                  <a:srgbClr val="CBD5E1"/>
                </a:solidFill>
                <a:latin typeface="Inter" pitchFamily="34" charset="0"/>
                <a:ea typeface="Inter" pitchFamily="34" charset="-122"/>
                <a:cs typeface="Inter" pitchFamily="34" charset="-120"/>
              </a:rPr>
              <a:t>Maximize the probability of the vehicle being </a:t>
            </a:r>
            <a:r>
              <a:rPr lang="en-US" sz="700" b="1" dirty="0">
                <a:solidFill>
                  <a:srgbClr val="F8FAFC"/>
                </a:solidFill>
                <a:latin typeface="Inter Bold" pitchFamily="34" charset="0"/>
                <a:ea typeface="Inter Bold" pitchFamily="34" charset="-122"/>
                <a:cs typeface="Inter Bold" pitchFamily="34" charset="-120"/>
              </a:rPr>
              <a:t>found</a:t>
            </a:r>
            <a:r>
              <a:rPr lang="en-US" sz="750" dirty="0">
                <a:solidFill>
                  <a:srgbClr val="CBD5E1"/>
                </a:solidFill>
                <a:latin typeface="Inter" pitchFamily="34" charset="0"/>
                <a:ea typeface="Inter" pitchFamily="34" charset="-122"/>
                <a:cs typeface="Inter" pitchFamily="34" charset="-120"/>
              </a:rPr>
              <a:t> if it cannot continue the mission.</a:t>
            </a:r>
            <a:endParaRPr lang="en-US" sz="750" dirty="0"/>
          </a:p>
        </p:txBody>
      </p:sp>
      <p:sp>
        <p:nvSpPr>
          <p:cNvPr id="12" name="Text 9"/>
          <p:cNvSpPr/>
          <p:nvPr/>
        </p:nvSpPr>
        <p:spPr>
          <a:xfrm>
            <a:off x="3753594" y="1017984"/>
            <a:ext cx="1349276" cy="192881"/>
          </a:xfrm>
          <a:prstGeom prst="rect">
            <a:avLst/>
          </a:prstGeom>
          <a:noFill/>
          <a:ln/>
        </p:spPr>
        <p:txBody>
          <a:bodyPr wrap="square" lIns="0" tIns="0" rIns="0" bIns="68072" rtlCol="0" anchor="ctr">
            <a:spAutoFit/>
          </a:bodyPr>
          <a:lstStyle/>
          <a:p>
            <a:pPr algn="l" indent="0" marL="0">
              <a:buNone/>
            </a:pPr>
            <a:r>
              <a:rPr lang="en-US" sz="700" b="1" spc="1" kern="0" dirty="0">
                <a:solidFill>
                  <a:srgbClr val="991B1B"/>
                </a:solidFill>
                <a:latin typeface="Inter Bold" pitchFamily="34" charset="0"/>
                <a:ea typeface="Inter Bold" pitchFamily="34" charset="-122"/>
                <a:cs typeface="Inter Bold" pitchFamily="34" charset="-120"/>
              </a:rPr>
              <a:t>MISSION PHASE</a:t>
            </a:r>
            <a:endParaRPr lang="en-US" sz="700" dirty="0"/>
          </a:p>
        </p:txBody>
      </p:sp>
      <p:sp>
        <p:nvSpPr>
          <p:cNvPr id="13" name="Text 10"/>
          <p:cNvSpPr/>
          <p:nvPr/>
        </p:nvSpPr>
        <p:spPr>
          <a:xfrm>
            <a:off x="5102870" y="1017984"/>
            <a:ext cx="2023914" cy="192881"/>
          </a:xfrm>
          <a:prstGeom prst="rect">
            <a:avLst/>
          </a:prstGeom>
          <a:noFill/>
          <a:ln/>
        </p:spPr>
        <p:txBody>
          <a:bodyPr wrap="square" lIns="0" tIns="0" rIns="0" bIns="68072" rtlCol="0" anchor="ctr">
            <a:spAutoFit/>
          </a:bodyPr>
          <a:lstStyle/>
          <a:p>
            <a:pPr algn="l" indent="0" marL="0">
              <a:buNone/>
            </a:pPr>
            <a:r>
              <a:rPr lang="en-US" sz="700" b="1" spc="1" kern="0" dirty="0">
                <a:solidFill>
                  <a:srgbClr val="991B1B"/>
                </a:solidFill>
                <a:latin typeface="Inter Bold" pitchFamily="34" charset="0"/>
                <a:ea typeface="Inter Bold" pitchFamily="34" charset="-122"/>
                <a:cs typeface="Inter Bold" pitchFamily="34" charset="-120"/>
              </a:rPr>
              <a:t>BEHAVIOR</a:t>
            </a:r>
            <a:endParaRPr lang="en-US" sz="700" dirty="0"/>
          </a:p>
        </p:txBody>
      </p:sp>
      <p:sp>
        <p:nvSpPr>
          <p:cNvPr id="14" name="Text 11"/>
          <p:cNvSpPr/>
          <p:nvPr/>
        </p:nvSpPr>
        <p:spPr>
          <a:xfrm>
            <a:off x="7126784" y="1017984"/>
            <a:ext cx="1445716" cy="192881"/>
          </a:xfrm>
          <a:prstGeom prst="rect">
            <a:avLst/>
          </a:prstGeom>
          <a:noFill/>
          <a:ln/>
        </p:spPr>
        <p:txBody>
          <a:bodyPr wrap="square" lIns="0" tIns="0" rIns="0" bIns="68072" rtlCol="0" anchor="ctr">
            <a:spAutoFit/>
          </a:bodyPr>
          <a:lstStyle/>
          <a:p>
            <a:pPr algn="l" indent="0" marL="0">
              <a:buNone/>
            </a:pPr>
            <a:r>
              <a:rPr lang="en-US" sz="700" b="1" spc="1" kern="0" dirty="0">
                <a:solidFill>
                  <a:srgbClr val="991B1B"/>
                </a:solidFill>
                <a:latin typeface="Inter Bold" pitchFamily="34" charset="0"/>
                <a:ea typeface="Inter Bold" pitchFamily="34" charset="-122"/>
                <a:cs typeface="Inter Bold" pitchFamily="34" charset="-120"/>
              </a:rPr>
              <a:t>RATIONALE</a:t>
            </a:r>
            <a:endParaRPr lang="en-US" sz="700" dirty="0"/>
          </a:p>
        </p:txBody>
      </p:sp>
      <p:sp>
        <p:nvSpPr>
          <p:cNvPr id="15" name="Text 12"/>
          <p:cNvSpPr/>
          <p:nvPr/>
        </p:nvSpPr>
        <p:spPr>
          <a:xfrm>
            <a:off x="3753594" y="1210866"/>
            <a:ext cx="1349276" cy="610791"/>
          </a:xfrm>
          <a:prstGeom prst="rect">
            <a:avLst/>
          </a:prstGeom>
          <a:noFill/>
          <a:ln/>
        </p:spPr>
        <p:txBody>
          <a:bodyPr wrap="square" lIns="0" tIns="85090" rIns="0" bIns="85090" rtlCol="0" anchor="t">
            <a:spAutoFit/>
          </a:bodyPr>
          <a:lstStyle/>
          <a:p>
            <a:pPr algn="l" indent="0" marL="0">
              <a:buNone/>
            </a:pPr>
            <a:r>
              <a:rPr lang="en-US" sz="700" b="1" dirty="0">
                <a:solidFill>
                  <a:srgbClr val="334155"/>
                </a:solidFill>
                <a:latin typeface="Inter Bold" pitchFamily="34" charset="0"/>
                <a:ea typeface="Inter Bold" pitchFamily="34" charset="-122"/>
                <a:cs typeface="Inter Bold" pitchFamily="34" charset="-120"/>
              </a:rPr>
              <a:t>Preflight / Arming</a:t>
            </a:r>
            <a:endParaRPr lang="en-US" sz="700" dirty="0"/>
          </a:p>
        </p:txBody>
      </p:sp>
      <p:sp>
        <p:nvSpPr>
          <p:cNvPr id="16" name="Text 13"/>
          <p:cNvSpPr/>
          <p:nvPr/>
        </p:nvSpPr>
        <p:spPr>
          <a:xfrm>
            <a:off x="5102870" y="1210866"/>
            <a:ext cx="2023914" cy="610791"/>
          </a:xfrm>
          <a:prstGeom prst="rect">
            <a:avLst/>
          </a:prstGeom>
          <a:noFill/>
          <a:ln/>
        </p:spPr>
        <p:txBody>
          <a:bodyPr wrap="square" lIns="0" tIns="85090" rIns="0" bIns="85090" rtlCol="0" anchor="t">
            <a:spAutoFit/>
          </a:bodyPr>
          <a:lstStyle/>
          <a:p>
            <a:pPr algn="l" indent="0" marL="0">
              <a:lnSpc>
                <a:spcPct val="120000"/>
              </a:lnSpc>
              <a:buNone/>
            </a:pPr>
            <a:r>
              <a:rPr lang="en-US" sz="750" dirty="0">
                <a:solidFill>
                  <a:srgbClr val="334155"/>
                </a:solidFill>
                <a:latin typeface="Inter" pitchFamily="34" charset="0"/>
                <a:ea typeface="Inter" pitchFamily="34" charset="-122"/>
                <a:cs typeface="Inter" pitchFamily="34" charset="-120"/>
              </a:rPr>
              <a:t>Do not arm / abort arming sequence</a:t>
            </a:r>
            <a:endParaRPr lang="en-US" sz="750" dirty="0"/>
          </a:p>
        </p:txBody>
      </p:sp>
      <p:sp>
        <p:nvSpPr>
          <p:cNvPr id="17" name="Text 14"/>
          <p:cNvSpPr/>
          <p:nvPr/>
        </p:nvSpPr>
        <p:spPr>
          <a:xfrm>
            <a:off x="7126784" y="1210866"/>
            <a:ext cx="1445716" cy="610791"/>
          </a:xfrm>
          <a:prstGeom prst="rect">
            <a:avLst/>
          </a:prstGeom>
          <a:noFill/>
          <a:ln/>
        </p:spPr>
        <p:txBody>
          <a:bodyPr wrap="square" lIns="0" tIns="85090" rIns="0" bIns="85090" rtlCol="0" anchor="t">
            <a:spAutoFit/>
          </a:bodyPr>
          <a:lstStyle/>
          <a:p>
            <a:pPr algn="l" indent="0" marL="0">
              <a:lnSpc>
                <a:spcPct val="120000"/>
              </a:lnSpc>
              <a:buNone/>
            </a:pPr>
            <a:r>
              <a:rPr lang="en-US" sz="750" i="1" dirty="0">
                <a:solidFill>
                  <a:srgbClr val="334155"/>
                </a:solidFill>
                <a:latin typeface="Inter" pitchFamily="34" charset="0"/>
                <a:ea typeface="Inter" pitchFamily="34" charset="-122"/>
                <a:cs typeface="Inter" pitchFamily="34" charset="-120"/>
              </a:rPr>
              <a:t>No reason to launch a mission that cannot be monitored from the start</a:t>
            </a:r>
            <a:endParaRPr lang="en-US" sz="750" dirty="0"/>
          </a:p>
        </p:txBody>
      </p:sp>
      <p:sp>
        <p:nvSpPr>
          <p:cNvPr id="18" name="Text 15"/>
          <p:cNvSpPr/>
          <p:nvPr/>
        </p:nvSpPr>
        <p:spPr>
          <a:xfrm>
            <a:off x="3753594" y="1821656"/>
            <a:ext cx="1349276" cy="600075"/>
          </a:xfrm>
          <a:prstGeom prst="rect">
            <a:avLst/>
          </a:prstGeom>
          <a:noFill/>
          <a:ln/>
        </p:spPr>
        <p:txBody>
          <a:bodyPr wrap="square" lIns="0" tIns="85090" rIns="0" bIns="85090" rtlCol="0" anchor="t">
            <a:spAutoFit/>
          </a:bodyPr>
          <a:lstStyle/>
          <a:p>
            <a:pPr algn="l" indent="0" marL="0">
              <a:buNone/>
            </a:pPr>
            <a:r>
              <a:rPr lang="en-US" sz="700" b="1" dirty="0">
                <a:solidFill>
                  <a:srgbClr val="334155"/>
                </a:solidFill>
                <a:latin typeface="Inter Bold" pitchFamily="34" charset="0"/>
                <a:ea typeface="Inter Bold" pitchFamily="34" charset="-122"/>
                <a:cs typeface="Inter Bold" pitchFamily="34" charset="-120"/>
              </a:rPr>
              <a:t>Transit</a:t>
            </a:r>
            <a:endParaRPr lang="en-US" sz="700" dirty="0"/>
          </a:p>
        </p:txBody>
      </p:sp>
      <p:sp>
        <p:nvSpPr>
          <p:cNvPr id="19" name="Text 16"/>
          <p:cNvSpPr/>
          <p:nvPr/>
        </p:nvSpPr>
        <p:spPr>
          <a:xfrm>
            <a:off x="5102870" y="1821656"/>
            <a:ext cx="2023914" cy="600075"/>
          </a:xfrm>
          <a:prstGeom prst="rect">
            <a:avLst/>
          </a:prstGeom>
          <a:noFill/>
          <a:ln/>
        </p:spPr>
        <p:txBody>
          <a:bodyPr wrap="square" lIns="0" tIns="85090" rIns="0" bIns="85090" rtlCol="0" anchor="t">
            <a:spAutoFit/>
          </a:bodyPr>
          <a:lstStyle/>
          <a:p>
            <a:pPr algn="l" indent="0" marL="0">
              <a:lnSpc>
                <a:spcPct val="120000"/>
              </a:lnSpc>
              <a:buNone/>
            </a:pPr>
            <a:r>
              <a:rPr lang="en-US" sz="750" dirty="0">
                <a:solidFill>
                  <a:srgbClr val="334155"/>
                </a:solidFill>
                <a:latin typeface="Inter" pitchFamily="34" charset="0"/>
                <a:ea typeface="Inter" pitchFamily="34" charset="-122"/>
                <a:cs typeface="Inter" pitchFamily="34" charset="-120"/>
              </a:rPr>
              <a:t>Continue transit; degrade telemetry rate; keep attempting reconnection</a:t>
            </a:r>
            <a:endParaRPr lang="en-US" sz="750" dirty="0"/>
          </a:p>
        </p:txBody>
      </p:sp>
      <p:sp>
        <p:nvSpPr>
          <p:cNvPr id="20" name="Text 17"/>
          <p:cNvSpPr/>
          <p:nvPr/>
        </p:nvSpPr>
        <p:spPr>
          <a:xfrm>
            <a:off x="7126784" y="1821656"/>
            <a:ext cx="1445716" cy="600075"/>
          </a:xfrm>
          <a:prstGeom prst="rect">
            <a:avLst/>
          </a:prstGeom>
          <a:noFill/>
          <a:ln/>
        </p:spPr>
        <p:txBody>
          <a:bodyPr wrap="square" lIns="0" tIns="85090" rIns="0" bIns="85090" rtlCol="0" anchor="t">
            <a:spAutoFit/>
          </a:bodyPr>
          <a:lstStyle/>
          <a:p>
            <a:pPr algn="l" indent="0" marL="0">
              <a:lnSpc>
                <a:spcPct val="120000"/>
              </a:lnSpc>
              <a:buNone/>
            </a:pPr>
            <a:r>
              <a:rPr lang="en-US" sz="750" i="1" dirty="0">
                <a:solidFill>
                  <a:srgbClr val="334155"/>
                </a:solidFill>
                <a:latin typeface="Inter" pitchFamily="34" charset="0"/>
                <a:ea typeface="Inter" pitchFamily="34" charset="-122"/>
                <a:cs typeface="Inter" pitchFamily="34" charset="-120"/>
              </a:rPr>
              <a:t>Low-stakes navigation phase, no irreversible decisions pending</a:t>
            </a:r>
            <a:endParaRPr lang="en-US" sz="750" dirty="0"/>
          </a:p>
        </p:txBody>
      </p:sp>
      <p:sp>
        <p:nvSpPr>
          <p:cNvPr id="21" name="Text 18"/>
          <p:cNvSpPr/>
          <p:nvPr/>
        </p:nvSpPr>
        <p:spPr>
          <a:xfrm>
            <a:off x="3753594" y="2421731"/>
            <a:ext cx="1349276" cy="600075"/>
          </a:xfrm>
          <a:prstGeom prst="rect">
            <a:avLst/>
          </a:prstGeom>
          <a:noFill/>
          <a:ln/>
        </p:spPr>
        <p:txBody>
          <a:bodyPr wrap="square" lIns="0" tIns="85090" rIns="0" bIns="85090" rtlCol="0" anchor="t">
            <a:spAutoFit/>
          </a:bodyPr>
          <a:lstStyle/>
          <a:p>
            <a:pPr algn="l" indent="0" marL="0">
              <a:buNone/>
            </a:pPr>
            <a:r>
              <a:rPr lang="en-US" sz="700" b="1" dirty="0">
                <a:solidFill>
                  <a:srgbClr val="334155"/>
                </a:solidFill>
                <a:latin typeface="Inter Bold" pitchFamily="34" charset="0"/>
                <a:ea typeface="Inter Bold" pitchFamily="34" charset="-122"/>
                <a:cs typeface="Inter Bold" pitchFamily="34" charset="-120"/>
              </a:rPr>
              <a:t>Active Search / Task</a:t>
            </a:r>
            <a:endParaRPr lang="en-US" sz="700" dirty="0"/>
          </a:p>
        </p:txBody>
      </p:sp>
      <p:sp>
        <p:nvSpPr>
          <p:cNvPr id="22" name="Text 19"/>
          <p:cNvSpPr/>
          <p:nvPr/>
        </p:nvSpPr>
        <p:spPr>
          <a:xfrm>
            <a:off x="5102870" y="2511028"/>
            <a:ext cx="1175147" cy="121444"/>
          </a:xfrm>
          <a:prstGeom prst="rect">
            <a:avLst/>
          </a:prstGeom>
          <a:noFill/>
          <a:ln/>
        </p:spPr>
        <p:txBody>
          <a:bodyPr wrap="none" lIns="0" tIns="0" rIns="0" bIns="0" rtlCol="0" anchor="t">
            <a:spAutoFit/>
          </a:bodyPr>
          <a:lstStyle/>
          <a:p>
            <a:pPr algn="l" indent="0" marL="0">
              <a:lnSpc>
                <a:spcPct val="120000"/>
              </a:lnSpc>
              <a:buNone/>
            </a:pPr>
            <a:r>
              <a:rPr lang="en-US" sz="750" dirty="0">
                <a:solidFill>
                  <a:srgbClr val="334155"/>
                </a:solidFill>
                <a:latin typeface="Inter" pitchFamily="34" charset="0"/>
                <a:ea typeface="Inter" pitchFamily="34" charset="-122"/>
                <a:cs typeface="Inter" pitchFamily="34" charset="-120"/>
              </a:rPr>
              <a:t>Continue autonomously,</a:t>
            </a:r>
            <a:endParaRPr lang="en-US" sz="750" dirty="0"/>
          </a:p>
        </p:txBody>
      </p:sp>
      <p:sp>
        <p:nvSpPr>
          <p:cNvPr id="23" name="Text 20"/>
          <p:cNvSpPr/>
          <p:nvPr/>
        </p:nvSpPr>
        <p:spPr>
          <a:xfrm>
            <a:off x="6278017" y="2511028"/>
            <a:ext cx="801886" cy="121444"/>
          </a:xfrm>
          <a:prstGeom prst="rect">
            <a:avLst/>
          </a:prstGeom>
          <a:noFill/>
          <a:ln/>
        </p:spPr>
        <p:txBody>
          <a:bodyPr wrap="none" lIns="0" tIns="0" rIns="0" bIns="0" rtlCol="0" anchor="t">
            <a:spAutoFit/>
          </a:bodyPr>
          <a:lstStyle/>
          <a:p>
            <a:pPr algn="l" indent="0" marL="0">
              <a:lnSpc>
                <a:spcPct val="120000"/>
              </a:lnSpc>
              <a:buNone/>
            </a:pPr>
            <a:r>
              <a:rPr lang="en-US" sz="700" b="1" dirty="0">
                <a:solidFill>
                  <a:srgbClr val="334155"/>
                </a:solidFill>
                <a:latin typeface="Inter Bold" pitchFamily="34" charset="0"/>
                <a:ea typeface="Inter Bold" pitchFamily="34" charset="-122"/>
                <a:cs typeface="Inter Bold" pitchFamily="34" charset="-120"/>
              </a:rPr>
              <a:t>strictly bounded</a:t>
            </a:r>
            <a:endParaRPr lang="en-US" sz="700" dirty="0"/>
          </a:p>
        </p:txBody>
      </p:sp>
      <p:sp>
        <p:nvSpPr>
          <p:cNvPr id="24" name="Text 21"/>
          <p:cNvSpPr/>
          <p:nvPr/>
        </p:nvSpPr>
        <p:spPr>
          <a:xfrm>
            <a:off x="5102870" y="2661047"/>
            <a:ext cx="1719858" cy="271463"/>
          </a:xfrm>
          <a:prstGeom prst="rect">
            <a:avLst/>
          </a:prstGeom>
          <a:noFill/>
          <a:ln/>
        </p:spPr>
        <p:txBody>
          <a:bodyPr wrap="square" lIns="0" tIns="0" rIns="0" bIns="0" rtlCol="0" anchor="t">
            <a:spAutoFit/>
          </a:bodyPr>
          <a:lstStyle/>
          <a:p>
            <a:pPr algn="l" indent="0" marL="0">
              <a:lnSpc>
                <a:spcPct val="120000"/>
              </a:lnSpc>
              <a:buNone/>
            </a:pPr>
            <a:r>
              <a:rPr lang="en-US" sz="750" dirty="0">
                <a:solidFill>
                  <a:srgbClr val="334155"/>
                </a:solidFill>
                <a:latin typeface="Inter" pitchFamily="34" charset="0"/>
                <a:ea typeface="Inter" pitchFamily="34" charset="-122"/>
                <a:cs typeface="Inter" pitchFamily="34" charset="-120"/>
              </a:rPr>
              <a:t>by pre-briefed geofence and energy margin</a:t>
            </a:r>
            <a:endParaRPr lang="en-US" sz="750" dirty="0"/>
          </a:p>
        </p:txBody>
      </p:sp>
      <p:sp>
        <p:nvSpPr>
          <p:cNvPr id="25" name="Text 22"/>
          <p:cNvSpPr/>
          <p:nvPr/>
        </p:nvSpPr>
        <p:spPr>
          <a:xfrm>
            <a:off x="7126784" y="2421731"/>
            <a:ext cx="1445716" cy="600075"/>
          </a:xfrm>
          <a:prstGeom prst="rect">
            <a:avLst/>
          </a:prstGeom>
          <a:noFill/>
          <a:ln/>
        </p:spPr>
        <p:txBody>
          <a:bodyPr wrap="square" lIns="0" tIns="85090" rIns="0" bIns="85090" rtlCol="0" anchor="t">
            <a:spAutoFit/>
          </a:bodyPr>
          <a:lstStyle/>
          <a:p>
            <a:pPr algn="l" indent="0" marL="0">
              <a:lnSpc>
                <a:spcPct val="120000"/>
              </a:lnSpc>
              <a:buNone/>
            </a:pPr>
            <a:r>
              <a:rPr lang="en-US" sz="750" i="1" dirty="0">
                <a:solidFill>
                  <a:srgbClr val="334155"/>
                </a:solidFill>
                <a:latin typeface="Inter" pitchFamily="34" charset="0"/>
                <a:ea typeface="Inter" pitchFamily="34" charset="-122"/>
                <a:cs typeface="Inter" pitchFamily="34" charset="-120"/>
              </a:rPr>
              <a:t>Autonomy exists precisely so operator dropout doesn't abort the mission</a:t>
            </a:r>
            <a:endParaRPr lang="en-US" sz="750" dirty="0"/>
          </a:p>
        </p:txBody>
      </p:sp>
      <p:sp>
        <p:nvSpPr>
          <p:cNvPr id="26" name="Text 23"/>
          <p:cNvSpPr/>
          <p:nvPr/>
        </p:nvSpPr>
        <p:spPr>
          <a:xfrm>
            <a:off x="3753594" y="3021806"/>
            <a:ext cx="1349276" cy="750094"/>
          </a:xfrm>
          <a:prstGeom prst="rect">
            <a:avLst/>
          </a:prstGeom>
          <a:noFill/>
          <a:ln/>
        </p:spPr>
        <p:txBody>
          <a:bodyPr wrap="square" lIns="0" tIns="85090" rIns="0" bIns="85090" rtlCol="0" anchor="t">
            <a:spAutoFit/>
          </a:bodyPr>
          <a:lstStyle/>
          <a:p>
            <a:pPr algn="l" indent="0" marL="0">
              <a:buNone/>
            </a:pPr>
            <a:r>
              <a:rPr lang="en-US" sz="700" b="1" dirty="0">
                <a:solidFill>
                  <a:srgbClr val="334155"/>
                </a:solidFill>
                <a:latin typeface="Inter Bold" pitchFamily="34" charset="0"/>
                <a:ea typeface="Inter Bold" pitchFamily="34" charset="-122"/>
                <a:cs typeface="Inter Bold" pitchFamily="34" charset="-120"/>
              </a:rPr>
              <a:t>Candidate Detected</a:t>
            </a:r>
            <a:endParaRPr lang="en-US" sz="700" dirty="0"/>
          </a:p>
        </p:txBody>
      </p:sp>
      <p:sp>
        <p:nvSpPr>
          <p:cNvPr id="27" name="Text 24"/>
          <p:cNvSpPr/>
          <p:nvPr/>
        </p:nvSpPr>
        <p:spPr>
          <a:xfrm>
            <a:off x="5102870" y="3111103"/>
            <a:ext cx="160734" cy="121444"/>
          </a:xfrm>
          <a:prstGeom prst="rect">
            <a:avLst/>
          </a:prstGeom>
          <a:noFill/>
          <a:ln/>
        </p:spPr>
        <p:txBody>
          <a:bodyPr wrap="none" lIns="0" tIns="0" rIns="0" bIns="0" rtlCol="0" anchor="t">
            <a:spAutoFit/>
          </a:bodyPr>
          <a:lstStyle/>
          <a:p>
            <a:pPr algn="l" indent="0" marL="0">
              <a:lnSpc>
                <a:spcPct val="120000"/>
              </a:lnSpc>
              <a:buNone/>
            </a:pPr>
            <a:r>
              <a:rPr lang="en-US" sz="750" dirty="0">
                <a:solidFill>
                  <a:srgbClr val="334155"/>
                </a:solidFill>
                <a:latin typeface="Inter" pitchFamily="34" charset="0"/>
                <a:ea typeface="Inter" pitchFamily="34" charset="-122"/>
                <a:cs typeface="Inter" pitchFamily="34" charset="-120"/>
              </a:rPr>
              <a:t>Do</a:t>
            </a:r>
            <a:endParaRPr lang="en-US" sz="750" dirty="0"/>
          </a:p>
        </p:txBody>
      </p:sp>
      <p:sp>
        <p:nvSpPr>
          <p:cNvPr id="28" name="Text 25"/>
          <p:cNvSpPr/>
          <p:nvPr/>
        </p:nvSpPr>
        <p:spPr>
          <a:xfrm>
            <a:off x="5263604" y="3111103"/>
            <a:ext cx="216098" cy="121444"/>
          </a:xfrm>
          <a:prstGeom prst="rect">
            <a:avLst/>
          </a:prstGeom>
          <a:noFill/>
          <a:ln/>
        </p:spPr>
        <p:txBody>
          <a:bodyPr wrap="none" lIns="0" tIns="0" rIns="0" bIns="0" rtlCol="0" anchor="t">
            <a:spAutoFit/>
          </a:bodyPr>
          <a:lstStyle/>
          <a:p>
            <a:pPr algn="l" indent="0" marL="0">
              <a:lnSpc>
                <a:spcPct val="120000"/>
              </a:lnSpc>
              <a:buNone/>
            </a:pPr>
            <a:r>
              <a:rPr lang="en-US" sz="700" b="1" dirty="0">
                <a:solidFill>
                  <a:srgbClr val="334155"/>
                </a:solidFill>
                <a:latin typeface="Inter Bold" pitchFamily="34" charset="0"/>
                <a:ea typeface="Inter Bold" pitchFamily="34" charset="-122"/>
                <a:cs typeface="Inter Bold" pitchFamily="34" charset="-120"/>
              </a:rPr>
              <a:t>NOT</a:t>
            </a:r>
            <a:endParaRPr lang="en-US" sz="700" dirty="0"/>
          </a:p>
        </p:txBody>
      </p:sp>
      <p:sp>
        <p:nvSpPr>
          <p:cNvPr id="29" name="Text 26"/>
          <p:cNvSpPr/>
          <p:nvPr/>
        </p:nvSpPr>
        <p:spPr>
          <a:xfrm>
            <a:off x="5102870" y="3111103"/>
            <a:ext cx="2010966" cy="271463"/>
          </a:xfrm>
          <a:prstGeom prst="rect">
            <a:avLst/>
          </a:prstGeom>
          <a:noFill/>
          <a:ln/>
        </p:spPr>
        <p:txBody>
          <a:bodyPr wrap="square" lIns="0" tIns="0" rIns="0" bIns="0" rtlCol="0" anchor="t">
            <a:spAutoFit/>
          </a:bodyPr>
          <a:lstStyle/>
          <a:p>
            <a:pPr algn="l" indent="0" marL="0">
              <a:lnSpc>
                <a:spcPct val="120000"/>
              </a:lnSpc>
              <a:buNone/>
            </a:pPr>
            <a:r>
              <a:rPr lang="en-US" sz="750" dirty="0">
                <a:solidFill>
                  <a:srgbClr val="334155"/>
                </a:solidFill>
                <a:latin typeface="Inter" pitchFamily="34" charset="0"/>
                <a:ea typeface="Inter" pitchFamily="34" charset="-122"/>
                <a:cs typeface="Inter" pitchFamily="34" charset="-120"/>
              </a:rPr>
              <a:t>act. Loiter, log position + imagery, keep attempting reconnection.</a:t>
            </a:r>
            <a:endParaRPr lang="en-US" sz="750" dirty="0"/>
          </a:p>
        </p:txBody>
      </p:sp>
      <p:sp>
        <p:nvSpPr>
          <p:cNvPr id="30" name="Text 27"/>
          <p:cNvSpPr/>
          <p:nvPr/>
        </p:nvSpPr>
        <p:spPr>
          <a:xfrm>
            <a:off x="7126784" y="3021806"/>
            <a:ext cx="1445716" cy="750094"/>
          </a:xfrm>
          <a:prstGeom prst="rect">
            <a:avLst/>
          </a:prstGeom>
          <a:noFill/>
          <a:ln/>
        </p:spPr>
        <p:txBody>
          <a:bodyPr wrap="square" lIns="0" tIns="85090" rIns="0" bIns="85090" rtlCol="0" anchor="t">
            <a:spAutoFit/>
          </a:bodyPr>
          <a:lstStyle/>
          <a:p>
            <a:pPr algn="l" indent="0" marL="0">
              <a:lnSpc>
                <a:spcPct val="120000"/>
              </a:lnSpc>
              <a:buNone/>
            </a:pPr>
            <a:r>
              <a:rPr lang="en-US" sz="750" i="1" dirty="0">
                <a:solidFill>
                  <a:srgbClr val="334155"/>
                </a:solidFill>
                <a:latin typeface="Inter" pitchFamily="34" charset="0"/>
                <a:ea typeface="Inter" pitchFamily="34" charset="-122"/>
                <a:cs typeface="Inter" pitchFamily="34" charset="-120"/>
              </a:rPr>
              <a:t>Highest-stakes decision point. Unconfirmed detection risks misidentification or unsafe action</a:t>
            </a:r>
            <a:endParaRPr lang="en-US" sz="750" dirty="0"/>
          </a:p>
        </p:txBody>
      </p:sp>
      <p:sp>
        <p:nvSpPr>
          <p:cNvPr id="31" name="Text 28"/>
          <p:cNvSpPr/>
          <p:nvPr/>
        </p:nvSpPr>
        <p:spPr>
          <a:xfrm>
            <a:off x="3753594" y="3771900"/>
            <a:ext cx="1349276" cy="600075"/>
          </a:xfrm>
          <a:prstGeom prst="rect">
            <a:avLst/>
          </a:prstGeom>
          <a:noFill/>
          <a:ln/>
        </p:spPr>
        <p:txBody>
          <a:bodyPr wrap="square" lIns="0" tIns="85090" rIns="0" bIns="85090" rtlCol="0" anchor="t">
            <a:spAutoFit/>
          </a:bodyPr>
          <a:lstStyle/>
          <a:p>
            <a:pPr algn="l" indent="0" marL="0">
              <a:buNone/>
            </a:pPr>
            <a:r>
              <a:rPr lang="en-US" sz="700" b="1" dirty="0">
                <a:solidFill>
                  <a:srgbClr val="334155"/>
                </a:solidFill>
                <a:latin typeface="Inter Bold" pitchFamily="34" charset="0"/>
                <a:ea typeface="Inter Bold" pitchFamily="34" charset="-122"/>
                <a:cs typeface="Inter Bold" pitchFamily="34" charset="-120"/>
              </a:rPr>
              <a:t>Return-to-Base</a:t>
            </a:r>
            <a:endParaRPr lang="en-US" sz="700" dirty="0"/>
          </a:p>
        </p:txBody>
      </p:sp>
      <p:sp>
        <p:nvSpPr>
          <p:cNvPr id="32" name="Text 29"/>
          <p:cNvSpPr/>
          <p:nvPr/>
        </p:nvSpPr>
        <p:spPr>
          <a:xfrm>
            <a:off x="5102870" y="3771900"/>
            <a:ext cx="2023914" cy="600075"/>
          </a:xfrm>
          <a:prstGeom prst="rect">
            <a:avLst/>
          </a:prstGeom>
          <a:noFill/>
          <a:ln/>
        </p:spPr>
        <p:txBody>
          <a:bodyPr wrap="square" lIns="0" tIns="85090" rIns="0" bIns="85090" rtlCol="0" anchor="t">
            <a:spAutoFit/>
          </a:bodyPr>
          <a:lstStyle/>
          <a:p>
            <a:pPr algn="l" indent="0" marL="0">
              <a:lnSpc>
                <a:spcPct val="120000"/>
              </a:lnSpc>
              <a:buNone/>
            </a:pPr>
            <a:r>
              <a:rPr lang="en-US" sz="750" dirty="0">
                <a:solidFill>
                  <a:srgbClr val="334155"/>
                </a:solidFill>
                <a:latin typeface="Inter" pitchFamily="34" charset="0"/>
                <a:ea typeface="Inter" pitchFamily="34" charset="-122"/>
                <a:cs typeface="Inter" pitchFamily="34" charset="-120"/>
              </a:rPr>
              <a:t>Continue as planned</a:t>
            </a:r>
            <a:endParaRPr lang="en-US" sz="750" dirty="0"/>
          </a:p>
        </p:txBody>
      </p:sp>
      <p:sp>
        <p:nvSpPr>
          <p:cNvPr id="33" name="Text 30"/>
          <p:cNvSpPr/>
          <p:nvPr/>
        </p:nvSpPr>
        <p:spPr>
          <a:xfrm>
            <a:off x="7126784" y="3771900"/>
            <a:ext cx="1445716" cy="600075"/>
          </a:xfrm>
          <a:prstGeom prst="rect">
            <a:avLst/>
          </a:prstGeom>
          <a:noFill/>
          <a:ln/>
        </p:spPr>
        <p:txBody>
          <a:bodyPr wrap="square" lIns="0" tIns="85090" rIns="0" bIns="85090" rtlCol="0" anchor="t">
            <a:spAutoFit/>
          </a:bodyPr>
          <a:lstStyle/>
          <a:p>
            <a:pPr algn="l" indent="0" marL="0">
              <a:lnSpc>
                <a:spcPct val="120000"/>
              </a:lnSpc>
              <a:buNone/>
            </a:pPr>
            <a:r>
              <a:rPr lang="en-US" sz="750" i="1" dirty="0">
                <a:solidFill>
                  <a:srgbClr val="334155"/>
                </a:solidFill>
                <a:latin typeface="Inter" pitchFamily="34" charset="0"/>
                <a:ea typeface="Inter" pitchFamily="34" charset="-122"/>
                <a:cs typeface="Inter" pitchFamily="34" charset="-120"/>
              </a:rPr>
              <a:t>The decision to return was already made before link loss; nothing changes</a:t>
            </a:r>
            <a:endParaRPr lang="en-US" sz="750" dirty="0"/>
          </a:p>
        </p:txBody>
      </p:sp>
      <p:sp>
        <p:nvSpPr>
          <p:cNvPr id="34" name="Text 31"/>
          <p:cNvSpPr/>
          <p:nvPr/>
        </p:nvSpPr>
        <p:spPr>
          <a:xfrm>
            <a:off x="3753594" y="4371975"/>
            <a:ext cx="1349276" cy="596503"/>
          </a:xfrm>
          <a:prstGeom prst="rect">
            <a:avLst/>
          </a:prstGeom>
          <a:noFill/>
          <a:ln/>
        </p:spPr>
        <p:txBody>
          <a:bodyPr wrap="square" lIns="0" tIns="85090" rIns="0" bIns="85090" rtlCol="0" anchor="t">
            <a:spAutoFit/>
          </a:bodyPr>
          <a:lstStyle/>
          <a:p>
            <a:pPr algn="l" indent="0" marL="0">
              <a:buNone/>
            </a:pPr>
            <a:r>
              <a:rPr lang="en-US" sz="700" b="1" dirty="0">
                <a:solidFill>
                  <a:srgbClr val="334155"/>
                </a:solidFill>
                <a:latin typeface="Inter Bold" pitchFamily="34" charset="0"/>
                <a:ea typeface="Inter Bold" pitchFamily="34" charset="-122"/>
                <a:cs typeface="Inter Bold" pitchFamily="34" charset="-120"/>
              </a:rPr>
              <a:t>Energy-Critical</a:t>
            </a:r>
            <a:endParaRPr lang="en-US" sz="700" dirty="0"/>
          </a:p>
        </p:txBody>
      </p:sp>
      <p:sp>
        <p:nvSpPr>
          <p:cNvPr id="35" name="Text 32"/>
          <p:cNvSpPr/>
          <p:nvPr/>
        </p:nvSpPr>
        <p:spPr>
          <a:xfrm>
            <a:off x="5102870" y="4371975"/>
            <a:ext cx="2023914" cy="596503"/>
          </a:xfrm>
          <a:prstGeom prst="rect">
            <a:avLst/>
          </a:prstGeom>
          <a:noFill/>
          <a:ln/>
        </p:spPr>
        <p:txBody>
          <a:bodyPr wrap="square" lIns="0" tIns="85090" rIns="0" bIns="85090" rtlCol="0" anchor="t">
            <a:spAutoFit/>
          </a:bodyPr>
          <a:lstStyle/>
          <a:p>
            <a:pPr algn="l" indent="0" marL="0">
              <a:lnSpc>
                <a:spcPct val="120000"/>
              </a:lnSpc>
              <a:buNone/>
            </a:pPr>
            <a:r>
              <a:rPr lang="en-US" sz="750" dirty="0">
                <a:solidFill>
                  <a:srgbClr val="334155"/>
                </a:solidFill>
                <a:latin typeface="Inter" pitchFamily="34" charset="0"/>
                <a:ea typeface="Inter" pitchFamily="34" charset="-122"/>
                <a:cs typeface="Inter" pitchFamily="34" charset="-120"/>
              </a:rPr>
              <a:t>Overrides all rules above (see Work Index)</a:t>
            </a:r>
            <a:endParaRPr lang="en-US" sz="750" dirty="0"/>
          </a:p>
        </p:txBody>
      </p:sp>
      <p:sp>
        <p:nvSpPr>
          <p:cNvPr id="36" name="Text 33"/>
          <p:cNvSpPr/>
          <p:nvPr/>
        </p:nvSpPr>
        <p:spPr>
          <a:xfrm>
            <a:off x="7126784" y="4371975"/>
            <a:ext cx="1445716" cy="596503"/>
          </a:xfrm>
          <a:prstGeom prst="rect">
            <a:avLst/>
          </a:prstGeom>
          <a:noFill/>
          <a:ln/>
        </p:spPr>
        <p:txBody>
          <a:bodyPr wrap="square" lIns="0" tIns="85090" rIns="0" bIns="85090" rtlCol="0" anchor="t">
            <a:spAutoFit/>
          </a:bodyPr>
          <a:lstStyle/>
          <a:p>
            <a:pPr algn="l" indent="0" marL="0">
              <a:lnSpc>
                <a:spcPct val="120000"/>
              </a:lnSpc>
              <a:buNone/>
            </a:pPr>
            <a:r>
              <a:rPr lang="en-US" sz="750" i="1" dirty="0">
                <a:solidFill>
                  <a:srgbClr val="334155"/>
                </a:solidFill>
                <a:latin typeface="Inter" pitchFamily="34" charset="0"/>
                <a:ea typeface="Inter" pitchFamily="34" charset="-122"/>
                <a:cs typeface="Inter" pitchFamily="34" charset="-120"/>
              </a:rPr>
              <a:t>Physical constraints take precedence over mission logic unconditionally</a:t>
            </a:r>
            <a:endParaRPr lang="en-US" sz="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571500" y="342900"/>
            <a:ext cx="8001000" cy="360759"/>
          </a:xfrm>
          <a:prstGeom prst="rect">
            <a:avLst/>
          </a:prstGeom>
          <a:noFill/>
          <a:ln/>
        </p:spPr>
        <p:txBody>
          <a:bodyPr wrap="square" lIns="0" tIns="0" rIns="0" bIns="0" rtlCol="0" anchor="t">
            <a:spAutoFit/>
          </a:bodyPr>
          <a:lstStyle/>
          <a:p>
            <a:pPr algn="l" indent="0" marL="0">
              <a:buNone/>
            </a:pPr>
            <a:r>
              <a:rPr lang="en-US" sz="1900" b="1" dirty="0">
                <a:solidFill>
                  <a:srgbClr val="0F172A"/>
                </a:solidFill>
                <a:latin typeface="Playfair Display ExtraBold" pitchFamily="34" charset="0"/>
                <a:ea typeface="Playfair Display ExtraBold" pitchFamily="34" charset="-122"/>
                <a:cs typeface="Playfair Display ExtraBold" pitchFamily="34" charset="-120"/>
              </a:rPr>
              <a:t>Timeout Ladder</a:t>
            </a:r>
            <a:endParaRPr lang="en-US" sz="1900" dirty="0"/>
          </a:p>
        </p:txBody>
      </p:sp>
      <p:sp>
        <p:nvSpPr>
          <p:cNvPr id="4" name="Text 1"/>
          <p:cNvSpPr/>
          <p:nvPr/>
        </p:nvSpPr>
        <p:spPr>
          <a:xfrm>
            <a:off x="571500" y="1132284"/>
            <a:ext cx="6429375" cy="365727"/>
          </a:xfrm>
          <a:prstGeom prst="rect">
            <a:avLst/>
          </a:prstGeom>
          <a:noFill/>
          <a:ln/>
        </p:spPr>
        <p:txBody>
          <a:bodyPr wrap="square" lIns="0" tIns="0" rIns="0" bIns="0" rtlCol="0" anchor="t">
            <a:spAutoFit/>
          </a:bodyPr>
          <a:lstStyle/>
          <a:p>
            <a:pPr algn="l" indent="0" marL="0">
              <a:lnSpc>
                <a:spcPct val="128000"/>
              </a:lnSpc>
              <a:buNone/>
            </a:pPr>
            <a:r>
              <a:rPr lang="en-US" sz="850" dirty="0">
                <a:solidFill>
                  <a:srgbClr val="334155"/>
                </a:solidFill>
                <a:latin typeface="Inter" pitchFamily="34" charset="0"/>
                <a:ea typeface="Inter" pitchFamily="34" charset="-122"/>
                <a:cs typeface="Inter" pitchFamily="34" charset="-120"/>
              </a:rPr>
              <a:t>A single "connected / disconnected" threshold is too crude — very short dropouts are normal RF behavior, not a real loss event. A graduated response is required.</a:t>
            </a:r>
            <a:endParaRPr lang="en-US" sz="850" dirty="0"/>
          </a:p>
        </p:txBody>
      </p:sp>
      <p:sp>
        <p:nvSpPr>
          <p:cNvPr id="5" name="Text 2"/>
          <p:cNvSpPr/>
          <p:nvPr/>
        </p:nvSpPr>
        <p:spPr>
          <a:xfrm>
            <a:off x="571500" y="2040936"/>
            <a:ext cx="2514600" cy="266105"/>
          </a:xfrm>
          <a:prstGeom prst="rect">
            <a:avLst/>
          </a:prstGeom>
          <a:noFill/>
          <a:ln/>
        </p:spPr>
        <p:txBody>
          <a:bodyPr wrap="square" lIns="0" tIns="0" rIns="0" bIns="0" rtlCol="0" anchor="t">
            <a:spAutoFit/>
          </a:bodyPr>
          <a:lstStyle/>
          <a:p>
            <a:pPr algn="l" indent="0" marL="0">
              <a:buNone/>
            </a:pPr>
            <a:r>
              <a:rPr lang="en-US" sz="1400" b="1" dirty="0">
                <a:solidFill>
                  <a:srgbClr val="0F172A"/>
                </a:solidFill>
                <a:latin typeface="Playfair Display ExtraBold" pitchFamily="34" charset="0"/>
                <a:ea typeface="Playfair Display ExtraBold" pitchFamily="34" charset="-122"/>
                <a:cs typeface="Playfair Display ExtraBold" pitchFamily="34" charset="-120"/>
              </a:rPr>
              <a:t>&lt; 10 s</a:t>
            </a:r>
            <a:endParaRPr lang="en-US" sz="1400" dirty="0"/>
          </a:p>
        </p:txBody>
      </p:sp>
      <p:sp>
        <p:nvSpPr>
          <p:cNvPr id="6" name="Text 3"/>
          <p:cNvSpPr/>
          <p:nvPr/>
        </p:nvSpPr>
        <p:spPr>
          <a:xfrm>
            <a:off x="571500" y="2421341"/>
            <a:ext cx="2514600" cy="155377"/>
          </a:xfrm>
          <a:prstGeom prst="rect">
            <a:avLst/>
          </a:prstGeom>
          <a:noFill/>
          <a:ln/>
        </p:spPr>
        <p:txBody>
          <a:bodyPr wrap="square" lIns="0" tIns="0" rIns="0" bIns="0" rtlCol="0" anchor="t">
            <a:spAutoFit/>
          </a:bodyPr>
          <a:lstStyle/>
          <a:p>
            <a:pPr algn="l" indent="0" marL="0">
              <a:buNone/>
            </a:pPr>
            <a:r>
              <a:rPr lang="en-US" sz="900" b="1" spc="1" kern="0" dirty="0">
                <a:solidFill>
                  <a:srgbClr val="0F172A"/>
                </a:solidFill>
                <a:latin typeface="Inter Bold" pitchFamily="34" charset="0"/>
                <a:ea typeface="Inter Bold" pitchFamily="34" charset="-122"/>
                <a:cs typeface="Inter Bold" pitchFamily="34" charset="-120"/>
              </a:rPr>
              <a:t>IGNORE</a:t>
            </a:r>
            <a:endParaRPr lang="en-US" sz="900" dirty="0"/>
          </a:p>
        </p:txBody>
      </p:sp>
      <p:sp>
        <p:nvSpPr>
          <p:cNvPr id="7" name="Shape 4"/>
          <p:cNvSpPr/>
          <p:nvPr/>
        </p:nvSpPr>
        <p:spPr>
          <a:xfrm>
            <a:off x="571500" y="2748167"/>
            <a:ext cx="57150" cy="57150"/>
          </a:xfrm>
          <a:prstGeom prst="ellipse">
            <a:avLst/>
          </a:prstGeom>
          <a:solidFill>
            <a:srgbClr val="94A3B8"/>
          </a:solidFill>
          <a:ln/>
        </p:spPr>
      </p:sp>
      <p:sp>
        <p:nvSpPr>
          <p:cNvPr id="8" name="Text 5"/>
          <p:cNvSpPr/>
          <p:nvPr/>
        </p:nvSpPr>
        <p:spPr>
          <a:xfrm>
            <a:off x="571500" y="2691017"/>
            <a:ext cx="2514600" cy="171450"/>
          </a:xfrm>
          <a:prstGeom prst="rect">
            <a:avLst/>
          </a:prstGeom>
          <a:noFill/>
          <a:ln/>
        </p:spPr>
        <p:txBody>
          <a:bodyPr wrap="none" lIns="170053" tIns="0" rIns="0" bIns="0" rtlCol="0" anchor="t">
            <a:spAutoFit/>
          </a:bodyPr>
          <a:lstStyle/>
          <a:p>
            <a:pPr algn="l" indent="0" marL="0">
              <a:lnSpc>
                <a:spcPct val="128000"/>
              </a:lnSpc>
              <a:buNone/>
            </a:pPr>
            <a:r>
              <a:rPr lang="en-US" sz="800" dirty="0">
                <a:solidFill>
                  <a:srgbClr val="334155"/>
                </a:solidFill>
                <a:latin typeface="Inter" pitchFamily="34" charset="0"/>
                <a:ea typeface="Inter" pitchFamily="34" charset="-122"/>
                <a:cs typeface="Inter" pitchFamily="34" charset="-120"/>
              </a:rPr>
              <a:t>No behavior change</a:t>
            </a:r>
            <a:endParaRPr lang="en-US" sz="800" dirty="0"/>
          </a:p>
        </p:txBody>
      </p:sp>
      <p:sp>
        <p:nvSpPr>
          <p:cNvPr id="9" name="Shape 6"/>
          <p:cNvSpPr/>
          <p:nvPr/>
        </p:nvSpPr>
        <p:spPr>
          <a:xfrm>
            <a:off x="571500" y="3005342"/>
            <a:ext cx="57150" cy="57150"/>
          </a:xfrm>
          <a:prstGeom prst="ellipse">
            <a:avLst/>
          </a:prstGeom>
          <a:solidFill>
            <a:srgbClr val="94A3B8"/>
          </a:solidFill>
          <a:ln/>
        </p:spPr>
      </p:sp>
      <p:sp>
        <p:nvSpPr>
          <p:cNvPr id="10" name="Text 7"/>
          <p:cNvSpPr/>
          <p:nvPr/>
        </p:nvSpPr>
        <p:spPr>
          <a:xfrm>
            <a:off x="571500" y="2948192"/>
            <a:ext cx="2514600" cy="171450"/>
          </a:xfrm>
          <a:prstGeom prst="rect">
            <a:avLst/>
          </a:prstGeom>
          <a:noFill/>
          <a:ln/>
        </p:spPr>
        <p:txBody>
          <a:bodyPr wrap="none" lIns="170053" tIns="0" rIns="0" bIns="0" rtlCol="0" anchor="t">
            <a:spAutoFit/>
          </a:bodyPr>
          <a:lstStyle/>
          <a:p>
            <a:pPr algn="l" indent="0" marL="0">
              <a:lnSpc>
                <a:spcPct val="128000"/>
              </a:lnSpc>
              <a:buNone/>
            </a:pPr>
            <a:r>
              <a:rPr lang="en-US" sz="800" dirty="0">
                <a:solidFill>
                  <a:srgbClr val="334155"/>
                </a:solidFill>
                <a:latin typeface="Inter" pitchFamily="34" charset="0"/>
                <a:ea typeface="Inter" pitchFamily="34" charset="-122"/>
                <a:cs typeface="Inter" pitchFamily="34" charset="-120"/>
              </a:rPr>
              <a:t>Treated as normal link noise</a:t>
            </a:r>
            <a:endParaRPr lang="en-US" sz="800" dirty="0"/>
          </a:p>
        </p:txBody>
      </p:sp>
      <p:sp>
        <p:nvSpPr>
          <p:cNvPr id="11" name="Text 8"/>
          <p:cNvSpPr/>
          <p:nvPr/>
        </p:nvSpPr>
        <p:spPr>
          <a:xfrm>
            <a:off x="3314700" y="2040936"/>
            <a:ext cx="2514600" cy="266105"/>
          </a:xfrm>
          <a:prstGeom prst="rect">
            <a:avLst/>
          </a:prstGeom>
          <a:noFill/>
          <a:ln/>
        </p:spPr>
        <p:txBody>
          <a:bodyPr wrap="square" lIns="0" tIns="0" rIns="0" bIns="0" rtlCol="0" anchor="t">
            <a:spAutoFit/>
          </a:bodyPr>
          <a:lstStyle/>
          <a:p>
            <a:pPr algn="l" indent="0" marL="0">
              <a:buNone/>
            </a:pPr>
            <a:r>
              <a:rPr lang="en-US" sz="1400" b="1" dirty="0">
                <a:solidFill>
                  <a:srgbClr val="991B1B"/>
                </a:solidFill>
                <a:latin typeface="Playfair Display ExtraBold" pitchFamily="34" charset="0"/>
                <a:ea typeface="Playfair Display ExtraBold" pitchFamily="34" charset="-122"/>
                <a:cs typeface="Playfair Display ExtraBold" pitchFamily="34" charset="-120"/>
              </a:rPr>
              <a:t>10 s – 2 min</a:t>
            </a:r>
            <a:endParaRPr lang="en-US" sz="1400" dirty="0"/>
          </a:p>
        </p:txBody>
      </p:sp>
      <p:sp>
        <p:nvSpPr>
          <p:cNvPr id="12" name="Text 9"/>
          <p:cNvSpPr/>
          <p:nvPr/>
        </p:nvSpPr>
        <p:spPr>
          <a:xfrm>
            <a:off x="3314700" y="2421341"/>
            <a:ext cx="2514600" cy="155377"/>
          </a:xfrm>
          <a:prstGeom prst="rect">
            <a:avLst/>
          </a:prstGeom>
          <a:noFill/>
          <a:ln/>
        </p:spPr>
        <p:txBody>
          <a:bodyPr wrap="square" lIns="0" tIns="0" rIns="0" bIns="0" rtlCol="0" anchor="t">
            <a:spAutoFit/>
          </a:bodyPr>
          <a:lstStyle/>
          <a:p>
            <a:pPr algn="l" indent="0" marL="0">
              <a:buNone/>
            </a:pPr>
            <a:r>
              <a:rPr lang="en-US" sz="900" b="1" spc="1" kern="0" dirty="0">
                <a:solidFill>
                  <a:srgbClr val="0F172A"/>
                </a:solidFill>
                <a:latin typeface="Inter Bold" pitchFamily="34" charset="0"/>
                <a:ea typeface="Inter Bold" pitchFamily="34" charset="-122"/>
                <a:cs typeface="Inter Bold" pitchFamily="34" charset="-120"/>
              </a:rPr>
              <a:t>DEGRADED MODE</a:t>
            </a:r>
            <a:endParaRPr lang="en-US" sz="900" dirty="0"/>
          </a:p>
        </p:txBody>
      </p:sp>
      <p:sp>
        <p:nvSpPr>
          <p:cNvPr id="13" name="Shape 10"/>
          <p:cNvSpPr/>
          <p:nvPr/>
        </p:nvSpPr>
        <p:spPr>
          <a:xfrm>
            <a:off x="3314700" y="2748167"/>
            <a:ext cx="57150" cy="57150"/>
          </a:xfrm>
          <a:prstGeom prst="ellipse">
            <a:avLst/>
          </a:prstGeom>
          <a:solidFill>
            <a:srgbClr val="991B1B"/>
          </a:solidFill>
          <a:ln/>
        </p:spPr>
      </p:sp>
      <p:sp>
        <p:nvSpPr>
          <p:cNvPr id="14" name="Text 11"/>
          <p:cNvSpPr/>
          <p:nvPr/>
        </p:nvSpPr>
        <p:spPr>
          <a:xfrm>
            <a:off x="3314700" y="2691017"/>
            <a:ext cx="2514600" cy="171450"/>
          </a:xfrm>
          <a:prstGeom prst="rect">
            <a:avLst/>
          </a:prstGeom>
          <a:noFill/>
          <a:ln/>
        </p:spPr>
        <p:txBody>
          <a:bodyPr wrap="none" lIns="170053" tIns="0" rIns="0" bIns="0" rtlCol="0" anchor="t">
            <a:spAutoFit/>
          </a:bodyPr>
          <a:lstStyle/>
          <a:p>
            <a:pPr algn="l" indent="0" marL="0">
              <a:lnSpc>
                <a:spcPct val="128000"/>
              </a:lnSpc>
              <a:buNone/>
            </a:pPr>
            <a:r>
              <a:rPr lang="en-US" sz="800" dirty="0">
                <a:solidFill>
                  <a:srgbClr val="334155"/>
                </a:solidFill>
                <a:latin typeface="Inter" pitchFamily="34" charset="0"/>
                <a:ea typeface="Inter" pitchFamily="34" charset="-122"/>
                <a:cs typeface="Inter" pitchFamily="34" charset="-120"/>
              </a:rPr>
              <a:t>Enter degraded autonomous mode</a:t>
            </a:r>
            <a:endParaRPr lang="en-US" sz="800" dirty="0"/>
          </a:p>
        </p:txBody>
      </p:sp>
      <p:sp>
        <p:nvSpPr>
          <p:cNvPr id="15" name="Shape 12"/>
          <p:cNvSpPr/>
          <p:nvPr/>
        </p:nvSpPr>
        <p:spPr>
          <a:xfrm>
            <a:off x="3314700" y="3005342"/>
            <a:ext cx="57150" cy="57150"/>
          </a:xfrm>
          <a:prstGeom prst="ellipse">
            <a:avLst/>
          </a:prstGeom>
          <a:solidFill>
            <a:srgbClr val="991B1B"/>
          </a:solidFill>
          <a:ln/>
        </p:spPr>
      </p:sp>
      <p:sp>
        <p:nvSpPr>
          <p:cNvPr id="16" name="Text 13"/>
          <p:cNvSpPr/>
          <p:nvPr/>
        </p:nvSpPr>
        <p:spPr>
          <a:xfrm>
            <a:off x="3314700" y="2948192"/>
            <a:ext cx="2514600" cy="171450"/>
          </a:xfrm>
          <a:prstGeom prst="rect">
            <a:avLst/>
          </a:prstGeom>
          <a:noFill/>
          <a:ln/>
        </p:spPr>
        <p:txBody>
          <a:bodyPr wrap="none" lIns="170053" tIns="0" rIns="0" bIns="0" rtlCol="0" anchor="t">
            <a:spAutoFit/>
          </a:bodyPr>
          <a:lstStyle/>
          <a:p>
            <a:pPr algn="l" indent="0" marL="0">
              <a:lnSpc>
                <a:spcPct val="128000"/>
              </a:lnSpc>
              <a:buNone/>
            </a:pPr>
            <a:r>
              <a:rPr lang="en-US" sz="800" dirty="0">
                <a:solidFill>
                  <a:srgbClr val="334155"/>
                </a:solidFill>
                <a:latin typeface="Inter" pitchFamily="34" charset="0"/>
                <a:ea typeface="Inter" pitchFamily="34" charset="-122"/>
                <a:cs typeface="Inter" pitchFamily="34" charset="-120"/>
              </a:rPr>
              <a:t>Increase reconnection attempt rate</a:t>
            </a:r>
            <a:endParaRPr lang="en-US" sz="800" dirty="0"/>
          </a:p>
        </p:txBody>
      </p:sp>
      <p:sp>
        <p:nvSpPr>
          <p:cNvPr id="17" name="Shape 14"/>
          <p:cNvSpPr/>
          <p:nvPr/>
        </p:nvSpPr>
        <p:spPr>
          <a:xfrm>
            <a:off x="3314700" y="3262517"/>
            <a:ext cx="57150" cy="57150"/>
          </a:xfrm>
          <a:prstGeom prst="ellipse">
            <a:avLst/>
          </a:prstGeom>
          <a:solidFill>
            <a:srgbClr val="991B1B"/>
          </a:solidFill>
          <a:ln/>
        </p:spPr>
      </p:sp>
      <p:sp>
        <p:nvSpPr>
          <p:cNvPr id="18" name="Text 15"/>
          <p:cNvSpPr/>
          <p:nvPr/>
        </p:nvSpPr>
        <p:spPr>
          <a:xfrm>
            <a:off x="3314700" y="3205367"/>
            <a:ext cx="2514600" cy="342900"/>
          </a:xfrm>
          <a:prstGeom prst="rect">
            <a:avLst/>
          </a:prstGeom>
          <a:noFill/>
          <a:ln/>
        </p:spPr>
        <p:txBody>
          <a:bodyPr wrap="square" lIns="170053" tIns="0" rIns="0" bIns="0" rtlCol="0" anchor="t">
            <a:spAutoFit/>
          </a:bodyPr>
          <a:lstStyle/>
          <a:p>
            <a:pPr algn="l" indent="0" marL="0">
              <a:lnSpc>
                <a:spcPct val="128000"/>
              </a:lnSpc>
              <a:buNone/>
            </a:pPr>
            <a:r>
              <a:rPr lang="en-US" sz="800" dirty="0">
                <a:solidFill>
                  <a:srgbClr val="334155"/>
                </a:solidFill>
                <a:latin typeface="Inter" pitchFamily="34" charset="0"/>
                <a:ea typeface="Inter" pitchFamily="34" charset="-122"/>
                <a:cs typeface="Inter" pitchFamily="34" charset="-120"/>
              </a:rPr>
              <a:t>Reduce telemetry/logging rate to conserve link budget</a:t>
            </a:r>
            <a:endParaRPr lang="en-US" sz="800" dirty="0"/>
          </a:p>
        </p:txBody>
      </p:sp>
      <p:sp>
        <p:nvSpPr>
          <p:cNvPr id="19" name="Shape 16"/>
          <p:cNvSpPr/>
          <p:nvPr/>
        </p:nvSpPr>
        <p:spPr>
          <a:xfrm>
            <a:off x="3314700" y="3691142"/>
            <a:ext cx="57150" cy="57150"/>
          </a:xfrm>
          <a:prstGeom prst="ellipse">
            <a:avLst/>
          </a:prstGeom>
          <a:solidFill>
            <a:srgbClr val="991B1B"/>
          </a:solidFill>
          <a:ln/>
        </p:spPr>
      </p:sp>
      <p:sp>
        <p:nvSpPr>
          <p:cNvPr id="20" name="Text 17"/>
          <p:cNvSpPr/>
          <p:nvPr/>
        </p:nvSpPr>
        <p:spPr>
          <a:xfrm>
            <a:off x="3314700" y="3633992"/>
            <a:ext cx="2514600" cy="171450"/>
          </a:xfrm>
          <a:prstGeom prst="rect">
            <a:avLst/>
          </a:prstGeom>
          <a:noFill/>
          <a:ln/>
        </p:spPr>
        <p:txBody>
          <a:bodyPr wrap="none" lIns="170053" tIns="0" rIns="0" bIns="0" rtlCol="0" anchor="t">
            <a:spAutoFit/>
          </a:bodyPr>
          <a:lstStyle/>
          <a:p>
            <a:pPr algn="l" indent="0" marL="0">
              <a:lnSpc>
                <a:spcPct val="128000"/>
              </a:lnSpc>
              <a:buNone/>
            </a:pPr>
            <a:r>
              <a:rPr lang="en-US" sz="800" dirty="0">
                <a:solidFill>
                  <a:srgbClr val="334155"/>
                </a:solidFill>
                <a:latin typeface="Inter" pitchFamily="34" charset="0"/>
                <a:ea typeface="Inter" pitchFamily="34" charset="-122"/>
                <a:cs typeface="Inter" pitchFamily="34" charset="-120"/>
              </a:rPr>
              <a:t>Continue current phase behavior</a:t>
            </a:r>
            <a:endParaRPr lang="en-US" sz="800" dirty="0"/>
          </a:p>
        </p:txBody>
      </p:sp>
      <p:sp>
        <p:nvSpPr>
          <p:cNvPr id="21" name="Text 18"/>
          <p:cNvSpPr/>
          <p:nvPr/>
        </p:nvSpPr>
        <p:spPr>
          <a:xfrm>
            <a:off x="6057900" y="2040936"/>
            <a:ext cx="2514600" cy="266105"/>
          </a:xfrm>
          <a:prstGeom prst="rect">
            <a:avLst/>
          </a:prstGeom>
          <a:noFill/>
          <a:ln/>
        </p:spPr>
        <p:txBody>
          <a:bodyPr wrap="square" lIns="0" tIns="0" rIns="0" bIns="0" rtlCol="0" anchor="t">
            <a:spAutoFit/>
          </a:bodyPr>
          <a:lstStyle/>
          <a:p>
            <a:pPr algn="l" indent="0" marL="0">
              <a:buNone/>
            </a:pPr>
            <a:r>
              <a:rPr lang="en-US" sz="1400" b="1" dirty="0">
                <a:solidFill>
                  <a:srgbClr val="0F172A"/>
                </a:solidFill>
                <a:latin typeface="Playfair Display ExtraBold" pitchFamily="34" charset="0"/>
                <a:ea typeface="Playfair Display ExtraBold" pitchFamily="34" charset="-122"/>
                <a:cs typeface="Playfair Display ExtraBold" pitchFamily="34" charset="-120"/>
              </a:rPr>
              <a:t>&gt; 2 min</a:t>
            </a:r>
            <a:endParaRPr lang="en-US" sz="1400" dirty="0"/>
          </a:p>
        </p:txBody>
      </p:sp>
      <p:sp>
        <p:nvSpPr>
          <p:cNvPr id="22" name="Text 19"/>
          <p:cNvSpPr/>
          <p:nvPr/>
        </p:nvSpPr>
        <p:spPr>
          <a:xfrm>
            <a:off x="6057900" y="2421341"/>
            <a:ext cx="2514600" cy="155377"/>
          </a:xfrm>
          <a:prstGeom prst="rect">
            <a:avLst/>
          </a:prstGeom>
          <a:noFill/>
          <a:ln/>
        </p:spPr>
        <p:txBody>
          <a:bodyPr wrap="square" lIns="0" tIns="0" rIns="0" bIns="0" rtlCol="0" anchor="t">
            <a:spAutoFit/>
          </a:bodyPr>
          <a:lstStyle/>
          <a:p>
            <a:pPr algn="l" indent="0" marL="0">
              <a:buNone/>
            </a:pPr>
            <a:r>
              <a:rPr lang="en-US" sz="900" b="1" spc="1" kern="0" dirty="0">
                <a:solidFill>
                  <a:srgbClr val="0F172A"/>
                </a:solidFill>
                <a:latin typeface="Inter Bold" pitchFamily="34" charset="0"/>
                <a:ea typeface="Inter Bold" pitchFamily="34" charset="-122"/>
                <a:cs typeface="Inter Bold" pitchFamily="34" charset="-120"/>
              </a:rPr>
              <a:t>ESCALATE</a:t>
            </a:r>
            <a:endParaRPr lang="en-US" sz="900" dirty="0"/>
          </a:p>
        </p:txBody>
      </p:sp>
      <p:sp>
        <p:nvSpPr>
          <p:cNvPr id="23" name="Shape 20"/>
          <p:cNvSpPr/>
          <p:nvPr/>
        </p:nvSpPr>
        <p:spPr>
          <a:xfrm>
            <a:off x="6057900" y="2748167"/>
            <a:ext cx="57150" cy="57150"/>
          </a:xfrm>
          <a:prstGeom prst="ellipse">
            <a:avLst/>
          </a:prstGeom>
          <a:solidFill>
            <a:srgbClr val="94A3B8"/>
          </a:solidFill>
          <a:ln/>
        </p:spPr>
      </p:sp>
      <p:sp>
        <p:nvSpPr>
          <p:cNvPr id="24" name="Text 21"/>
          <p:cNvSpPr/>
          <p:nvPr/>
        </p:nvSpPr>
        <p:spPr>
          <a:xfrm>
            <a:off x="6057900" y="2691017"/>
            <a:ext cx="2514600" cy="171450"/>
          </a:xfrm>
          <a:prstGeom prst="rect">
            <a:avLst/>
          </a:prstGeom>
          <a:noFill/>
          <a:ln/>
        </p:spPr>
        <p:txBody>
          <a:bodyPr wrap="none" lIns="170053" tIns="0" rIns="0" bIns="0" rtlCol="0" anchor="t">
            <a:spAutoFit/>
          </a:bodyPr>
          <a:lstStyle/>
          <a:p>
            <a:pPr algn="l" indent="0" marL="0">
              <a:lnSpc>
                <a:spcPct val="128000"/>
              </a:lnSpc>
              <a:buNone/>
            </a:pPr>
            <a:r>
              <a:rPr lang="en-US" sz="800" dirty="0">
                <a:solidFill>
                  <a:srgbClr val="334155"/>
                </a:solidFill>
                <a:latin typeface="Inter" pitchFamily="34" charset="0"/>
                <a:ea typeface="Inter" pitchFamily="34" charset="-122"/>
                <a:cs typeface="Inter" pitchFamily="34" charset="-120"/>
              </a:rPr>
              <a:t>Re-evaluate current phase decision</a:t>
            </a:r>
            <a:endParaRPr lang="en-US" sz="800" dirty="0"/>
          </a:p>
        </p:txBody>
      </p:sp>
      <p:sp>
        <p:nvSpPr>
          <p:cNvPr id="25" name="Shape 22"/>
          <p:cNvSpPr/>
          <p:nvPr/>
        </p:nvSpPr>
        <p:spPr>
          <a:xfrm>
            <a:off x="6057900" y="3005342"/>
            <a:ext cx="57150" cy="57150"/>
          </a:xfrm>
          <a:prstGeom prst="ellipse">
            <a:avLst/>
          </a:prstGeom>
          <a:solidFill>
            <a:srgbClr val="94A3B8"/>
          </a:solidFill>
          <a:ln/>
        </p:spPr>
      </p:sp>
      <p:sp>
        <p:nvSpPr>
          <p:cNvPr id="26" name="Text 23"/>
          <p:cNvSpPr/>
          <p:nvPr/>
        </p:nvSpPr>
        <p:spPr>
          <a:xfrm>
            <a:off x="6057900" y="2948192"/>
            <a:ext cx="2514600" cy="171450"/>
          </a:xfrm>
          <a:prstGeom prst="rect">
            <a:avLst/>
          </a:prstGeom>
          <a:noFill/>
          <a:ln/>
        </p:spPr>
        <p:txBody>
          <a:bodyPr wrap="none" lIns="170053" tIns="0" rIns="0" bIns="0" rtlCol="0" anchor="t">
            <a:spAutoFit/>
          </a:bodyPr>
          <a:lstStyle/>
          <a:p>
            <a:pPr algn="l" indent="0" marL="0">
              <a:lnSpc>
                <a:spcPct val="128000"/>
              </a:lnSpc>
              <a:buNone/>
            </a:pPr>
            <a:r>
              <a:rPr lang="en-US" sz="800" dirty="0">
                <a:solidFill>
                  <a:srgbClr val="334155"/>
                </a:solidFill>
                <a:latin typeface="Inter" pitchFamily="34" charset="0"/>
                <a:ea typeface="Inter" pitchFamily="34" charset="-122"/>
                <a:cs typeface="Inter" pitchFamily="34" charset="-120"/>
              </a:rPr>
              <a:t>Abandon further search expansion</a:t>
            </a:r>
            <a:endParaRPr lang="en-US" sz="800" dirty="0"/>
          </a:p>
        </p:txBody>
      </p:sp>
      <p:sp>
        <p:nvSpPr>
          <p:cNvPr id="27" name="Shape 24"/>
          <p:cNvSpPr/>
          <p:nvPr/>
        </p:nvSpPr>
        <p:spPr>
          <a:xfrm>
            <a:off x="6057900" y="3262517"/>
            <a:ext cx="57150" cy="57150"/>
          </a:xfrm>
          <a:prstGeom prst="ellipse">
            <a:avLst/>
          </a:prstGeom>
          <a:solidFill>
            <a:srgbClr val="94A3B8"/>
          </a:solidFill>
          <a:ln/>
        </p:spPr>
      </p:sp>
      <p:sp>
        <p:nvSpPr>
          <p:cNvPr id="28" name="Text 25"/>
          <p:cNvSpPr/>
          <p:nvPr/>
        </p:nvSpPr>
        <p:spPr>
          <a:xfrm>
            <a:off x="6057900" y="3205367"/>
            <a:ext cx="2514600" cy="342900"/>
          </a:xfrm>
          <a:prstGeom prst="rect">
            <a:avLst/>
          </a:prstGeom>
          <a:noFill/>
          <a:ln/>
        </p:spPr>
        <p:txBody>
          <a:bodyPr wrap="square" lIns="170053" tIns="0" rIns="0" bIns="0" rtlCol="0" anchor="t">
            <a:spAutoFit/>
          </a:bodyPr>
          <a:lstStyle/>
          <a:p>
            <a:pPr algn="l" indent="0" marL="0">
              <a:lnSpc>
                <a:spcPct val="128000"/>
              </a:lnSpc>
              <a:buNone/>
            </a:pPr>
            <a:r>
              <a:rPr lang="en-US" sz="800" dirty="0">
                <a:solidFill>
                  <a:srgbClr val="334155"/>
                </a:solidFill>
                <a:latin typeface="Inter" pitchFamily="34" charset="0"/>
                <a:ea typeface="Inter" pitchFamily="34" charset="-122"/>
                <a:cs typeface="Inter" pitchFamily="34" charset="-120"/>
              </a:rPr>
              <a:t>Transition toward return or hold per decision frameworks</a:t>
            </a:r>
            <a:endParaRPr lang="en-US" sz="800" dirty="0"/>
          </a:p>
        </p:txBody>
      </p:sp>
      <p:sp>
        <p:nvSpPr>
          <p:cNvPr id="29" name="Shape 26"/>
          <p:cNvSpPr/>
          <p:nvPr/>
        </p:nvSpPr>
        <p:spPr>
          <a:xfrm>
            <a:off x="571500" y="4234067"/>
            <a:ext cx="8001000" cy="585788"/>
          </a:xfrm>
          <a:prstGeom prst="rect">
            <a:avLst/>
          </a:prstGeom>
          <a:solidFill>
            <a:srgbClr val="E2E8F0"/>
          </a:solidFill>
          <a:ln/>
        </p:spPr>
      </p:sp>
      <p:sp>
        <p:nvSpPr>
          <p:cNvPr id="30" name="Shape 27"/>
          <p:cNvSpPr/>
          <p:nvPr/>
        </p:nvSpPr>
        <p:spPr>
          <a:xfrm>
            <a:off x="571500" y="4234067"/>
            <a:ext cx="28575" cy="585788"/>
          </a:xfrm>
          <a:prstGeom prst="rect">
            <a:avLst/>
          </a:prstGeom>
          <a:solidFill>
            <a:srgbClr val="64748B"/>
          </a:solidFill>
          <a:ln/>
        </p:spPr>
      </p:sp>
      <p:sp>
        <p:nvSpPr>
          <p:cNvPr id="31" name="Text 28"/>
          <p:cNvSpPr/>
          <p:nvPr/>
        </p:nvSpPr>
        <p:spPr>
          <a:xfrm>
            <a:off x="714375" y="4376942"/>
            <a:ext cx="7715250" cy="300038"/>
          </a:xfrm>
          <a:prstGeom prst="rect">
            <a:avLst/>
          </a:prstGeom>
          <a:noFill/>
          <a:ln/>
        </p:spPr>
        <p:txBody>
          <a:bodyPr wrap="square" lIns="0" tIns="0" rIns="0" bIns="0" rtlCol="0" anchor="t">
            <a:spAutoFit/>
          </a:bodyPr>
          <a:lstStyle/>
          <a:p>
            <a:pPr algn="l" indent="0" marL="0">
              <a:lnSpc>
                <a:spcPct val="120000"/>
              </a:lnSpc>
              <a:buNone/>
            </a:pPr>
            <a:r>
              <a:rPr lang="en-US" sz="750" i="1" dirty="0">
                <a:solidFill>
                  <a:srgbClr val="334155"/>
                </a:solidFill>
                <a:latin typeface="Inter" pitchFamily="34" charset="0"/>
                <a:ea typeface="Inter" pitchFamily="34" charset="-122"/>
                <a:cs typeface="Inter" pitchFamily="34" charset="-120"/>
              </a:rPr>
              <a:t>Note: The exact thresholds above are a starting proposal, not tuned values — they should be calibrated against the actual radio hardware's real-world dropout distribution during field testing before being treated as final.</a:t>
            </a:r>
            <a:endParaRPr lang="en-US" sz="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571500" y="342900"/>
            <a:ext cx="8001000" cy="360759"/>
          </a:xfrm>
          <a:prstGeom prst="rect">
            <a:avLst/>
          </a:prstGeom>
          <a:noFill/>
          <a:ln/>
        </p:spPr>
        <p:txBody>
          <a:bodyPr wrap="square" lIns="0" tIns="0" rIns="0" bIns="0" rtlCol="0" anchor="t">
            <a:spAutoFit/>
          </a:bodyPr>
          <a:lstStyle/>
          <a:p>
            <a:pPr algn="l" indent="0" marL="0">
              <a:buNone/>
            </a:pPr>
            <a:r>
              <a:rPr lang="en-US" sz="1900" b="1" dirty="0">
                <a:solidFill>
                  <a:srgbClr val="0F172A"/>
                </a:solidFill>
                <a:latin typeface="Playfair Display ExtraBold" pitchFamily="34" charset="0"/>
                <a:ea typeface="Playfair Display ExtraBold" pitchFamily="34" charset="-122"/>
                <a:cs typeface="Playfair Display ExtraBold" pitchFamily="34" charset="-120"/>
              </a:rPr>
              <a:t>AI Integration Patterns</a:t>
            </a:r>
            <a:endParaRPr lang="en-US" sz="1900" dirty="0"/>
          </a:p>
        </p:txBody>
      </p:sp>
      <p:sp>
        <p:nvSpPr>
          <p:cNvPr id="4" name="Text 1"/>
          <p:cNvSpPr/>
          <p:nvPr/>
        </p:nvSpPr>
        <p:spPr>
          <a:xfrm>
            <a:off x="571500" y="1103709"/>
            <a:ext cx="4204962" cy="365727"/>
          </a:xfrm>
          <a:prstGeom prst="rect">
            <a:avLst/>
          </a:prstGeom>
          <a:noFill/>
          <a:ln/>
        </p:spPr>
        <p:txBody>
          <a:bodyPr wrap="square" lIns="0" tIns="0" rIns="0" bIns="0" rtlCol="0" anchor="t">
            <a:spAutoFit/>
          </a:bodyPr>
          <a:lstStyle/>
          <a:p>
            <a:pPr algn="l" indent="0" marL="0">
              <a:lnSpc>
                <a:spcPct val="128000"/>
              </a:lnSpc>
              <a:buNone/>
            </a:pPr>
            <a:r>
              <a:rPr lang="en-US" sz="850" dirty="0">
                <a:solidFill>
                  <a:srgbClr val="334155"/>
                </a:solidFill>
                <a:latin typeface="Inter" pitchFamily="34" charset="0"/>
                <a:ea typeface="Inter" pitchFamily="34" charset="-122"/>
                <a:cs typeface="Inter" pitchFamily="34" charset="-120"/>
              </a:rPr>
              <a:t>The architecture supports five core AI functions that communicate with PX4 through standardized ROS 2 topics.</a:t>
            </a:r>
            <a:endParaRPr lang="en-US" sz="850" dirty="0"/>
          </a:p>
        </p:txBody>
      </p:sp>
      <p:sp>
        <p:nvSpPr>
          <p:cNvPr id="5" name="Shape 2"/>
          <p:cNvSpPr/>
          <p:nvPr/>
        </p:nvSpPr>
        <p:spPr>
          <a:xfrm>
            <a:off x="571500" y="1712323"/>
            <a:ext cx="228600" cy="228600"/>
          </a:xfrm>
          <a:prstGeom prst="ellipse">
            <a:avLst/>
          </a:prstGeom>
          <a:solidFill>
            <a:srgbClr val="991B1B"/>
          </a:solidFill>
          <a:ln/>
        </p:spPr>
      </p:sp>
      <p:sp>
        <p:nvSpPr>
          <p:cNvPr id="6" name="Text 3"/>
          <p:cNvSpPr/>
          <p:nvPr/>
        </p:nvSpPr>
        <p:spPr>
          <a:xfrm>
            <a:off x="571500" y="1712323"/>
            <a:ext cx="228600" cy="228600"/>
          </a:xfrm>
          <a:prstGeom prst="rect">
            <a:avLst/>
          </a:prstGeom>
          <a:noFill/>
          <a:ln/>
        </p:spPr>
        <p:txBody>
          <a:bodyPr wrap="none" lIns="0" tIns="0" rIns="0" bIns="0" rtlCol="0" anchor="ctr">
            <a:spAutoFit/>
          </a:bodyPr>
          <a:lstStyle/>
          <a:p>
            <a:pPr algn="ctr" indent="0" marL="0">
              <a:buNone/>
            </a:pPr>
            <a:r>
              <a:rPr lang="en-US" sz="900" b="1" dirty="0">
                <a:solidFill>
                  <a:srgbClr val="F8FAFC"/>
                </a:solidFill>
                <a:latin typeface="Playfair Display ExtraBold" pitchFamily="34" charset="0"/>
                <a:ea typeface="Playfair Display ExtraBold" pitchFamily="34" charset="-122"/>
                <a:cs typeface="Playfair Display ExtraBold" pitchFamily="34" charset="-120"/>
              </a:rPr>
              <a:t>1</a:t>
            </a:r>
            <a:endParaRPr lang="en-US" sz="900" dirty="0"/>
          </a:p>
        </p:txBody>
      </p:sp>
      <p:sp>
        <p:nvSpPr>
          <p:cNvPr id="7" name="Text 4"/>
          <p:cNvSpPr/>
          <p:nvPr/>
        </p:nvSpPr>
        <p:spPr>
          <a:xfrm>
            <a:off x="942975" y="1698036"/>
            <a:ext cx="3833487" cy="155377"/>
          </a:xfrm>
          <a:prstGeom prst="rect">
            <a:avLst/>
          </a:prstGeom>
          <a:noFill/>
          <a:ln/>
        </p:spPr>
        <p:txBody>
          <a:bodyPr wrap="square" lIns="0" tIns="0" rIns="0" bIns="0" rtlCol="0" anchor="t">
            <a:spAutoFit/>
          </a:bodyPr>
          <a:lstStyle/>
          <a:p>
            <a:pPr algn="l" indent="0" marL="0">
              <a:buNone/>
            </a:pPr>
            <a:r>
              <a:rPr lang="en-US" sz="900" b="1" dirty="0">
                <a:solidFill>
                  <a:srgbClr val="0F172A"/>
                </a:solidFill>
                <a:latin typeface="Inter Bold" pitchFamily="34" charset="0"/>
                <a:ea typeface="Inter Bold" pitchFamily="34" charset="-122"/>
                <a:cs typeface="Inter Bold" pitchFamily="34" charset="-120"/>
              </a:rPr>
              <a:t>Natural Language Command</a:t>
            </a:r>
            <a:endParaRPr lang="en-US" sz="900" dirty="0"/>
          </a:p>
        </p:txBody>
      </p:sp>
      <p:sp>
        <p:nvSpPr>
          <p:cNvPr id="8" name="Text 5"/>
          <p:cNvSpPr/>
          <p:nvPr/>
        </p:nvSpPr>
        <p:spPr>
          <a:xfrm>
            <a:off x="942975" y="1896275"/>
            <a:ext cx="3833487" cy="320018"/>
          </a:xfrm>
          <a:prstGeom prst="rect">
            <a:avLst/>
          </a:prstGeom>
          <a:noFill/>
          <a:ln/>
        </p:spPr>
        <p:txBody>
          <a:bodyPr wrap="square" lIns="0" tIns="0" rIns="0" bIns="0" rtlCol="0" anchor="t">
            <a:spAutoFit/>
          </a:bodyPr>
          <a:lstStyle/>
          <a:p>
            <a:pPr algn="l" indent="0" marL="0">
              <a:lnSpc>
                <a:spcPct val="128000"/>
              </a:lnSpc>
              <a:buNone/>
            </a:pPr>
            <a:r>
              <a:rPr lang="en-US" sz="750" dirty="0">
                <a:solidFill>
                  <a:srgbClr val="334155"/>
                </a:solidFill>
                <a:latin typeface="Inter" pitchFamily="34" charset="0"/>
                <a:ea typeface="Inter" pitchFamily="34" charset="-122"/>
                <a:cs typeface="Inter" pitchFamily="34" charset="-120"/>
              </a:rPr>
              <a:t>LLM interprets speech/text into structured flight commands via TrajectorySetpoint.</a:t>
            </a:r>
            <a:endParaRPr lang="en-US" sz="750" dirty="0"/>
          </a:p>
        </p:txBody>
      </p:sp>
      <p:sp>
        <p:nvSpPr>
          <p:cNvPr id="9" name="Shape 6"/>
          <p:cNvSpPr/>
          <p:nvPr/>
        </p:nvSpPr>
        <p:spPr>
          <a:xfrm>
            <a:off x="571500" y="2402030"/>
            <a:ext cx="228600" cy="228600"/>
          </a:xfrm>
          <a:prstGeom prst="ellipse">
            <a:avLst/>
          </a:prstGeom>
          <a:solidFill>
            <a:srgbClr val="991B1B"/>
          </a:solidFill>
          <a:ln/>
        </p:spPr>
      </p:sp>
      <p:sp>
        <p:nvSpPr>
          <p:cNvPr id="10" name="Text 7"/>
          <p:cNvSpPr/>
          <p:nvPr/>
        </p:nvSpPr>
        <p:spPr>
          <a:xfrm>
            <a:off x="571500" y="2402030"/>
            <a:ext cx="228600" cy="228600"/>
          </a:xfrm>
          <a:prstGeom prst="rect">
            <a:avLst/>
          </a:prstGeom>
          <a:noFill/>
          <a:ln/>
        </p:spPr>
        <p:txBody>
          <a:bodyPr wrap="none" lIns="0" tIns="0" rIns="0" bIns="0" rtlCol="0" anchor="ctr">
            <a:spAutoFit/>
          </a:bodyPr>
          <a:lstStyle/>
          <a:p>
            <a:pPr algn="ctr" indent="0" marL="0">
              <a:buNone/>
            </a:pPr>
            <a:r>
              <a:rPr lang="en-US" sz="900" b="1" dirty="0">
                <a:solidFill>
                  <a:srgbClr val="F8FAFC"/>
                </a:solidFill>
                <a:latin typeface="Playfair Display ExtraBold" pitchFamily="34" charset="0"/>
                <a:ea typeface="Playfair Display ExtraBold" pitchFamily="34" charset="-122"/>
                <a:cs typeface="Playfair Display ExtraBold" pitchFamily="34" charset="-120"/>
              </a:rPr>
              <a:t>2</a:t>
            </a:r>
            <a:endParaRPr lang="en-US" sz="900" dirty="0"/>
          </a:p>
        </p:txBody>
      </p:sp>
      <p:sp>
        <p:nvSpPr>
          <p:cNvPr id="11" name="Text 8"/>
          <p:cNvSpPr/>
          <p:nvPr/>
        </p:nvSpPr>
        <p:spPr>
          <a:xfrm>
            <a:off x="942975" y="2387743"/>
            <a:ext cx="3833487" cy="155377"/>
          </a:xfrm>
          <a:prstGeom prst="rect">
            <a:avLst/>
          </a:prstGeom>
          <a:noFill/>
          <a:ln/>
        </p:spPr>
        <p:txBody>
          <a:bodyPr wrap="square" lIns="0" tIns="0" rIns="0" bIns="0" rtlCol="0" anchor="t">
            <a:spAutoFit/>
          </a:bodyPr>
          <a:lstStyle/>
          <a:p>
            <a:pPr algn="l" indent="0" marL="0">
              <a:buNone/>
            </a:pPr>
            <a:r>
              <a:rPr lang="en-US" sz="900" b="1" dirty="0">
                <a:solidFill>
                  <a:srgbClr val="0F172A"/>
                </a:solidFill>
                <a:latin typeface="Inter Bold" pitchFamily="34" charset="0"/>
                <a:ea typeface="Inter Bold" pitchFamily="34" charset="-122"/>
                <a:cs typeface="Inter Bold" pitchFamily="34" charset="-120"/>
              </a:rPr>
              <a:t>Computer Vision Navigation</a:t>
            </a:r>
            <a:endParaRPr lang="en-US" sz="900" dirty="0"/>
          </a:p>
        </p:txBody>
      </p:sp>
      <p:sp>
        <p:nvSpPr>
          <p:cNvPr id="12" name="Text 9"/>
          <p:cNvSpPr/>
          <p:nvPr/>
        </p:nvSpPr>
        <p:spPr>
          <a:xfrm>
            <a:off x="942975" y="2585982"/>
            <a:ext cx="3833487" cy="320018"/>
          </a:xfrm>
          <a:prstGeom prst="rect">
            <a:avLst/>
          </a:prstGeom>
          <a:noFill/>
          <a:ln/>
        </p:spPr>
        <p:txBody>
          <a:bodyPr wrap="square" lIns="0" tIns="0" rIns="0" bIns="0" rtlCol="0" anchor="t">
            <a:spAutoFit/>
          </a:bodyPr>
          <a:lstStyle/>
          <a:p>
            <a:pPr algn="l" indent="0" marL="0">
              <a:lnSpc>
                <a:spcPct val="128000"/>
              </a:lnSpc>
              <a:buNone/>
            </a:pPr>
            <a:r>
              <a:rPr lang="en-US" sz="750" dirty="0">
                <a:solidFill>
                  <a:srgbClr val="334155"/>
                </a:solidFill>
                <a:latin typeface="Inter" pitchFamily="34" charset="0"/>
                <a:ea typeface="Inter" pitchFamily="34" charset="-122"/>
                <a:cs typeface="Inter" pitchFamily="34" charset="-120"/>
              </a:rPr>
              <a:t>Detection models find obstacles/targets for path adjustment via TrajectorySetpoint.</a:t>
            </a:r>
            <a:endParaRPr lang="en-US" sz="750" dirty="0"/>
          </a:p>
        </p:txBody>
      </p:sp>
      <p:sp>
        <p:nvSpPr>
          <p:cNvPr id="13" name="Shape 10"/>
          <p:cNvSpPr/>
          <p:nvPr/>
        </p:nvSpPr>
        <p:spPr>
          <a:xfrm>
            <a:off x="571500" y="3091737"/>
            <a:ext cx="228600" cy="228600"/>
          </a:xfrm>
          <a:prstGeom prst="ellipse">
            <a:avLst/>
          </a:prstGeom>
          <a:solidFill>
            <a:srgbClr val="991B1B"/>
          </a:solidFill>
          <a:ln/>
        </p:spPr>
      </p:sp>
      <p:sp>
        <p:nvSpPr>
          <p:cNvPr id="14" name="Text 11"/>
          <p:cNvSpPr/>
          <p:nvPr/>
        </p:nvSpPr>
        <p:spPr>
          <a:xfrm>
            <a:off x="571500" y="3091737"/>
            <a:ext cx="228600" cy="228600"/>
          </a:xfrm>
          <a:prstGeom prst="rect">
            <a:avLst/>
          </a:prstGeom>
          <a:noFill/>
          <a:ln/>
        </p:spPr>
        <p:txBody>
          <a:bodyPr wrap="none" lIns="0" tIns="0" rIns="0" bIns="0" rtlCol="0" anchor="ctr">
            <a:spAutoFit/>
          </a:bodyPr>
          <a:lstStyle/>
          <a:p>
            <a:pPr algn="ctr" indent="0" marL="0">
              <a:buNone/>
            </a:pPr>
            <a:r>
              <a:rPr lang="en-US" sz="900" b="1" dirty="0">
                <a:solidFill>
                  <a:srgbClr val="F8FAFC"/>
                </a:solidFill>
                <a:latin typeface="Playfair Display ExtraBold" pitchFamily="34" charset="0"/>
                <a:ea typeface="Playfair Display ExtraBold" pitchFamily="34" charset="-122"/>
                <a:cs typeface="Playfair Display ExtraBold" pitchFamily="34" charset="-120"/>
              </a:rPr>
              <a:t>3</a:t>
            </a:r>
            <a:endParaRPr lang="en-US" sz="900" dirty="0"/>
          </a:p>
        </p:txBody>
      </p:sp>
      <p:sp>
        <p:nvSpPr>
          <p:cNvPr id="15" name="Text 12"/>
          <p:cNvSpPr/>
          <p:nvPr/>
        </p:nvSpPr>
        <p:spPr>
          <a:xfrm>
            <a:off x="942975" y="3077449"/>
            <a:ext cx="3833487" cy="155377"/>
          </a:xfrm>
          <a:prstGeom prst="rect">
            <a:avLst/>
          </a:prstGeom>
          <a:noFill/>
          <a:ln/>
        </p:spPr>
        <p:txBody>
          <a:bodyPr wrap="square" lIns="0" tIns="0" rIns="0" bIns="0" rtlCol="0" anchor="t">
            <a:spAutoFit/>
          </a:bodyPr>
          <a:lstStyle/>
          <a:p>
            <a:pPr algn="l" indent="0" marL="0">
              <a:buNone/>
            </a:pPr>
            <a:r>
              <a:rPr lang="en-US" sz="900" b="1" dirty="0">
                <a:solidFill>
                  <a:srgbClr val="0F172A"/>
                </a:solidFill>
                <a:latin typeface="Inter Bold" pitchFamily="34" charset="0"/>
                <a:ea typeface="Inter Bold" pitchFamily="34" charset="-122"/>
                <a:cs typeface="Inter Bold" pitchFamily="34" charset="-120"/>
              </a:rPr>
              <a:t>RL-based Path Planning</a:t>
            </a:r>
            <a:endParaRPr lang="en-US" sz="900" dirty="0"/>
          </a:p>
        </p:txBody>
      </p:sp>
      <p:sp>
        <p:nvSpPr>
          <p:cNvPr id="16" name="Text 13"/>
          <p:cNvSpPr/>
          <p:nvPr/>
        </p:nvSpPr>
        <p:spPr>
          <a:xfrm>
            <a:off x="942975" y="3275688"/>
            <a:ext cx="3833487" cy="320018"/>
          </a:xfrm>
          <a:prstGeom prst="rect">
            <a:avLst/>
          </a:prstGeom>
          <a:noFill/>
          <a:ln/>
        </p:spPr>
        <p:txBody>
          <a:bodyPr wrap="square" lIns="0" tIns="0" rIns="0" bIns="0" rtlCol="0" anchor="t">
            <a:spAutoFit/>
          </a:bodyPr>
          <a:lstStyle/>
          <a:p>
            <a:pPr algn="l" indent="0" marL="0">
              <a:lnSpc>
                <a:spcPct val="128000"/>
              </a:lnSpc>
              <a:buNone/>
            </a:pPr>
            <a:r>
              <a:rPr lang="en-US" sz="750" dirty="0">
                <a:solidFill>
                  <a:srgbClr val="334155"/>
                </a:solidFill>
                <a:latin typeface="Inter" pitchFamily="34" charset="0"/>
                <a:ea typeface="Inter" pitchFamily="34" charset="-122"/>
                <a:cs typeface="Inter" pitchFamily="34" charset="-120"/>
              </a:rPr>
              <a:t>RL agent learns optimal routes in simulation for real deployment via TrajectorySetpoint.</a:t>
            </a:r>
            <a:endParaRPr lang="en-US" sz="750" dirty="0"/>
          </a:p>
        </p:txBody>
      </p:sp>
      <p:sp>
        <p:nvSpPr>
          <p:cNvPr id="17" name="Shape 14"/>
          <p:cNvSpPr/>
          <p:nvPr/>
        </p:nvSpPr>
        <p:spPr>
          <a:xfrm>
            <a:off x="571500" y="3781444"/>
            <a:ext cx="228600" cy="228600"/>
          </a:xfrm>
          <a:prstGeom prst="ellipse">
            <a:avLst/>
          </a:prstGeom>
          <a:solidFill>
            <a:srgbClr val="991B1B"/>
          </a:solidFill>
          <a:ln/>
        </p:spPr>
      </p:sp>
      <p:sp>
        <p:nvSpPr>
          <p:cNvPr id="18" name="Text 15"/>
          <p:cNvSpPr/>
          <p:nvPr/>
        </p:nvSpPr>
        <p:spPr>
          <a:xfrm>
            <a:off x="571500" y="3781444"/>
            <a:ext cx="228600" cy="228600"/>
          </a:xfrm>
          <a:prstGeom prst="rect">
            <a:avLst/>
          </a:prstGeom>
          <a:noFill/>
          <a:ln/>
        </p:spPr>
        <p:txBody>
          <a:bodyPr wrap="none" lIns="0" tIns="0" rIns="0" bIns="0" rtlCol="0" anchor="ctr">
            <a:spAutoFit/>
          </a:bodyPr>
          <a:lstStyle/>
          <a:p>
            <a:pPr algn="ctr" indent="0" marL="0">
              <a:buNone/>
            </a:pPr>
            <a:r>
              <a:rPr lang="en-US" sz="900" b="1" dirty="0">
                <a:solidFill>
                  <a:srgbClr val="F8FAFC"/>
                </a:solidFill>
                <a:latin typeface="Playfair Display ExtraBold" pitchFamily="34" charset="0"/>
                <a:ea typeface="Playfair Display ExtraBold" pitchFamily="34" charset="-122"/>
                <a:cs typeface="Playfair Display ExtraBold" pitchFamily="34" charset="-120"/>
              </a:rPr>
              <a:t>4</a:t>
            </a:r>
            <a:endParaRPr lang="en-US" sz="900" dirty="0"/>
          </a:p>
        </p:txBody>
      </p:sp>
      <p:sp>
        <p:nvSpPr>
          <p:cNvPr id="19" name="Text 16"/>
          <p:cNvSpPr/>
          <p:nvPr/>
        </p:nvSpPr>
        <p:spPr>
          <a:xfrm>
            <a:off x="942975" y="3767156"/>
            <a:ext cx="3833487" cy="155377"/>
          </a:xfrm>
          <a:prstGeom prst="rect">
            <a:avLst/>
          </a:prstGeom>
          <a:noFill/>
          <a:ln/>
        </p:spPr>
        <p:txBody>
          <a:bodyPr wrap="square" lIns="0" tIns="0" rIns="0" bIns="0" rtlCol="0" anchor="t">
            <a:spAutoFit/>
          </a:bodyPr>
          <a:lstStyle/>
          <a:p>
            <a:pPr algn="l" indent="0" marL="0">
              <a:buNone/>
            </a:pPr>
            <a:r>
              <a:rPr lang="en-US" sz="900" b="1" dirty="0">
                <a:solidFill>
                  <a:srgbClr val="0F172A"/>
                </a:solidFill>
                <a:latin typeface="Inter Bold" pitchFamily="34" charset="0"/>
                <a:ea typeface="Inter Bold" pitchFamily="34" charset="-122"/>
                <a:cs typeface="Inter Bold" pitchFamily="34" charset="-120"/>
              </a:rPr>
              <a:t>Mission Orchestration</a:t>
            </a:r>
            <a:endParaRPr lang="en-US" sz="900" dirty="0"/>
          </a:p>
        </p:txBody>
      </p:sp>
      <p:sp>
        <p:nvSpPr>
          <p:cNvPr id="20" name="Text 17"/>
          <p:cNvSpPr/>
          <p:nvPr/>
        </p:nvSpPr>
        <p:spPr>
          <a:xfrm>
            <a:off x="942975" y="3965395"/>
            <a:ext cx="3833487" cy="320018"/>
          </a:xfrm>
          <a:prstGeom prst="rect">
            <a:avLst/>
          </a:prstGeom>
          <a:noFill/>
          <a:ln/>
        </p:spPr>
        <p:txBody>
          <a:bodyPr wrap="square" lIns="0" tIns="0" rIns="0" bIns="0" rtlCol="0" anchor="t">
            <a:spAutoFit/>
          </a:bodyPr>
          <a:lstStyle/>
          <a:p>
            <a:pPr algn="l" indent="0" marL="0">
              <a:lnSpc>
                <a:spcPct val="128000"/>
              </a:lnSpc>
              <a:buNone/>
            </a:pPr>
            <a:r>
              <a:rPr lang="en-US" sz="750" dirty="0">
                <a:solidFill>
                  <a:srgbClr val="334155"/>
                </a:solidFill>
                <a:latin typeface="Inter" pitchFamily="34" charset="0"/>
                <a:ea typeface="Inter" pitchFamily="34" charset="-122"/>
                <a:cs typeface="Inter" pitchFamily="34" charset="-120"/>
              </a:rPr>
              <a:t>FSM/Behavior Tree managing complex multi-phase missions via VehicleCommand.</a:t>
            </a:r>
            <a:endParaRPr lang="en-US" sz="750" dirty="0"/>
          </a:p>
        </p:txBody>
      </p:sp>
      <p:sp>
        <p:nvSpPr>
          <p:cNvPr id="21" name="Shape 18"/>
          <p:cNvSpPr/>
          <p:nvPr/>
        </p:nvSpPr>
        <p:spPr>
          <a:xfrm>
            <a:off x="571500" y="4471150"/>
            <a:ext cx="228600" cy="228600"/>
          </a:xfrm>
          <a:prstGeom prst="ellipse">
            <a:avLst/>
          </a:prstGeom>
          <a:solidFill>
            <a:srgbClr val="991B1B"/>
          </a:solidFill>
          <a:ln/>
        </p:spPr>
      </p:sp>
      <p:sp>
        <p:nvSpPr>
          <p:cNvPr id="22" name="Text 19"/>
          <p:cNvSpPr/>
          <p:nvPr/>
        </p:nvSpPr>
        <p:spPr>
          <a:xfrm>
            <a:off x="571500" y="4471150"/>
            <a:ext cx="228600" cy="228600"/>
          </a:xfrm>
          <a:prstGeom prst="rect">
            <a:avLst/>
          </a:prstGeom>
          <a:noFill/>
          <a:ln/>
        </p:spPr>
        <p:txBody>
          <a:bodyPr wrap="none" lIns="0" tIns="0" rIns="0" bIns="0" rtlCol="0" anchor="ctr">
            <a:spAutoFit/>
          </a:bodyPr>
          <a:lstStyle/>
          <a:p>
            <a:pPr algn="ctr" indent="0" marL="0">
              <a:buNone/>
            </a:pPr>
            <a:r>
              <a:rPr lang="en-US" sz="900" b="1" dirty="0">
                <a:solidFill>
                  <a:srgbClr val="F8FAFC"/>
                </a:solidFill>
                <a:latin typeface="Playfair Display ExtraBold" pitchFamily="34" charset="0"/>
                <a:ea typeface="Playfair Display ExtraBold" pitchFamily="34" charset="-122"/>
                <a:cs typeface="Playfair Display ExtraBold" pitchFamily="34" charset="-120"/>
              </a:rPr>
              <a:t>5</a:t>
            </a:r>
            <a:endParaRPr lang="en-US" sz="900" dirty="0"/>
          </a:p>
        </p:txBody>
      </p:sp>
      <p:sp>
        <p:nvSpPr>
          <p:cNvPr id="23" name="Text 20"/>
          <p:cNvSpPr/>
          <p:nvPr/>
        </p:nvSpPr>
        <p:spPr>
          <a:xfrm>
            <a:off x="942975" y="4456863"/>
            <a:ext cx="3833487" cy="155377"/>
          </a:xfrm>
          <a:prstGeom prst="rect">
            <a:avLst/>
          </a:prstGeom>
          <a:noFill/>
          <a:ln/>
        </p:spPr>
        <p:txBody>
          <a:bodyPr wrap="square" lIns="0" tIns="0" rIns="0" bIns="0" rtlCol="0" anchor="t">
            <a:spAutoFit/>
          </a:bodyPr>
          <a:lstStyle/>
          <a:p>
            <a:pPr algn="l" indent="0" marL="0">
              <a:buNone/>
            </a:pPr>
            <a:r>
              <a:rPr lang="en-US" sz="900" b="1" dirty="0">
                <a:solidFill>
                  <a:srgbClr val="0F172A"/>
                </a:solidFill>
                <a:latin typeface="Inter Bold" pitchFamily="34" charset="0"/>
                <a:ea typeface="Inter Bold" pitchFamily="34" charset="-122"/>
                <a:cs typeface="Inter Bold" pitchFamily="34" charset="-120"/>
              </a:rPr>
              <a:t>Semantic Perception</a:t>
            </a:r>
            <a:endParaRPr lang="en-US" sz="900" dirty="0"/>
          </a:p>
        </p:txBody>
      </p:sp>
      <p:sp>
        <p:nvSpPr>
          <p:cNvPr id="24" name="Text 21"/>
          <p:cNvSpPr/>
          <p:nvPr/>
        </p:nvSpPr>
        <p:spPr>
          <a:xfrm>
            <a:off x="942975" y="4655102"/>
            <a:ext cx="3833487" cy="320018"/>
          </a:xfrm>
          <a:prstGeom prst="rect">
            <a:avLst/>
          </a:prstGeom>
          <a:noFill/>
          <a:ln/>
        </p:spPr>
        <p:txBody>
          <a:bodyPr wrap="square" lIns="0" tIns="0" rIns="0" bIns="0" rtlCol="0" anchor="t">
            <a:spAutoFit/>
          </a:bodyPr>
          <a:lstStyle/>
          <a:p>
            <a:pPr algn="l" indent="0" marL="0">
              <a:lnSpc>
                <a:spcPct val="128000"/>
              </a:lnSpc>
              <a:buNone/>
            </a:pPr>
            <a:r>
              <a:rPr lang="en-US" sz="750" dirty="0">
                <a:solidFill>
                  <a:srgbClr val="334155"/>
                </a:solidFill>
                <a:latin typeface="Inter" pitchFamily="34" charset="0"/>
                <a:ea typeface="Inter" pitchFamily="34" charset="-122"/>
                <a:cs typeface="Inter" pitchFamily="34" charset="-120"/>
              </a:rPr>
              <a:t>Understanding scene context, including detection confidence scoring for decision-making.</a:t>
            </a:r>
            <a:endParaRPr lang="en-US" sz="750" dirty="0"/>
          </a:p>
        </p:txBody>
      </p:sp>
      <p:sp>
        <p:nvSpPr>
          <p:cNvPr id="25" name="Text 22"/>
          <p:cNvSpPr/>
          <p:nvPr/>
        </p:nvSpPr>
        <p:spPr>
          <a:xfrm>
            <a:off x="5405112" y="1103709"/>
            <a:ext cx="3167388" cy="173236"/>
          </a:xfrm>
          <a:prstGeom prst="rect">
            <a:avLst/>
          </a:prstGeom>
          <a:noFill/>
          <a:ln/>
        </p:spPr>
        <p:txBody>
          <a:bodyPr wrap="square" lIns="0" tIns="0" rIns="0" bIns="0" rtlCol="0" anchor="t">
            <a:spAutoFit/>
          </a:bodyPr>
          <a:lstStyle/>
          <a:p>
            <a:pPr algn="l" indent="0" marL="0">
              <a:buNone/>
            </a:pPr>
            <a:r>
              <a:rPr lang="en-US" sz="1000" b="1" spc="1" kern="0" dirty="0">
                <a:solidFill>
                  <a:srgbClr val="0F172A"/>
                </a:solidFill>
                <a:latin typeface="Inter Bold" pitchFamily="34" charset="0"/>
                <a:ea typeface="Inter Bold" pitchFamily="34" charset="-122"/>
                <a:cs typeface="Inter Bold" pitchFamily="34" charset="-120"/>
              </a:rPr>
              <a:t>COMMAND TYPES</a:t>
            </a:r>
            <a:endParaRPr lang="en-US" sz="1000" dirty="0"/>
          </a:p>
        </p:txBody>
      </p:sp>
      <p:sp>
        <p:nvSpPr>
          <p:cNvPr id="26" name="Text 23"/>
          <p:cNvSpPr/>
          <p:nvPr/>
        </p:nvSpPr>
        <p:spPr>
          <a:xfrm>
            <a:off x="5405112" y="1448395"/>
            <a:ext cx="3167388" cy="128588"/>
          </a:xfrm>
          <a:prstGeom prst="rect">
            <a:avLst/>
          </a:prstGeom>
          <a:noFill/>
          <a:ln/>
        </p:spPr>
        <p:txBody>
          <a:bodyPr wrap="square" lIns="0" tIns="0" rIns="0" bIns="0" rtlCol="0" anchor="t">
            <a:spAutoFit/>
          </a:bodyPr>
          <a:lstStyle/>
          <a:p>
            <a:pPr algn="l" indent="0" marL="0">
              <a:buNone/>
            </a:pPr>
            <a:r>
              <a:rPr lang="en-US" sz="750" b="1" dirty="0">
                <a:solidFill>
                  <a:srgbClr val="0F172A"/>
                </a:solidFill>
                <a:latin typeface="Inter Bold" pitchFamily="34" charset="0"/>
                <a:ea typeface="Inter Bold" pitchFamily="34" charset="-122"/>
                <a:cs typeface="Inter Bold" pitchFamily="34" charset="-120"/>
              </a:rPr>
              <a:t>Setpoint Stream</a:t>
            </a:r>
            <a:endParaRPr lang="en-US" sz="750" dirty="0"/>
          </a:p>
        </p:txBody>
      </p:sp>
      <p:sp>
        <p:nvSpPr>
          <p:cNvPr id="27" name="Shape 24"/>
          <p:cNvSpPr/>
          <p:nvPr/>
        </p:nvSpPr>
        <p:spPr>
          <a:xfrm>
            <a:off x="5405112" y="1610916"/>
            <a:ext cx="1221581" cy="133945"/>
          </a:xfrm>
          <a:prstGeom prst="rect">
            <a:avLst/>
          </a:prstGeom>
          <a:solidFill>
            <a:srgbClr val="991B1B">
              <a:alpha val="10000"/>
            </a:srgbClr>
          </a:solidFill>
          <a:ln/>
        </p:spPr>
      </p:sp>
      <p:sp>
        <p:nvSpPr>
          <p:cNvPr id="28" name="Text 25"/>
          <p:cNvSpPr/>
          <p:nvPr/>
        </p:nvSpPr>
        <p:spPr>
          <a:xfrm>
            <a:off x="5405112" y="1610916"/>
            <a:ext cx="1221581" cy="133945"/>
          </a:xfrm>
          <a:prstGeom prst="rect">
            <a:avLst/>
          </a:prstGeom>
          <a:noFill/>
          <a:ln/>
        </p:spPr>
        <p:txBody>
          <a:bodyPr wrap="none" lIns="68072" tIns="17018" rIns="68072" bIns="17018" rtlCol="0" anchor="t">
            <a:spAutoFit/>
          </a:bodyPr>
          <a:lstStyle/>
          <a:p>
            <a:pPr algn="l" indent="0" marL="0">
              <a:buNone/>
            </a:pPr>
            <a:r>
              <a:rPr lang="en-US" sz="600" b="1" dirty="0">
                <a:solidFill>
                  <a:srgbClr val="991B1B"/>
                </a:solidFill>
                <a:latin typeface="Inter SemiBold" pitchFamily="34" charset="0"/>
                <a:ea typeface="Inter SemiBold" pitchFamily="34" charset="-122"/>
                <a:cs typeface="Inter SemiBold" pitchFamily="34" charset="-120"/>
              </a:rPr>
              <a:t>/fmu/in/trajectory_setpoint</a:t>
            </a:r>
            <a:endParaRPr lang="en-US" sz="600" dirty="0"/>
          </a:p>
        </p:txBody>
      </p:sp>
      <p:sp>
        <p:nvSpPr>
          <p:cNvPr id="29" name="Text 26"/>
          <p:cNvSpPr/>
          <p:nvPr/>
        </p:nvSpPr>
        <p:spPr>
          <a:xfrm>
            <a:off x="5405112" y="1802011"/>
            <a:ext cx="3167388" cy="150019"/>
          </a:xfrm>
          <a:prstGeom prst="rect">
            <a:avLst/>
          </a:prstGeom>
          <a:noFill/>
          <a:ln/>
        </p:spPr>
        <p:txBody>
          <a:bodyPr wrap="none" lIns="0" tIns="0" rIns="0" bIns="0" rtlCol="0" anchor="t">
            <a:spAutoFit/>
          </a:bodyPr>
          <a:lstStyle/>
          <a:p>
            <a:pPr algn="l" indent="0" marL="0">
              <a:lnSpc>
                <a:spcPct val="120000"/>
              </a:lnSpc>
              <a:buNone/>
            </a:pPr>
            <a:r>
              <a:rPr lang="en-US" sz="750" dirty="0">
                <a:solidFill>
                  <a:srgbClr val="334155"/>
                </a:solidFill>
                <a:latin typeface="Inter" pitchFamily="34" charset="0"/>
                <a:ea typeface="Inter" pitchFamily="34" charset="-122"/>
                <a:cs typeface="Inter" pitchFamily="34" charset="-120"/>
              </a:rPr>
              <a:t>Continuous position, velocity, and acceleration targets.</a:t>
            </a:r>
            <a:endParaRPr lang="en-US" sz="750" dirty="0"/>
          </a:p>
        </p:txBody>
      </p:sp>
      <p:sp>
        <p:nvSpPr>
          <p:cNvPr id="30" name="Text 27"/>
          <p:cNvSpPr/>
          <p:nvPr/>
        </p:nvSpPr>
        <p:spPr>
          <a:xfrm>
            <a:off x="5405112" y="2244923"/>
            <a:ext cx="3167388" cy="128588"/>
          </a:xfrm>
          <a:prstGeom prst="rect">
            <a:avLst/>
          </a:prstGeom>
          <a:noFill/>
          <a:ln/>
        </p:spPr>
        <p:txBody>
          <a:bodyPr wrap="square" lIns="0" tIns="0" rIns="0" bIns="0" rtlCol="0" anchor="t">
            <a:spAutoFit/>
          </a:bodyPr>
          <a:lstStyle/>
          <a:p>
            <a:pPr algn="l" indent="0" marL="0">
              <a:buNone/>
            </a:pPr>
            <a:r>
              <a:rPr lang="en-US" sz="750" b="1" dirty="0">
                <a:solidFill>
                  <a:srgbClr val="0F172A"/>
                </a:solidFill>
                <a:latin typeface="Inter Bold" pitchFamily="34" charset="0"/>
                <a:ea typeface="Inter Bold" pitchFamily="34" charset="-122"/>
                <a:cs typeface="Inter Bold" pitchFamily="34" charset="-120"/>
              </a:rPr>
              <a:t>Heartbeat Signal</a:t>
            </a:r>
            <a:endParaRPr lang="en-US" sz="750" dirty="0"/>
          </a:p>
        </p:txBody>
      </p:sp>
      <p:sp>
        <p:nvSpPr>
          <p:cNvPr id="31" name="Shape 28"/>
          <p:cNvSpPr/>
          <p:nvPr/>
        </p:nvSpPr>
        <p:spPr>
          <a:xfrm>
            <a:off x="5405112" y="2407444"/>
            <a:ext cx="1414463" cy="133945"/>
          </a:xfrm>
          <a:prstGeom prst="rect">
            <a:avLst/>
          </a:prstGeom>
          <a:solidFill>
            <a:srgbClr val="991B1B">
              <a:alpha val="10000"/>
            </a:srgbClr>
          </a:solidFill>
          <a:ln/>
        </p:spPr>
      </p:sp>
      <p:sp>
        <p:nvSpPr>
          <p:cNvPr id="32" name="Text 29"/>
          <p:cNvSpPr/>
          <p:nvPr/>
        </p:nvSpPr>
        <p:spPr>
          <a:xfrm>
            <a:off x="5405112" y="2407444"/>
            <a:ext cx="1414463" cy="133945"/>
          </a:xfrm>
          <a:prstGeom prst="rect">
            <a:avLst/>
          </a:prstGeom>
          <a:noFill/>
          <a:ln/>
        </p:spPr>
        <p:txBody>
          <a:bodyPr wrap="square" lIns="68072" tIns="17018" rIns="68072" bIns="17018" rtlCol="0" anchor="t">
            <a:spAutoFit/>
          </a:bodyPr>
          <a:lstStyle/>
          <a:p>
            <a:pPr algn="l" indent="0" marL="0">
              <a:buNone/>
            </a:pPr>
            <a:r>
              <a:rPr lang="en-US" sz="600" b="1" dirty="0">
                <a:solidFill>
                  <a:srgbClr val="991B1B"/>
                </a:solidFill>
                <a:latin typeface="Inter SemiBold" pitchFamily="34" charset="0"/>
                <a:ea typeface="Inter SemiBold" pitchFamily="34" charset="-122"/>
                <a:cs typeface="Inter SemiBold" pitchFamily="34" charset="-120"/>
              </a:rPr>
              <a:t>/fmu/in/offboard_control_mode</a:t>
            </a:r>
            <a:endParaRPr lang="en-US" sz="600" dirty="0"/>
          </a:p>
        </p:txBody>
      </p:sp>
      <p:sp>
        <p:nvSpPr>
          <p:cNvPr id="33" name="Text 30"/>
          <p:cNvSpPr/>
          <p:nvPr/>
        </p:nvSpPr>
        <p:spPr>
          <a:xfrm>
            <a:off x="5405112" y="2598539"/>
            <a:ext cx="3167388" cy="150019"/>
          </a:xfrm>
          <a:prstGeom prst="rect">
            <a:avLst/>
          </a:prstGeom>
          <a:noFill/>
          <a:ln/>
        </p:spPr>
        <p:txBody>
          <a:bodyPr wrap="none" lIns="0" tIns="0" rIns="0" bIns="0" rtlCol="0" anchor="t">
            <a:spAutoFit/>
          </a:bodyPr>
          <a:lstStyle/>
          <a:p>
            <a:pPr algn="l" indent="0" marL="0">
              <a:lnSpc>
                <a:spcPct val="120000"/>
              </a:lnSpc>
              <a:buNone/>
            </a:pPr>
            <a:r>
              <a:rPr lang="en-US" sz="750" dirty="0">
                <a:solidFill>
                  <a:srgbClr val="334155"/>
                </a:solidFill>
                <a:latin typeface="Inter" pitchFamily="34" charset="0"/>
                <a:ea typeface="Inter" pitchFamily="34" charset="-122"/>
                <a:cs typeface="Inter" pitchFamily="34" charset="-120"/>
              </a:rPr>
              <a:t>Proves AI is alive; required for Offboard Mode operation.</a:t>
            </a:r>
            <a:endParaRPr lang="en-US" sz="750" dirty="0"/>
          </a:p>
        </p:txBody>
      </p:sp>
      <p:sp>
        <p:nvSpPr>
          <p:cNvPr id="34" name="Text 31"/>
          <p:cNvSpPr/>
          <p:nvPr/>
        </p:nvSpPr>
        <p:spPr>
          <a:xfrm>
            <a:off x="5405112" y="3041452"/>
            <a:ext cx="3167388" cy="128588"/>
          </a:xfrm>
          <a:prstGeom prst="rect">
            <a:avLst/>
          </a:prstGeom>
          <a:noFill/>
          <a:ln/>
        </p:spPr>
        <p:txBody>
          <a:bodyPr wrap="square" lIns="0" tIns="0" rIns="0" bIns="0" rtlCol="0" anchor="t">
            <a:spAutoFit/>
          </a:bodyPr>
          <a:lstStyle/>
          <a:p>
            <a:pPr algn="l" indent="0" marL="0">
              <a:buNone/>
            </a:pPr>
            <a:r>
              <a:rPr lang="en-US" sz="750" b="1" dirty="0">
                <a:solidFill>
                  <a:srgbClr val="0F172A"/>
                </a:solidFill>
                <a:latin typeface="Inter Bold" pitchFamily="34" charset="0"/>
                <a:ea typeface="Inter Bold" pitchFamily="34" charset="-122"/>
                <a:cs typeface="Inter Bold" pitchFamily="34" charset="-120"/>
              </a:rPr>
              <a:t>Vehicle Commands</a:t>
            </a:r>
            <a:endParaRPr lang="en-US" sz="750" dirty="0"/>
          </a:p>
        </p:txBody>
      </p:sp>
      <p:sp>
        <p:nvSpPr>
          <p:cNvPr id="35" name="Shape 32"/>
          <p:cNvSpPr/>
          <p:nvPr/>
        </p:nvSpPr>
        <p:spPr>
          <a:xfrm>
            <a:off x="5405112" y="3203972"/>
            <a:ext cx="1193006" cy="133945"/>
          </a:xfrm>
          <a:prstGeom prst="rect">
            <a:avLst/>
          </a:prstGeom>
          <a:solidFill>
            <a:srgbClr val="991B1B">
              <a:alpha val="10000"/>
            </a:srgbClr>
          </a:solidFill>
          <a:ln/>
        </p:spPr>
      </p:sp>
      <p:sp>
        <p:nvSpPr>
          <p:cNvPr id="36" name="Text 33"/>
          <p:cNvSpPr/>
          <p:nvPr/>
        </p:nvSpPr>
        <p:spPr>
          <a:xfrm>
            <a:off x="5405112" y="3203972"/>
            <a:ext cx="1193006" cy="133945"/>
          </a:xfrm>
          <a:prstGeom prst="rect">
            <a:avLst/>
          </a:prstGeom>
          <a:noFill/>
          <a:ln/>
        </p:spPr>
        <p:txBody>
          <a:bodyPr wrap="none" lIns="68072" tIns="17018" rIns="68072" bIns="17018" rtlCol="0" anchor="t">
            <a:spAutoFit/>
          </a:bodyPr>
          <a:lstStyle/>
          <a:p>
            <a:pPr algn="l" indent="0" marL="0">
              <a:buNone/>
            </a:pPr>
            <a:r>
              <a:rPr lang="en-US" sz="600" b="1" dirty="0">
                <a:solidFill>
                  <a:srgbClr val="991B1B"/>
                </a:solidFill>
                <a:latin typeface="Inter SemiBold" pitchFamily="34" charset="0"/>
                <a:ea typeface="Inter SemiBold" pitchFamily="34" charset="-122"/>
                <a:cs typeface="Inter SemiBold" pitchFamily="34" charset="-120"/>
              </a:rPr>
              <a:t>/fmu/in/vehicle_command</a:t>
            </a:r>
            <a:endParaRPr lang="en-US" sz="600" dirty="0"/>
          </a:p>
        </p:txBody>
      </p:sp>
      <p:sp>
        <p:nvSpPr>
          <p:cNvPr id="37" name="Text 34"/>
          <p:cNvSpPr/>
          <p:nvPr/>
        </p:nvSpPr>
        <p:spPr>
          <a:xfrm>
            <a:off x="5405112" y="3395067"/>
            <a:ext cx="3167388" cy="150019"/>
          </a:xfrm>
          <a:prstGeom prst="rect">
            <a:avLst/>
          </a:prstGeom>
          <a:noFill/>
          <a:ln/>
        </p:spPr>
        <p:txBody>
          <a:bodyPr wrap="none" lIns="0" tIns="0" rIns="0" bIns="0" rtlCol="0" anchor="t">
            <a:spAutoFit/>
          </a:bodyPr>
          <a:lstStyle/>
          <a:p>
            <a:pPr algn="l" indent="0" marL="0">
              <a:lnSpc>
                <a:spcPct val="120000"/>
              </a:lnSpc>
              <a:buNone/>
            </a:pPr>
            <a:r>
              <a:rPr lang="en-US" sz="750" dirty="0">
                <a:solidFill>
                  <a:srgbClr val="334155"/>
                </a:solidFill>
                <a:latin typeface="Inter" pitchFamily="34" charset="0"/>
                <a:ea typeface="Inter" pitchFamily="34" charset="-122"/>
                <a:cs typeface="Inter" pitchFamily="34" charset="-120"/>
              </a:rPr>
              <a:t>Discrete actions: Arm, disarm, takeoff, land, mode changes.</a:t>
            </a:r>
            <a:endParaRPr lang="en-US" sz="750" dirty="0"/>
          </a:p>
        </p:txBody>
      </p:sp>
      <p:sp>
        <p:nvSpPr>
          <p:cNvPr id="38" name="Text 35"/>
          <p:cNvSpPr/>
          <p:nvPr/>
        </p:nvSpPr>
        <p:spPr>
          <a:xfrm>
            <a:off x="5405112" y="3837980"/>
            <a:ext cx="3167388" cy="128588"/>
          </a:xfrm>
          <a:prstGeom prst="rect">
            <a:avLst/>
          </a:prstGeom>
          <a:noFill/>
          <a:ln/>
        </p:spPr>
        <p:txBody>
          <a:bodyPr wrap="square" lIns="0" tIns="0" rIns="0" bIns="0" rtlCol="0" anchor="t">
            <a:spAutoFit/>
          </a:bodyPr>
          <a:lstStyle/>
          <a:p>
            <a:pPr algn="l" indent="0" marL="0">
              <a:buNone/>
            </a:pPr>
            <a:r>
              <a:rPr lang="en-US" sz="750" b="1" dirty="0">
                <a:solidFill>
                  <a:srgbClr val="0F172A"/>
                </a:solidFill>
                <a:latin typeface="Inter Bold" pitchFamily="34" charset="0"/>
                <a:ea typeface="Inter Bold" pitchFamily="34" charset="-122"/>
                <a:cs typeface="Inter Bold" pitchFamily="34" charset="-120"/>
              </a:rPr>
              <a:t>Obstacle Data</a:t>
            </a:r>
            <a:endParaRPr lang="en-US" sz="750" dirty="0"/>
          </a:p>
        </p:txBody>
      </p:sp>
      <p:sp>
        <p:nvSpPr>
          <p:cNvPr id="39" name="Shape 36"/>
          <p:cNvSpPr/>
          <p:nvPr/>
        </p:nvSpPr>
        <p:spPr>
          <a:xfrm>
            <a:off x="5405112" y="4000500"/>
            <a:ext cx="1196578" cy="133945"/>
          </a:xfrm>
          <a:prstGeom prst="rect">
            <a:avLst/>
          </a:prstGeom>
          <a:solidFill>
            <a:srgbClr val="991B1B">
              <a:alpha val="10000"/>
            </a:srgbClr>
          </a:solidFill>
          <a:ln/>
        </p:spPr>
      </p:sp>
      <p:sp>
        <p:nvSpPr>
          <p:cNvPr id="40" name="Text 37"/>
          <p:cNvSpPr/>
          <p:nvPr/>
        </p:nvSpPr>
        <p:spPr>
          <a:xfrm>
            <a:off x="5405112" y="4000500"/>
            <a:ext cx="1196578" cy="133945"/>
          </a:xfrm>
          <a:prstGeom prst="rect">
            <a:avLst/>
          </a:prstGeom>
          <a:noFill/>
          <a:ln/>
        </p:spPr>
        <p:txBody>
          <a:bodyPr wrap="none" lIns="68072" tIns="17018" rIns="68072" bIns="17018" rtlCol="0" anchor="t">
            <a:spAutoFit/>
          </a:bodyPr>
          <a:lstStyle/>
          <a:p>
            <a:pPr algn="l" indent="0" marL="0">
              <a:buNone/>
            </a:pPr>
            <a:r>
              <a:rPr lang="en-US" sz="600" b="1" dirty="0">
                <a:solidFill>
                  <a:srgbClr val="991B1B"/>
                </a:solidFill>
                <a:latin typeface="Inter SemiBold" pitchFamily="34" charset="0"/>
                <a:ea typeface="Inter SemiBold" pitchFamily="34" charset="-122"/>
                <a:cs typeface="Inter SemiBold" pitchFamily="34" charset="-120"/>
              </a:rPr>
              <a:t>/fmu/in/obstacle_distance</a:t>
            </a:r>
            <a:endParaRPr lang="en-US" sz="600" dirty="0"/>
          </a:p>
        </p:txBody>
      </p:sp>
      <p:sp>
        <p:nvSpPr>
          <p:cNvPr id="41" name="Text 38"/>
          <p:cNvSpPr/>
          <p:nvPr/>
        </p:nvSpPr>
        <p:spPr>
          <a:xfrm>
            <a:off x="5405112" y="4191595"/>
            <a:ext cx="3167388" cy="150019"/>
          </a:xfrm>
          <a:prstGeom prst="rect">
            <a:avLst/>
          </a:prstGeom>
          <a:noFill/>
          <a:ln/>
        </p:spPr>
        <p:txBody>
          <a:bodyPr wrap="none" lIns="0" tIns="0" rIns="0" bIns="0" rtlCol="0" anchor="t">
            <a:spAutoFit/>
          </a:bodyPr>
          <a:lstStyle/>
          <a:p>
            <a:pPr algn="l" indent="0" marL="0">
              <a:lnSpc>
                <a:spcPct val="120000"/>
              </a:lnSpc>
              <a:buNone/>
            </a:pPr>
            <a:r>
              <a:rPr lang="en-US" sz="750" dirty="0">
                <a:solidFill>
                  <a:srgbClr val="334155"/>
                </a:solidFill>
                <a:latin typeface="Inter" pitchFamily="34" charset="0"/>
                <a:ea typeface="Inter" pitchFamily="34" charset="-122"/>
                <a:cs typeface="Inter" pitchFamily="34" charset="-120"/>
              </a:rPr>
              <a:t>Collision prevention information routed to PX4.</a:t>
            </a:r>
            <a:endParaRPr lang="en-US" sz="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571500" y="342900"/>
            <a:ext cx="8001000" cy="360759"/>
          </a:xfrm>
          <a:prstGeom prst="rect">
            <a:avLst/>
          </a:prstGeom>
          <a:noFill/>
          <a:ln/>
        </p:spPr>
        <p:txBody>
          <a:bodyPr wrap="square" lIns="0" tIns="0" rIns="0" bIns="0" rtlCol="0" anchor="t">
            <a:spAutoFit/>
          </a:bodyPr>
          <a:lstStyle/>
          <a:p>
            <a:pPr algn="l" indent="0" marL="0">
              <a:buNone/>
            </a:pPr>
            <a:r>
              <a:rPr lang="en-US" sz="1900" b="1" dirty="0">
                <a:solidFill>
                  <a:srgbClr val="0F172A"/>
                </a:solidFill>
                <a:latin typeface="Playfair Display ExtraBold" pitchFamily="34" charset="0"/>
                <a:ea typeface="Playfair Display ExtraBold" pitchFamily="34" charset="-122"/>
                <a:cs typeface="Playfair Display ExtraBold" pitchFamily="34" charset="-120"/>
              </a:rPr>
              <a:t>Sensor Data Pipeline</a:t>
            </a:r>
            <a:endParaRPr lang="en-US" sz="1900" dirty="0"/>
          </a:p>
        </p:txBody>
      </p:sp>
      <p:sp>
        <p:nvSpPr>
          <p:cNvPr id="4" name="Text 1"/>
          <p:cNvSpPr/>
          <p:nvPr/>
        </p:nvSpPr>
        <p:spPr>
          <a:xfrm>
            <a:off x="571500" y="1132284"/>
            <a:ext cx="8001000" cy="365727"/>
          </a:xfrm>
          <a:prstGeom prst="rect">
            <a:avLst/>
          </a:prstGeom>
          <a:noFill/>
          <a:ln/>
        </p:spPr>
        <p:txBody>
          <a:bodyPr wrap="square" lIns="0" tIns="0" rIns="0" bIns="0" rtlCol="0" anchor="t">
            <a:spAutoFit/>
          </a:bodyPr>
          <a:lstStyle/>
          <a:p>
            <a:pPr algn="l" indent="0" marL="0">
              <a:lnSpc>
                <a:spcPct val="128000"/>
              </a:lnSpc>
              <a:buNone/>
            </a:pPr>
            <a:r>
              <a:rPr lang="en-US" sz="850" dirty="0">
                <a:solidFill>
                  <a:srgbClr val="334155"/>
                </a:solidFill>
                <a:latin typeface="Inter" pitchFamily="34" charset="0"/>
                <a:ea typeface="Inter" pitchFamily="34" charset="-122"/>
                <a:cs typeface="Inter" pitchFamily="34" charset="-120"/>
              </a:rPr>
              <a:t>The sensor integration pipeline demonstrates how external perception data flows into the PX4 control system. External sensor data is processed on the companion computer, routed through ROS 2 and the uXRCE-DDS bridge, and finally consumed by PX4's internal modules.</a:t>
            </a:r>
            <a:endParaRPr lang="en-US" sz="850" dirty="0"/>
          </a:p>
        </p:txBody>
      </p:sp>
      <p:sp>
        <p:nvSpPr>
          <p:cNvPr id="5" name="Shape 2"/>
          <p:cNvSpPr/>
          <p:nvPr/>
        </p:nvSpPr>
        <p:spPr>
          <a:xfrm>
            <a:off x="571500" y="1755186"/>
            <a:ext cx="8001000" cy="1182291"/>
          </a:xfrm>
          <a:prstGeom prst="rect">
            <a:avLst/>
          </a:prstGeom>
          <a:solidFill>
            <a:srgbClr val="0F172A"/>
          </a:solidFill>
          <a:ln/>
        </p:spPr>
      </p:sp>
      <p:sp>
        <p:nvSpPr>
          <p:cNvPr id="6" name="Shape 3"/>
          <p:cNvSpPr/>
          <p:nvPr/>
        </p:nvSpPr>
        <p:spPr>
          <a:xfrm>
            <a:off x="571500" y="1755186"/>
            <a:ext cx="8001000" cy="28575"/>
          </a:xfrm>
          <a:prstGeom prst="rect">
            <a:avLst/>
          </a:prstGeom>
          <a:solidFill>
            <a:srgbClr val="991B1B"/>
          </a:solidFill>
          <a:ln/>
        </p:spPr>
      </p:sp>
      <p:sp>
        <p:nvSpPr>
          <p:cNvPr id="7" name="Shape 4"/>
          <p:cNvSpPr/>
          <p:nvPr/>
        </p:nvSpPr>
        <p:spPr>
          <a:xfrm>
            <a:off x="800100" y="1983786"/>
            <a:ext cx="1280154" cy="571500"/>
          </a:xfrm>
          <a:prstGeom prst="rect">
            <a:avLst/>
          </a:prstGeom>
          <a:solidFill>
            <a:srgbClr val="1E293B"/>
          </a:solidFill>
          <a:ln w="9144">
            <a:solidFill>
              <a:srgbClr val="334155"/>
            </a:solidFill>
            <a:prstDash val="solid"/>
          </a:ln>
        </p:spPr>
      </p:sp>
      <p:sp>
        <p:nvSpPr>
          <p:cNvPr id="8" name="Text 5"/>
          <p:cNvSpPr/>
          <p:nvPr/>
        </p:nvSpPr>
        <p:spPr>
          <a:xfrm>
            <a:off x="914400" y="2135591"/>
            <a:ext cx="1051554" cy="128588"/>
          </a:xfrm>
          <a:prstGeom prst="rect">
            <a:avLst/>
          </a:prstGeom>
          <a:noFill/>
          <a:ln/>
        </p:spPr>
        <p:txBody>
          <a:bodyPr wrap="none" lIns="0" tIns="0" rIns="0" bIns="0" rtlCol="0" anchor="t">
            <a:spAutoFit/>
          </a:bodyPr>
          <a:lstStyle/>
          <a:p>
            <a:pPr algn="ctr" indent="0" marL="0">
              <a:buNone/>
            </a:pPr>
            <a:r>
              <a:rPr lang="en-US" sz="750" b="1" dirty="0">
                <a:solidFill>
                  <a:srgbClr val="F8FAFC"/>
                </a:solidFill>
                <a:latin typeface="Inter Bold" pitchFamily="34" charset="0"/>
                <a:ea typeface="Inter Bold" pitchFamily="34" charset="-122"/>
                <a:cs typeface="Inter Bold" pitchFamily="34" charset="-120"/>
              </a:rPr>
              <a:t>LiDAR Sensor</a:t>
            </a:r>
            <a:endParaRPr lang="en-US" sz="750" dirty="0"/>
          </a:p>
        </p:txBody>
      </p:sp>
      <p:sp>
        <p:nvSpPr>
          <p:cNvPr id="9" name="Text 6"/>
          <p:cNvSpPr/>
          <p:nvPr/>
        </p:nvSpPr>
        <p:spPr>
          <a:xfrm>
            <a:off x="914400" y="2307041"/>
            <a:ext cx="1051554" cy="96441"/>
          </a:xfrm>
          <a:prstGeom prst="rect">
            <a:avLst/>
          </a:prstGeom>
          <a:noFill/>
          <a:ln/>
        </p:spPr>
        <p:txBody>
          <a:bodyPr wrap="none" lIns="0" tIns="0" rIns="0" bIns="0" rtlCol="0" anchor="t">
            <a:spAutoFit/>
          </a:bodyPr>
          <a:lstStyle/>
          <a:p>
            <a:pPr algn="ctr" indent="0" marL="0">
              <a:buNone/>
            </a:pPr>
            <a:r>
              <a:rPr lang="en-US" sz="550" dirty="0">
                <a:solidFill>
                  <a:srgbClr val="94A3B8"/>
                </a:solidFill>
                <a:latin typeface="Inter" pitchFamily="34" charset="0"/>
                <a:ea typeface="Inter" pitchFamily="34" charset="-122"/>
                <a:cs typeface="Inter" pitchFamily="34" charset="-120"/>
              </a:rPr>
              <a:t>Raw Data Source</a:t>
            </a:r>
            <a:endParaRPr lang="en-US" sz="550" dirty="0"/>
          </a:p>
        </p:txBody>
      </p:sp>
      <p:sp>
        <p:nvSpPr>
          <p:cNvPr id="10" name="Shape 7"/>
          <p:cNvSpPr/>
          <p:nvPr/>
        </p:nvSpPr>
        <p:spPr>
          <a:xfrm>
            <a:off x="2108829" y="2324900"/>
            <a:ext cx="228600" cy="14288"/>
          </a:xfrm>
          <a:prstGeom prst="rect">
            <a:avLst/>
          </a:prstGeom>
          <a:solidFill>
            <a:srgbClr val="991B1B"/>
          </a:solidFill>
          <a:ln/>
        </p:spPr>
      </p:sp>
      <p:sp>
        <p:nvSpPr>
          <p:cNvPr id="11" name="Shape 8"/>
          <p:cNvSpPr/>
          <p:nvPr/>
        </p:nvSpPr>
        <p:spPr>
          <a:xfrm>
            <a:off x="2366004" y="1983786"/>
            <a:ext cx="1280154" cy="696516"/>
          </a:xfrm>
          <a:prstGeom prst="rect">
            <a:avLst/>
          </a:prstGeom>
          <a:solidFill>
            <a:srgbClr val="1E293B"/>
          </a:solidFill>
          <a:ln w="9144">
            <a:solidFill>
              <a:srgbClr val="334155"/>
            </a:solidFill>
            <a:prstDash val="solid"/>
          </a:ln>
        </p:spPr>
      </p:sp>
      <p:sp>
        <p:nvSpPr>
          <p:cNvPr id="12" name="Text 9"/>
          <p:cNvSpPr/>
          <p:nvPr/>
        </p:nvSpPr>
        <p:spPr>
          <a:xfrm>
            <a:off x="2480304" y="2126661"/>
            <a:ext cx="1051554" cy="257175"/>
          </a:xfrm>
          <a:prstGeom prst="rect">
            <a:avLst/>
          </a:prstGeom>
          <a:noFill/>
          <a:ln/>
        </p:spPr>
        <p:txBody>
          <a:bodyPr wrap="none" lIns="0" tIns="0" rIns="0" bIns="0" rtlCol="0" anchor="t">
            <a:spAutoFit/>
          </a:bodyPr>
          <a:lstStyle/>
          <a:p>
            <a:pPr algn="ctr" indent="0" marL="0">
              <a:buNone/>
            </a:pPr>
            <a:r>
              <a:rPr lang="en-US" sz="750" b="1" dirty="0">
                <a:solidFill>
                  <a:srgbClr val="F8FAFC"/>
                </a:solidFill>
                <a:latin typeface="Inter Bold" pitchFamily="34" charset="0"/>
                <a:ea typeface="Inter Bold" pitchFamily="34" charset="-122"/>
                <a:cs typeface="Inter Bold" pitchFamily="34" charset="-120"/>
              </a:rPr>
              <a:t>Companion Computer</a:t>
            </a:r>
            <a:endParaRPr lang="en-US" sz="750" dirty="0"/>
          </a:p>
        </p:txBody>
      </p:sp>
      <p:sp>
        <p:nvSpPr>
          <p:cNvPr id="13" name="Text 10"/>
          <p:cNvSpPr/>
          <p:nvPr/>
        </p:nvSpPr>
        <p:spPr>
          <a:xfrm>
            <a:off x="2480304" y="2426698"/>
            <a:ext cx="1051554" cy="96441"/>
          </a:xfrm>
          <a:prstGeom prst="rect">
            <a:avLst/>
          </a:prstGeom>
          <a:noFill/>
          <a:ln/>
        </p:spPr>
        <p:txBody>
          <a:bodyPr wrap="none" lIns="0" tIns="0" rIns="0" bIns="0" rtlCol="0" anchor="t">
            <a:spAutoFit/>
          </a:bodyPr>
          <a:lstStyle/>
          <a:p>
            <a:pPr algn="ctr" indent="0" marL="0">
              <a:buNone/>
            </a:pPr>
            <a:r>
              <a:rPr lang="en-US" sz="550" dirty="0">
                <a:solidFill>
                  <a:srgbClr val="94A3B8"/>
                </a:solidFill>
                <a:latin typeface="Inter" pitchFamily="34" charset="0"/>
                <a:ea typeface="Inter" pitchFamily="34" charset="-122"/>
                <a:cs typeface="Inter" pitchFamily="34" charset="-120"/>
              </a:rPr>
              <a:t>Host Machine</a:t>
            </a:r>
            <a:endParaRPr lang="en-US" sz="550" dirty="0"/>
          </a:p>
        </p:txBody>
      </p:sp>
      <p:sp>
        <p:nvSpPr>
          <p:cNvPr id="14" name="Shape 11"/>
          <p:cNvSpPr/>
          <p:nvPr/>
        </p:nvSpPr>
        <p:spPr>
          <a:xfrm>
            <a:off x="3674734" y="2317756"/>
            <a:ext cx="228600" cy="14288"/>
          </a:xfrm>
          <a:prstGeom prst="rect">
            <a:avLst/>
          </a:prstGeom>
          <a:solidFill>
            <a:srgbClr val="991B1B"/>
          </a:solidFill>
          <a:ln/>
        </p:spPr>
      </p:sp>
      <p:sp>
        <p:nvSpPr>
          <p:cNvPr id="15" name="Shape 12"/>
          <p:cNvSpPr/>
          <p:nvPr/>
        </p:nvSpPr>
        <p:spPr>
          <a:xfrm>
            <a:off x="3931909" y="1983786"/>
            <a:ext cx="1280154" cy="571500"/>
          </a:xfrm>
          <a:prstGeom prst="rect">
            <a:avLst/>
          </a:prstGeom>
          <a:solidFill>
            <a:srgbClr val="1E293B"/>
          </a:solidFill>
          <a:ln w="9144">
            <a:solidFill>
              <a:srgbClr val="334155"/>
            </a:solidFill>
            <a:prstDash val="solid"/>
          </a:ln>
        </p:spPr>
      </p:sp>
      <p:sp>
        <p:nvSpPr>
          <p:cNvPr id="16" name="Text 13"/>
          <p:cNvSpPr/>
          <p:nvPr/>
        </p:nvSpPr>
        <p:spPr>
          <a:xfrm>
            <a:off x="4046209" y="2135591"/>
            <a:ext cx="1051554" cy="128588"/>
          </a:xfrm>
          <a:prstGeom prst="rect">
            <a:avLst/>
          </a:prstGeom>
          <a:noFill/>
          <a:ln/>
        </p:spPr>
        <p:txBody>
          <a:bodyPr wrap="none" lIns="0" tIns="0" rIns="0" bIns="0" rtlCol="0" anchor="t">
            <a:spAutoFit/>
          </a:bodyPr>
          <a:lstStyle/>
          <a:p>
            <a:pPr algn="ctr" indent="0" marL="0">
              <a:buNone/>
            </a:pPr>
            <a:r>
              <a:rPr lang="en-US" sz="750" b="1" dirty="0">
                <a:solidFill>
                  <a:srgbClr val="F8FAFC"/>
                </a:solidFill>
                <a:latin typeface="Inter Bold" pitchFamily="34" charset="0"/>
                <a:ea typeface="Inter Bold" pitchFamily="34" charset="-122"/>
                <a:cs typeface="Inter Bold" pitchFamily="34" charset="-120"/>
              </a:rPr>
              <a:t>ROS 2 Node</a:t>
            </a:r>
            <a:endParaRPr lang="en-US" sz="750" dirty="0"/>
          </a:p>
        </p:txBody>
      </p:sp>
      <p:sp>
        <p:nvSpPr>
          <p:cNvPr id="17" name="Text 14"/>
          <p:cNvSpPr/>
          <p:nvPr/>
        </p:nvSpPr>
        <p:spPr>
          <a:xfrm>
            <a:off x="4046209" y="2307041"/>
            <a:ext cx="1051554" cy="96441"/>
          </a:xfrm>
          <a:prstGeom prst="rect">
            <a:avLst/>
          </a:prstGeom>
          <a:noFill/>
          <a:ln/>
        </p:spPr>
        <p:txBody>
          <a:bodyPr wrap="none" lIns="0" tIns="0" rIns="0" bIns="0" rtlCol="0" anchor="t">
            <a:spAutoFit/>
          </a:bodyPr>
          <a:lstStyle/>
          <a:p>
            <a:pPr algn="ctr" indent="0" marL="0">
              <a:buNone/>
            </a:pPr>
            <a:r>
              <a:rPr lang="en-US" sz="550" dirty="0">
                <a:solidFill>
                  <a:srgbClr val="94A3B8"/>
                </a:solidFill>
                <a:latin typeface="Inter" pitchFamily="34" charset="0"/>
                <a:ea typeface="Inter" pitchFamily="34" charset="-122"/>
                <a:cs typeface="Inter" pitchFamily="34" charset="-120"/>
              </a:rPr>
              <a:t>Middleware</a:t>
            </a:r>
            <a:endParaRPr lang="en-US" sz="550" dirty="0"/>
          </a:p>
        </p:txBody>
      </p:sp>
      <p:sp>
        <p:nvSpPr>
          <p:cNvPr id="18" name="Shape 15"/>
          <p:cNvSpPr/>
          <p:nvPr/>
        </p:nvSpPr>
        <p:spPr>
          <a:xfrm>
            <a:off x="5240638" y="2317756"/>
            <a:ext cx="228600" cy="14288"/>
          </a:xfrm>
          <a:prstGeom prst="rect">
            <a:avLst/>
          </a:prstGeom>
          <a:solidFill>
            <a:srgbClr val="991B1B"/>
          </a:solidFill>
          <a:ln/>
        </p:spPr>
      </p:sp>
      <p:sp>
        <p:nvSpPr>
          <p:cNvPr id="19" name="Shape 16"/>
          <p:cNvSpPr/>
          <p:nvPr/>
        </p:nvSpPr>
        <p:spPr>
          <a:xfrm>
            <a:off x="5497813" y="1983786"/>
            <a:ext cx="1280154" cy="571500"/>
          </a:xfrm>
          <a:prstGeom prst="rect">
            <a:avLst/>
          </a:prstGeom>
          <a:solidFill>
            <a:srgbClr val="1E293B"/>
          </a:solidFill>
          <a:ln w="9144">
            <a:solidFill>
              <a:srgbClr val="334155"/>
            </a:solidFill>
            <a:prstDash val="solid"/>
          </a:ln>
        </p:spPr>
      </p:sp>
      <p:sp>
        <p:nvSpPr>
          <p:cNvPr id="20" name="Text 17"/>
          <p:cNvSpPr/>
          <p:nvPr/>
        </p:nvSpPr>
        <p:spPr>
          <a:xfrm>
            <a:off x="5612113" y="2135591"/>
            <a:ext cx="1051554" cy="128588"/>
          </a:xfrm>
          <a:prstGeom prst="rect">
            <a:avLst/>
          </a:prstGeom>
          <a:noFill/>
          <a:ln/>
        </p:spPr>
        <p:txBody>
          <a:bodyPr wrap="none" lIns="0" tIns="0" rIns="0" bIns="0" rtlCol="0" anchor="t">
            <a:spAutoFit/>
          </a:bodyPr>
          <a:lstStyle/>
          <a:p>
            <a:pPr algn="ctr" indent="0" marL="0">
              <a:buNone/>
            </a:pPr>
            <a:r>
              <a:rPr lang="en-US" sz="750" b="1" dirty="0">
                <a:solidFill>
                  <a:srgbClr val="F8FAFC"/>
                </a:solidFill>
                <a:latin typeface="Inter Bold" pitchFamily="34" charset="0"/>
                <a:ea typeface="Inter Bold" pitchFamily="34" charset="-122"/>
                <a:cs typeface="Inter Bold" pitchFamily="34" charset="-120"/>
              </a:rPr>
              <a:t>uXRCE-DDS</a:t>
            </a:r>
            <a:endParaRPr lang="en-US" sz="750" dirty="0"/>
          </a:p>
        </p:txBody>
      </p:sp>
      <p:sp>
        <p:nvSpPr>
          <p:cNvPr id="21" name="Text 18"/>
          <p:cNvSpPr/>
          <p:nvPr/>
        </p:nvSpPr>
        <p:spPr>
          <a:xfrm>
            <a:off x="5612113" y="2307041"/>
            <a:ext cx="1051554" cy="96441"/>
          </a:xfrm>
          <a:prstGeom prst="rect">
            <a:avLst/>
          </a:prstGeom>
          <a:noFill/>
          <a:ln/>
        </p:spPr>
        <p:txBody>
          <a:bodyPr wrap="none" lIns="0" tIns="0" rIns="0" bIns="0" rtlCol="0" anchor="t">
            <a:spAutoFit/>
          </a:bodyPr>
          <a:lstStyle/>
          <a:p>
            <a:pPr algn="ctr" indent="0" marL="0">
              <a:buNone/>
            </a:pPr>
            <a:r>
              <a:rPr lang="en-US" sz="550" dirty="0">
                <a:solidFill>
                  <a:srgbClr val="94A3B8"/>
                </a:solidFill>
                <a:latin typeface="Inter" pitchFamily="34" charset="0"/>
                <a:ea typeface="Inter" pitchFamily="34" charset="-122"/>
                <a:cs typeface="Inter" pitchFamily="34" charset="-120"/>
              </a:rPr>
              <a:t>Bridge Protocol</a:t>
            </a:r>
            <a:endParaRPr lang="en-US" sz="550" dirty="0"/>
          </a:p>
        </p:txBody>
      </p:sp>
      <p:sp>
        <p:nvSpPr>
          <p:cNvPr id="22" name="Shape 19"/>
          <p:cNvSpPr/>
          <p:nvPr/>
        </p:nvSpPr>
        <p:spPr>
          <a:xfrm>
            <a:off x="6806543" y="2317756"/>
            <a:ext cx="228600" cy="14288"/>
          </a:xfrm>
          <a:prstGeom prst="rect">
            <a:avLst/>
          </a:prstGeom>
          <a:solidFill>
            <a:srgbClr val="991B1B"/>
          </a:solidFill>
          <a:ln/>
        </p:spPr>
      </p:sp>
      <p:sp>
        <p:nvSpPr>
          <p:cNvPr id="23" name="Shape 20"/>
          <p:cNvSpPr/>
          <p:nvPr/>
        </p:nvSpPr>
        <p:spPr>
          <a:xfrm>
            <a:off x="7063718" y="1983786"/>
            <a:ext cx="1280154" cy="571500"/>
          </a:xfrm>
          <a:prstGeom prst="rect">
            <a:avLst/>
          </a:prstGeom>
          <a:solidFill>
            <a:srgbClr val="1E293B"/>
          </a:solidFill>
          <a:ln w="9144">
            <a:solidFill>
              <a:srgbClr val="334155"/>
            </a:solidFill>
            <a:prstDash val="solid"/>
          </a:ln>
        </p:spPr>
      </p:sp>
      <p:sp>
        <p:nvSpPr>
          <p:cNvPr id="24" name="Text 21"/>
          <p:cNvSpPr/>
          <p:nvPr/>
        </p:nvSpPr>
        <p:spPr>
          <a:xfrm>
            <a:off x="7178018" y="2135591"/>
            <a:ext cx="1051554" cy="128588"/>
          </a:xfrm>
          <a:prstGeom prst="rect">
            <a:avLst/>
          </a:prstGeom>
          <a:noFill/>
          <a:ln/>
        </p:spPr>
        <p:txBody>
          <a:bodyPr wrap="none" lIns="0" tIns="0" rIns="0" bIns="0" rtlCol="0" anchor="t">
            <a:spAutoFit/>
          </a:bodyPr>
          <a:lstStyle/>
          <a:p>
            <a:pPr algn="ctr" indent="0" marL="0">
              <a:buNone/>
            </a:pPr>
            <a:r>
              <a:rPr lang="en-US" sz="750" b="1" dirty="0">
                <a:solidFill>
                  <a:srgbClr val="F8FAFC"/>
                </a:solidFill>
                <a:latin typeface="Inter Bold" pitchFamily="34" charset="0"/>
                <a:ea typeface="Inter Bold" pitchFamily="34" charset="-122"/>
                <a:cs typeface="Inter Bold" pitchFamily="34" charset="-120"/>
              </a:rPr>
              <a:t>PX4 EKF</a:t>
            </a:r>
            <a:endParaRPr lang="en-US" sz="750" dirty="0"/>
          </a:p>
        </p:txBody>
      </p:sp>
      <p:sp>
        <p:nvSpPr>
          <p:cNvPr id="25" name="Text 22"/>
          <p:cNvSpPr/>
          <p:nvPr/>
        </p:nvSpPr>
        <p:spPr>
          <a:xfrm>
            <a:off x="7178018" y="2307041"/>
            <a:ext cx="1051554" cy="96441"/>
          </a:xfrm>
          <a:prstGeom prst="rect">
            <a:avLst/>
          </a:prstGeom>
          <a:noFill/>
          <a:ln/>
        </p:spPr>
        <p:txBody>
          <a:bodyPr wrap="none" lIns="0" tIns="0" rIns="0" bIns="0" rtlCol="0" anchor="t">
            <a:spAutoFit/>
          </a:bodyPr>
          <a:lstStyle/>
          <a:p>
            <a:pPr algn="ctr" indent="0" marL="0">
              <a:buNone/>
            </a:pPr>
            <a:r>
              <a:rPr lang="en-US" sz="550" dirty="0">
                <a:solidFill>
                  <a:srgbClr val="94A3B8"/>
                </a:solidFill>
                <a:latin typeface="Inter" pitchFamily="34" charset="0"/>
                <a:ea typeface="Inter" pitchFamily="34" charset="-122"/>
                <a:cs typeface="Inter" pitchFamily="34" charset="-120"/>
              </a:rPr>
              <a:t>State Estimation</a:t>
            </a:r>
            <a:endParaRPr lang="en-US" sz="550" dirty="0"/>
          </a:p>
        </p:txBody>
      </p:sp>
      <p:sp>
        <p:nvSpPr>
          <p:cNvPr id="26" name="Text 23"/>
          <p:cNvSpPr/>
          <p:nvPr/>
        </p:nvSpPr>
        <p:spPr>
          <a:xfrm>
            <a:off x="571500" y="3237514"/>
            <a:ext cx="8001000" cy="244673"/>
          </a:xfrm>
          <a:prstGeom prst="rect">
            <a:avLst/>
          </a:prstGeom>
          <a:noFill/>
          <a:ln/>
        </p:spPr>
        <p:txBody>
          <a:bodyPr wrap="square" lIns="0" tIns="0" rIns="0" bIns="68072" rtlCol="0" anchor="t">
            <a:spAutoFit/>
          </a:bodyPr>
          <a:lstStyle/>
          <a:p>
            <a:pPr algn="l" indent="0" marL="0">
              <a:buNone/>
            </a:pPr>
            <a:r>
              <a:rPr lang="en-US" sz="1000" b="1" spc="1" kern="0" dirty="0">
                <a:solidFill>
                  <a:srgbClr val="0F172A"/>
                </a:solidFill>
                <a:latin typeface="Inter Bold" pitchFamily="34" charset="0"/>
                <a:ea typeface="Inter Bold" pitchFamily="34" charset="-122"/>
                <a:cs typeface="Inter Bold" pitchFamily="34" charset="-120"/>
              </a:rPr>
              <a:t>PX4 CONSUMER MODULES</a:t>
            </a:r>
            <a:endParaRPr lang="en-US" sz="1000" dirty="0"/>
          </a:p>
        </p:txBody>
      </p:sp>
      <p:sp>
        <p:nvSpPr>
          <p:cNvPr id="27" name="Shape 24"/>
          <p:cNvSpPr/>
          <p:nvPr/>
        </p:nvSpPr>
        <p:spPr>
          <a:xfrm>
            <a:off x="571500" y="3653637"/>
            <a:ext cx="171450" cy="171450"/>
          </a:xfrm>
          <a:prstGeom prst="ellipse">
            <a:avLst/>
          </a:prstGeom>
          <a:solidFill>
            <a:srgbClr val="991B1B"/>
          </a:solidFill>
          <a:ln/>
        </p:spPr>
      </p:sp>
      <p:sp>
        <p:nvSpPr>
          <p:cNvPr id="28" name="Text 25"/>
          <p:cNvSpPr/>
          <p:nvPr/>
        </p:nvSpPr>
        <p:spPr>
          <a:xfrm>
            <a:off x="571500" y="3653637"/>
            <a:ext cx="171450" cy="171450"/>
          </a:xfrm>
          <a:prstGeom prst="rect">
            <a:avLst/>
          </a:prstGeom>
          <a:noFill/>
          <a:ln/>
        </p:spPr>
        <p:txBody>
          <a:bodyPr wrap="none" lIns="0" tIns="0" rIns="0" bIns="0" rtlCol="0" anchor="ctr">
            <a:spAutoFit/>
          </a:bodyPr>
          <a:lstStyle/>
          <a:p>
            <a:pPr algn="ctr" indent="0" marL="0">
              <a:buNone/>
            </a:pPr>
            <a:r>
              <a:rPr lang="en-US" sz="600" b="1" dirty="0">
                <a:solidFill>
                  <a:srgbClr val="FFFFFF"/>
                </a:solidFill>
                <a:latin typeface="Inter Bold" pitchFamily="34" charset="0"/>
                <a:ea typeface="Inter Bold" pitchFamily="34" charset="-122"/>
                <a:cs typeface="Inter Bold" pitchFamily="34" charset="-120"/>
              </a:rPr>
              <a:t>1</a:t>
            </a:r>
            <a:endParaRPr lang="en-US" sz="600" dirty="0"/>
          </a:p>
        </p:txBody>
      </p:sp>
      <p:sp>
        <p:nvSpPr>
          <p:cNvPr id="29" name="Text 26"/>
          <p:cNvSpPr/>
          <p:nvPr/>
        </p:nvSpPr>
        <p:spPr>
          <a:xfrm>
            <a:off x="828675" y="3670604"/>
            <a:ext cx="1107281" cy="137517"/>
          </a:xfrm>
          <a:prstGeom prst="rect">
            <a:avLst/>
          </a:prstGeom>
          <a:noFill/>
          <a:ln/>
        </p:spPr>
        <p:txBody>
          <a:bodyPr wrap="none" lIns="0" tIns="0" rIns="0" bIns="0" rtlCol="0" anchor="t">
            <a:spAutoFit/>
          </a:bodyPr>
          <a:lstStyle/>
          <a:p>
            <a:pPr algn="l" indent="0" marL="0">
              <a:buNone/>
            </a:pPr>
            <a:r>
              <a:rPr lang="en-US" sz="800" b="1" dirty="0">
                <a:solidFill>
                  <a:srgbClr val="0F172A"/>
                </a:solidFill>
                <a:latin typeface="Inter Bold" pitchFamily="34" charset="0"/>
                <a:ea typeface="Inter Bold" pitchFamily="34" charset="-122"/>
                <a:cs typeface="Inter Bold" pitchFamily="34" charset="-120"/>
              </a:rPr>
              <a:t>Collision Prevention</a:t>
            </a:r>
            <a:endParaRPr lang="en-US" sz="800" dirty="0"/>
          </a:p>
        </p:txBody>
      </p:sp>
      <p:sp>
        <p:nvSpPr>
          <p:cNvPr id="30" name="Text 27"/>
          <p:cNvSpPr/>
          <p:nvPr/>
        </p:nvSpPr>
        <p:spPr>
          <a:xfrm>
            <a:off x="571500" y="3910812"/>
            <a:ext cx="2476509" cy="514350"/>
          </a:xfrm>
          <a:prstGeom prst="rect">
            <a:avLst/>
          </a:prstGeom>
          <a:noFill/>
          <a:ln/>
        </p:spPr>
        <p:txBody>
          <a:bodyPr wrap="square" lIns="306197" tIns="0" rIns="0" bIns="0" rtlCol="0" anchor="t">
            <a:spAutoFit/>
          </a:bodyPr>
          <a:lstStyle/>
          <a:p>
            <a:pPr algn="l" indent="0" marL="0">
              <a:lnSpc>
                <a:spcPct val="128000"/>
              </a:lnSpc>
              <a:buNone/>
            </a:pPr>
            <a:r>
              <a:rPr lang="en-US" sz="800" dirty="0">
                <a:solidFill>
                  <a:srgbClr val="334155"/>
                </a:solidFill>
                <a:latin typeface="Inter" pitchFamily="34" charset="0"/>
                <a:ea typeface="Inter" pitchFamily="34" charset="-122"/>
                <a:cs typeface="Inter" pitchFamily="34" charset="-120"/>
              </a:rPr>
              <a:t>Automatically slows or stops the drone to avoid obstacles based on incoming distance sensor data.</a:t>
            </a:r>
            <a:endParaRPr lang="en-US" sz="800" dirty="0"/>
          </a:p>
        </p:txBody>
      </p:sp>
      <p:sp>
        <p:nvSpPr>
          <p:cNvPr id="31" name="Shape 28"/>
          <p:cNvSpPr/>
          <p:nvPr/>
        </p:nvSpPr>
        <p:spPr>
          <a:xfrm>
            <a:off x="3333759" y="3653637"/>
            <a:ext cx="171450" cy="171450"/>
          </a:xfrm>
          <a:prstGeom prst="ellipse">
            <a:avLst/>
          </a:prstGeom>
          <a:solidFill>
            <a:srgbClr val="991B1B"/>
          </a:solidFill>
          <a:ln/>
        </p:spPr>
      </p:sp>
      <p:sp>
        <p:nvSpPr>
          <p:cNvPr id="32" name="Text 29"/>
          <p:cNvSpPr/>
          <p:nvPr/>
        </p:nvSpPr>
        <p:spPr>
          <a:xfrm>
            <a:off x="3333759" y="3653637"/>
            <a:ext cx="171450" cy="171450"/>
          </a:xfrm>
          <a:prstGeom prst="rect">
            <a:avLst/>
          </a:prstGeom>
          <a:noFill/>
          <a:ln/>
        </p:spPr>
        <p:txBody>
          <a:bodyPr wrap="none" lIns="0" tIns="0" rIns="0" bIns="0" rtlCol="0" anchor="ctr">
            <a:spAutoFit/>
          </a:bodyPr>
          <a:lstStyle/>
          <a:p>
            <a:pPr algn="ctr" indent="0" marL="0">
              <a:buNone/>
            </a:pPr>
            <a:r>
              <a:rPr lang="en-US" sz="600" b="1" dirty="0">
                <a:solidFill>
                  <a:srgbClr val="FFFFFF"/>
                </a:solidFill>
                <a:latin typeface="Inter Bold" pitchFamily="34" charset="0"/>
                <a:ea typeface="Inter Bold" pitchFamily="34" charset="-122"/>
                <a:cs typeface="Inter Bold" pitchFamily="34" charset="-120"/>
              </a:rPr>
              <a:t>2</a:t>
            </a:r>
            <a:endParaRPr lang="en-US" sz="600" dirty="0"/>
          </a:p>
        </p:txBody>
      </p:sp>
      <p:sp>
        <p:nvSpPr>
          <p:cNvPr id="33" name="Text 30"/>
          <p:cNvSpPr/>
          <p:nvPr/>
        </p:nvSpPr>
        <p:spPr>
          <a:xfrm>
            <a:off x="3590934" y="3670604"/>
            <a:ext cx="617934" cy="137517"/>
          </a:xfrm>
          <a:prstGeom prst="rect">
            <a:avLst/>
          </a:prstGeom>
          <a:noFill/>
          <a:ln/>
        </p:spPr>
        <p:txBody>
          <a:bodyPr wrap="none" lIns="0" tIns="0" rIns="0" bIns="0" rtlCol="0" anchor="t">
            <a:spAutoFit/>
          </a:bodyPr>
          <a:lstStyle/>
          <a:p>
            <a:pPr algn="l" indent="0" marL="0">
              <a:buNone/>
            </a:pPr>
            <a:r>
              <a:rPr lang="en-US" sz="800" b="1" dirty="0">
                <a:solidFill>
                  <a:srgbClr val="0F172A"/>
                </a:solidFill>
                <a:latin typeface="Inter Bold" pitchFamily="34" charset="0"/>
                <a:ea typeface="Inter Bold" pitchFamily="34" charset="-122"/>
                <a:cs typeface="Inter Bold" pitchFamily="34" charset="-120"/>
              </a:rPr>
              <a:t>EKF Fusion</a:t>
            </a:r>
            <a:endParaRPr lang="en-US" sz="800" dirty="0"/>
          </a:p>
        </p:txBody>
      </p:sp>
      <p:sp>
        <p:nvSpPr>
          <p:cNvPr id="34" name="Text 31"/>
          <p:cNvSpPr/>
          <p:nvPr/>
        </p:nvSpPr>
        <p:spPr>
          <a:xfrm>
            <a:off x="3333759" y="3910812"/>
            <a:ext cx="2476509" cy="685800"/>
          </a:xfrm>
          <a:prstGeom prst="rect">
            <a:avLst/>
          </a:prstGeom>
          <a:noFill/>
          <a:ln/>
        </p:spPr>
        <p:txBody>
          <a:bodyPr wrap="square" lIns="306197" tIns="0" rIns="0" bIns="0" rtlCol="0" anchor="t">
            <a:spAutoFit/>
          </a:bodyPr>
          <a:lstStyle/>
          <a:p>
            <a:pPr algn="l" indent="0" marL="0">
              <a:lnSpc>
                <a:spcPct val="128000"/>
              </a:lnSpc>
              <a:buNone/>
            </a:pPr>
            <a:r>
              <a:rPr lang="en-US" sz="800" dirty="0">
                <a:solidFill>
                  <a:srgbClr val="334155"/>
                </a:solidFill>
                <a:latin typeface="Inter" pitchFamily="34" charset="0"/>
                <a:ea typeface="Inter" pitchFamily="34" charset="-122"/>
                <a:cs typeface="Inter" pitchFamily="34" charset="-120"/>
              </a:rPr>
              <a:t>Improves position and velocity estimates without relying solely on GPS, by fusing external data into the Extended Kalman Filter.</a:t>
            </a:r>
            <a:endParaRPr lang="en-US" sz="800" dirty="0"/>
          </a:p>
        </p:txBody>
      </p:sp>
      <p:sp>
        <p:nvSpPr>
          <p:cNvPr id="35" name="Shape 32"/>
          <p:cNvSpPr/>
          <p:nvPr/>
        </p:nvSpPr>
        <p:spPr>
          <a:xfrm>
            <a:off x="6096019" y="3653637"/>
            <a:ext cx="171450" cy="171450"/>
          </a:xfrm>
          <a:prstGeom prst="ellipse">
            <a:avLst/>
          </a:prstGeom>
          <a:solidFill>
            <a:srgbClr val="991B1B"/>
          </a:solidFill>
          <a:ln/>
        </p:spPr>
      </p:sp>
      <p:sp>
        <p:nvSpPr>
          <p:cNvPr id="36" name="Text 33"/>
          <p:cNvSpPr/>
          <p:nvPr/>
        </p:nvSpPr>
        <p:spPr>
          <a:xfrm>
            <a:off x="6096019" y="3653637"/>
            <a:ext cx="171450" cy="171450"/>
          </a:xfrm>
          <a:prstGeom prst="rect">
            <a:avLst/>
          </a:prstGeom>
          <a:noFill/>
          <a:ln/>
        </p:spPr>
        <p:txBody>
          <a:bodyPr wrap="none" lIns="0" tIns="0" rIns="0" bIns="0" rtlCol="0" anchor="ctr">
            <a:spAutoFit/>
          </a:bodyPr>
          <a:lstStyle/>
          <a:p>
            <a:pPr algn="ctr" indent="0" marL="0">
              <a:buNone/>
            </a:pPr>
            <a:r>
              <a:rPr lang="en-US" sz="600" b="1" dirty="0">
                <a:solidFill>
                  <a:srgbClr val="FFFFFF"/>
                </a:solidFill>
                <a:latin typeface="Inter Bold" pitchFamily="34" charset="0"/>
                <a:ea typeface="Inter Bold" pitchFamily="34" charset="-122"/>
                <a:cs typeface="Inter Bold" pitchFamily="34" charset="-120"/>
              </a:rPr>
              <a:t>3</a:t>
            </a:r>
            <a:endParaRPr lang="en-US" sz="600" dirty="0"/>
          </a:p>
        </p:txBody>
      </p:sp>
      <p:sp>
        <p:nvSpPr>
          <p:cNvPr id="37" name="Text 34"/>
          <p:cNvSpPr/>
          <p:nvPr/>
        </p:nvSpPr>
        <p:spPr>
          <a:xfrm>
            <a:off x="6353194" y="3670604"/>
            <a:ext cx="930473" cy="137517"/>
          </a:xfrm>
          <a:prstGeom prst="rect">
            <a:avLst/>
          </a:prstGeom>
          <a:noFill/>
          <a:ln/>
        </p:spPr>
        <p:txBody>
          <a:bodyPr wrap="none" lIns="0" tIns="0" rIns="0" bIns="0" rtlCol="0" anchor="t">
            <a:spAutoFit/>
          </a:bodyPr>
          <a:lstStyle/>
          <a:p>
            <a:pPr algn="l" indent="0" marL="0">
              <a:buNone/>
            </a:pPr>
            <a:r>
              <a:rPr lang="en-US" sz="800" b="1" dirty="0">
                <a:solidFill>
                  <a:srgbClr val="0F172A"/>
                </a:solidFill>
                <a:latin typeface="Inter Bold" pitchFamily="34" charset="0"/>
                <a:ea typeface="Inter Bold" pitchFamily="34" charset="-122"/>
                <a:cs typeface="Inter Bold" pitchFamily="34" charset="-120"/>
              </a:rPr>
              <a:t>Offboard Control</a:t>
            </a:r>
            <a:endParaRPr lang="en-US" sz="800" dirty="0"/>
          </a:p>
        </p:txBody>
      </p:sp>
      <p:sp>
        <p:nvSpPr>
          <p:cNvPr id="38" name="Text 35"/>
          <p:cNvSpPr/>
          <p:nvPr/>
        </p:nvSpPr>
        <p:spPr>
          <a:xfrm>
            <a:off x="6096019" y="3910812"/>
            <a:ext cx="2476509" cy="514350"/>
          </a:xfrm>
          <a:prstGeom prst="rect">
            <a:avLst/>
          </a:prstGeom>
          <a:noFill/>
          <a:ln/>
        </p:spPr>
        <p:txBody>
          <a:bodyPr wrap="square" lIns="306197" tIns="0" rIns="0" bIns="0" rtlCol="0" anchor="t">
            <a:spAutoFit/>
          </a:bodyPr>
          <a:lstStyle/>
          <a:p>
            <a:pPr algn="l" indent="0" marL="0">
              <a:lnSpc>
                <a:spcPct val="128000"/>
              </a:lnSpc>
              <a:buNone/>
            </a:pPr>
            <a:r>
              <a:rPr lang="en-US" sz="800" dirty="0">
                <a:solidFill>
                  <a:srgbClr val="334155"/>
                </a:solidFill>
                <a:latin typeface="Inter" pitchFamily="34" charset="0"/>
                <a:ea typeface="Inter" pitchFamily="34" charset="-122"/>
                <a:cs typeface="Inter" pitchFamily="34" charset="-120"/>
              </a:rPr>
              <a:t>Enables the AI to utilize real-time sensor data directly for dynamic path planning and navigation adjustments.</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571500" y="342900"/>
            <a:ext cx="8001000" cy="360759"/>
          </a:xfrm>
          <a:prstGeom prst="rect">
            <a:avLst/>
          </a:prstGeom>
          <a:noFill/>
          <a:ln/>
        </p:spPr>
        <p:txBody>
          <a:bodyPr wrap="square" lIns="0" tIns="0" rIns="0" bIns="0" rtlCol="0" anchor="t">
            <a:spAutoFit/>
          </a:bodyPr>
          <a:lstStyle/>
          <a:p>
            <a:pPr algn="l" indent="0" marL="0">
              <a:buNone/>
            </a:pPr>
            <a:r>
              <a:rPr lang="en-US" sz="1900" b="1" dirty="0">
                <a:solidFill>
                  <a:srgbClr val="0F172A"/>
                </a:solidFill>
                <a:latin typeface="Playfair Display ExtraBold" pitchFamily="34" charset="0"/>
                <a:ea typeface="Playfair Display ExtraBold" pitchFamily="34" charset="-122"/>
                <a:cs typeface="Playfair Display ExtraBold" pitchFamily="34" charset="-120"/>
              </a:rPr>
              <a:t>Onboard Heartbeat Failsafe Chain</a:t>
            </a:r>
            <a:endParaRPr lang="en-US" sz="1900" dirty="0"/>
          </a:p>
        </p:txBody>
      </p:sp>
      <p:sp>
        <p:nvSpPr>
          <p:cNvPr id="4" name="Text 1"/>
          <p:cNvSpPr/>
          <p:nvPr/>
        </p:nvSpPr>
        <p:spPr>
          <a:xfrm>
            <a:off x="1714500" y="1017984"/>
            <a:ext cx="5715000" cy="365727"/>
          </a:xfrm>
          <a:prstGeom prst="rect">
            <a:avLst/>
          </a:prstGeom>
          <a:noFill/>
          <a:ln/>
        </p:spPr>
        <p:txBody>
          <a:bodyPr wrap="square" lIns="0" tIns="0" rIns="0" bIns="0" rtlCol="0" anchor="t">
            <a:spAutoFit/>
          </a:bodyPr>
          <a:lstStyle/>
          <a:p>
            <a:pPr algn="ctr" indent="0" marL="0">
              <a:lnSpc>
                <a:spcPct val="128000"/>
              </a:lnSpc>
              <a:buNone/>
            </a:pPr>
            <a:r>
              <a:rPr lang="en-US" sz="850" dirty="0">
                <a:solidFill>
                  <a:srgbClr val="334155"/>
                </a:solidFill>
                <a:latin typeface="Inter" pitchFamily="34" charset="0"/>
                <a:ea typeface="Inter" pitchFamily="34" charset="-122"/>
                <a:cs typeface="Inter" pitchFamily="34" charset="-120"/>
              </a:rPr>
              <a:t>This failsafe chain is distinct from ground-link loss and ensures PX4 always has a safety net. It governs the companion-computer ↔ PX4 link loss.</a:t>
            </a:r>
            <a:endParaRPr lang="en-US" sz="850" dirty="0"/>
          </a:p>
        </p:txBody>
      </p:sp>
      <p:sp>
        <p:nvSpPr>
          <p:cNvPr id="5" name="Shape 2"/>
          <p:cNvSpPr/>
          <p:nvPr/>
        </p:nvSpPr>
        <p:spPr>
          <a:xfrm>
            <a:off x="1500188" y="1526586"/>
            <a:ext cx="342900" cy="342900"/>
          </a:xfrm>
          <a:prstGeom prst="ellipse">
            <a:avLst/>
          </a:prstGeom>
          <a:solidFill>
            <a:srgbClr val="0F172A"/>
          </a:solidFill>
          <a:ln/>
        </p:spPr>
      </p:sp>
      <p:sp>
        <p:nvSpPr>
          <p:cNvPr id="6" name="Text 3"/>
          <p:cNvSpPr/>
          <p:nvPr/>
        </p:nvSpPr>
        <p:spPr>
          <a:xfrm>
            <a:off x="1500188" y="1526586"/>
            <a:ext cx="342900" cy="342900"/>
          </a:xfrm>
          <a:prstGeom prst="rect">
            <a:avLst/>
          </a:prstGeom>
          <a:noFill/>
          <a:ln/>
        </p:spPr>
        <p:txBody>
          <a:bodyPr wrap="none" lIns="0" tIns="0" rIns="0" bIns="0" rtlCol="0" anchor="ctr">
            <a:spAutoFit/>
          </a:bodyPr>
          <a:lstStyle/>
          <a:p>
            <a:pPr algn="ctr" indent="0" marL="0">
              <a:buNone/>
            </a:pPr>
            <a:r>
              <a:rPr lang="en-US" sz="1000" b="1" dirty="0">
                <a:solidFill>
                  <a:srgbClr val="F8FAFC"/>
                </a:solidFill>
                <a:latin typeface="Inter Bold" pitchFamily="34" charset="0"/>
                <a:ea typeface="Inter Bold" pitchFamily="34" charset="-122"/>
                <a:cs typeface="Inter Bold" pitchFamily="34" charset="-120"/>
              </a:rPr>
              <a:t>1</a:t>
            </a:r>
            <a:endParaRPr lang="en-US" sz="1000" dirty="0"/>
          </a:p>
        </p:txBody>
      </p:sp>
      <p:sp>
        <p:nvSpPr>
          <p:cNvPr id="7" name="Shape 4"/>
          <p:cNvSpPr/>
          <p:nvPr/>
        </p:nvSpPr>
        <p:spPr>
          <a:xfrm>
            <a:off x="1957388" y="1526586"/>
            <a:ext cx="2528888" cy="626864"/>
          </a:xfrm>
          <a:prstGeom prst="rect">
            <a:avLst/>
          </a:prstGeom>
          <a:solidFill>
            <a:srgbClr val="FFFFFF"/>
          </a:solidFill>
          <a:ln w="18288">
            <a:solidFill>
              <a:srgbClr val="E2E8F0"/>
            </a:solidFill>
            <a:prstDash val="solid"/>
          </a:ln>
        </p:spPr>
      </p:sp>
      <p:sp>
        <p:nvSpPr>
          <p:cNvPr id="8" name="Text 5"/>
          <p:cNvSpPr/>
          <p:nvPr/>
        </p:nvSpPr>
        <p:spPr>
          <a:xfrm>
            <a:off x="2085975" y="1612311"/>
            <a:ext cx="2271713" cy="155377"/>
          </a:xfrm>
          <a:prstGeom prst="rect">
            <a:avLst/>
          </a:prstGeom>
          <a:noFill/>
          <a:ln/>
        </p:spPr>
        <p:txBody>
          <a:bodyPr wrap="square" lIns="0" tIns="0" rIns="0" bIns="0" rtlCol="0" anchor="t">
            <a:spAutoFit/>
          </a:bodyPr>
          <a:lstStyle/>
          <a:p>
            <a:pPr algn="l" indent="0" marL="0">
              <a:buNone/>
            </a:pPr>
            <a:r>
              <a:rPr lang="en-US" sz="900" b="1" dirty="0">
                <a:solidFill>
                  <a:srgbClr val="0F172A"/>
                </a:solidFill>
                <a:latin typeface="Inter Bold" pitchFamily="34" charset="0"/>
                <a:ea typeface="Inter Bold" pitchFamily="34" charset="-122"/>
                <a:cs typeface="Inter Bold" pitchFamily="34" charset="-120"/>
              </a:rPr>
              <a:t>AI Freezes</a:t>
            </a:r>
            <a:endParaRPr lang="en-US" sz="900" dirty="0"/>
          </a:p>
        </p:txBody>
      </p:sp>
      <p:sp>
        <p:nvSpPr>
          <p:cNvPr id="9" name="Text 6"/>
          <p:cNvSpPr/>
          <p:nvPr/>
        </p:nvSpPr>
        <p:spPr>
          <a:xfrm>
            <a:off x="2085975" y="1796262"/>
            <a:ext cx="2271713" cy="242888"/>
          </a:xfrm>
          <a:prstGeom prst="rect">
            <a:avLst/>
          </a:prstGeom>
          <a:noFill/>
          <a:ln/>
        </p:spPr>
        <p:txBody>
          <a:bodyPr wrap="square" lIns="0" tIns="0" rIns="0" bIns="0" rtlCol="0" anchor="t">
            <a:spAutoFit/>
          </a:bodyPr>
          <a:lstStyle/>
          <a:p>
            <a:pPr algn="l" indent="0" marL="0">
              <a:buNone/>
            </a:pPr>
            <a:r>
              <a:rPr lang="en-US" sz="750" dirty="0">
                <a:solidFill>
                  <a:srgbClr val="64748B"/>
                </a:solidFill>
                <a:latin typeface="Inter" pitchFamily="34" charset="0"/>
                <a:ea typeface="Inter" pitchFamily="34" charset="-122"/>
                <a:cs typeface="Inter" pitchFamily="34" charset="-120"/>
              </a:rPr>
              <a:t>Software crash, hardware fault, or cable disconnection causes the heartbeat to stop.</a:t>
            </a:r>
            <a:endParaRPr lang="en-US" sz="750" dirty="0"/>
          </a:p>
        </p:txBody>
      </p:sp>
      <p:sp>
        <p:nvSpPr>
          <p:cNvPr id="10" name="Shape 7"/>
          <p:cNvSpPr/>
          <p:nvPr/>
        </p:nvSpPr>
        <p:spPr>
          <a:xfrm>
            <a:off x="4657725" y="1526586"/>
            <a:ext cx="342900" cy="342900"/>
          </a:xfrm>
          <a:prstGeom prst="ellipse">
            <a:avLst/>
          </a:prstGeom>
          <a:solidFill>
            <a:srgbClr val="0F172A"/>
          </a:solidFill>
          <a:ln/>
        </p:spPr>
      </p:sp>
      <p:sp>
        <p:nvSpPr>
          <p:cNvPr id="11" name="Text 8"/>
          <p:cNvSpPr/>
          <p:nvPr/>
        </p:nvSpPr>
        <p:spPr>
          <a:xfrm>
            <a:off x="4657725" y="1526586"/>
            <a:ext cx="342900" cy="342900"/>
          </a:xfrm>
          <a:prstGeom prst="rect">
            <a:avLst/>
          </a:prstGeom>
          <a:noFill/>
          <a:ln/>
        </p:spPr>
        <p:txBody>
          <a:bodyPr wrap="none" lIns="0" tIns="0" rIns="0" bIns="0" rtlCol="0" anchor="ctr">
            <a:spAutoFit/>
          </a:bodyPr>
          <a:lstStyle/>
          <a:p>
            <a:pPr algn="ctr" indent="0" marL="0">
              <a:buNone/>
            </a:pPr>
            <a:r>
              <a:rPr lang="en-US" sz="1000" b="1" dirty="0">
                <a:solidFill>
                  <a:srgbClr val="F8FAFC"/>
                </a:solidFill>
                <a:latin typeface="Inter Bold" pitchFamily="34" charset="0"/>
                <a:ea typeface="Inter Bold" pitchFamily="34" charset="-122"/>
                <a:cs typeface="Inter Bold" pitchFamily="34" charset="-120"/>
              </a:rPr>
              <a:t>2</a:t>
            </a:r>
            <a:endParaRPr lang="en-US" sz="1000" dirty="0"/>
          </a:p>
        </p:txBody>
      </p:sp>
      <p:sp>
        <p:nvSpPr>
          <p:cNvPr id="12" name="Shape 9"/>
          <p:cNvSpPr/>
          <p:nvPr/>
        </p:nvSpPr>
        <p:spPr>
          <a:xfrm>
            <a:off x="5114925" y="1526586"/>
            <a:ext cx="2528888" cy="626864"/>
          </a:xfrm>
          <a:prstGeom prst="rect">
            <a:avLst/>
          </a:prstGeom>
          <a:solidFill>
            <a:srgbClr val="FFFFFF"/>
          </a:solidFill>
          <a:ln w="18288">
            <a:solidFill>
              <a:srgbClr val="E2E8F0"/>
            </a:solidFill>
            <a:prstDash val="solid"/>
          </a:ln>
        </p:spPr>
      </p:sp>
      <p:sp>
        <p:nvSpPr>
          <p:cNvPr id="13" name="Text 10"/>
          <p:cNvSpPr/>
          <p:nvPr/>
        </p:nvSpPr>
        <p:spPr>
          <a:xfrm>
            <a:off x="5243513" y="1612311"/>
            <a:ext cx="2271713" cy="155377"/>
          </a:xfrm>
          <a:prstGeom prst="rect">
            <a:avLst/>
          </a:prstGeom>
          <a:noFill/>
          <a:ln/>
        </p:spPr>
        <p:txBody>
          <a:bodyPr wrap="square" lIns="0" tIns="0" rIns="0" bIns="0" rtlCol="0" anchor="t">
            <a:spAutoFit/>
          </a:bodyPr>
          <a:lstStyle/>
          <a:p>
            <a:pPr algn="l" indent="0" marL="0">
              <a:buNone/>
            </a:pPr>
            <a:r>
              <a:rPr lang="en-US" sz="900" b="1" dirty="0">
                <a:solidFill>
                  <a:srgbClr val="0F172A"/>
                </a:solidFill>
                <a:latin typeface="Inter Bold" pitchFamily="34" charset="0"/>
                <a:ea typeface="Inter Bold" pitchFamily="34" charset="-122"/>
                <a:cs typeface="Inter Bold" pitchFamily="34" charset="-120"/>
              </a:rPr>
              <a:t>PX4 Detects Loss</a:t>
            </a:r>
            <a:endParaRPr lang="en-US" sz="900" dirty="0"/>
          </a:p>
        </p:txBody>
      </p:sp>
      <p:sp>
        <p:nvSpPr>
          <p:cNvPr id="14" name="Text 11"/>
          <p:cNvSpPr/>
          <p:nvPr/>
        </p:nvSpPr>
        <p:spPr>
          <a:xfrm>
            <a:off x="5243513" y="1796262"/>
            <a:ext cx="2271713" cy="242888"/>
          </a:xfrm>
          <a:prstGeom prst="rect">
            <a:avLst/>
          </a:prstGeom>
          <a:noFill/>
          <a:ln/>
        </p:spPr>
        <p:txBody>
          <a:bodyPr wrap="square" lIns="0" tIns="0" rIns="0" bIns="0" rtlCol="0" anchor="t">
            <a:spAutoFit/>
          </a:bodyPr>
          <a:lstStyle/>
          <a:p>
            <a:pPr algn="l" indent="0" marL="0">
              <a:buNone/>
            </a:pPr>
            <a:r>
              <a:rPr lang="en-US" sz="750" dirty="0">
                <a:solidFill>
                  <a:srgbClr val="64748B"/>
                </a:solidFill>
                <a:latin typeface="Inter" pitchFamily="34" charset="0"/>
                <a:ea typeface="Inter" pitchFamily="34" charset="-122"/>
                <a:cs typeface="Inter" pitchFamily="34" charset="-120"/>
              </a:rPr>
              <a:t>PX4 flight stack detects the missing OffboardControlMode heartbeat signal.</a:t>
            </a:r>
            <a:endParaRPr lang="en-US" sz="750" dirty="0"/>
          </a:p>
        </p:txBody>
      </p:sp>
      <p:sp>
        <p:nvSpPr>
          <p:cNvPr id="15" name="Shape 12"/>
          <p:cNvSpPr/>
          <p:nvPr/>
        </p:nvSpPr>
        <p:spPr>
          <a:xfrm>
            <a:off x="1500188" y="2239175"/>
            <a:ext cx="342900" cy="342900"/>
          </a:xfrm>
          <a:prstGeom prst="ellipse">
            <a:avLst/>
          </a:prstGeom>
          <a:solidFill>
            <a:srgbClr val="0F172A"/>
          </a:solidFill>
          <a:ln/>
        </p:spPr>
      </p:sp>
      <p:sp>
        <p:nvSpPr>
          <p:cNvPr id="16" name="Text 13"/>
          <p:cNvSpPr/>
          <p:nvPr/>
        </p:nvSpPr>
        <p:spPr>
          <a:xfrm>
            <a:off x="1500188" y="2239175"/>
            <a:ext cx="342900" cy="342900"/>
          </a:xfrm>
          <a:prstGeom prst="rect">
            <a:avLst/>
          </a:prstGeom>
          <a:noFill/>
          <a:ln/>
        </p:spPr>
        <p:txBody>
          <a:bodyPr wrap="none" lIns="0" tIns="0" rIns="0" bIns="0" rtlCol="0" anchor="ctr">
            <a:spAutoFit/>
          </a:bodyPr>
          <a:lstStyle/>
          <a:p>
            <a:pPr algn="ctr" indent="0" marL="0">
              <a:buNone/>
            </a:pPr>
            <a:r>
              <a:rPr lang="en-US" sz="1000" b="1" dirty="0">
                <a:solidFill>
                  <a:srgbClr val="F8FAFC"/>
                </a:solidFill>
                <a:latin typeface="Inter Bold" pitchFamily="34" charset="0"/>
                <a:ea typeface="Inter Bold" pitchFamily="34" charset="-122"/>
                <a:cs typeface="Inter Bold" pitchFamily="34" charset="-120"/>
              </a:rPr>
              <a:t>3</a:t>
            </a:r>
            <a:endParaRPr lang="en-US" sz="1000" dirty="0"/>
          </a:p>
        </p:txBody>
      </p:sp>
      <p:sp>
        <p:nvSpPr>
          <p:cNvPr id="17" name="Shape 14"/>
          <p:cNvSpPr/>
          <p:nvPr/>
        </p:nvSpPr>
        <p:spPr>
          <a:xfrm>
            <a:off x="1957388" y="2239175"/>
            <a:ext cx="2528888" cy="626864"/>
          </a:xfrm>
          <a:prstGeom prst="rect">
            <a:avLst/>
          </a:prstGeom>
          <a:solidFill>
            <a:srgbClr val="FFFFFF"/>
          </a:solidFill>
          <a:ln w="18288">
            <a:solidFill>
              <a:srgbClr val="E2E8F0"/>
            </a:solidFill>
            <a:prstDash val="solid"/>
          </a:ln>
        </p:spPr>
      </p:sp>
      <p:sp>
        <p:nvSpPr>
          <p:cNvPr id="18" name="Text 15"/>
          <p:cNvSpPr/>
          <p:nvPr/>
        </p:nvSpPr>
        <p:spPr>
          <a:xfrm>
            <a:off x="2085975" y="2324900"/>
            <a:ext cx="2271713" cy="155377"/>
          </a:xfrm>
          <a:prstGeom prst="rect">
            <a:avLst/>
          </a:prstGeom>
          <a:noFill/>
          <a:ln/>
        </p:spPr>
        <p:txBody>
          <a:bodyPr wrap="square" lIns="0" tIns="0" rIns="0" bIns="0" rtlCol="0" anchor="t">
            <a:spAutoFit/>
          </a:bodyPr>
          <a:lstStyle/>
          <a:p>
            <a:pPr algn="l" indent="0" marL="0">
              <a:buNone/>
            </a:pPr>
            <a:r>
              <a:rPr lang="en-US" sz="900" b="1" dirty="0">
                <a:solidFill>
                  <a:srgbClr val="0F172A"/>
                </a:solidFill>
                <a:latin typeface="Inter Bold" pitchFamily="34" charset="0"/>
                <a:ea typeface="Inter Bold" pitchFamily="34" charset="-122"/>
                <a:cs typeface="Inter Bold" pitchFamily="34" charset="-120"/>
              </a:rPr>
              <a:t>Auto-Transition</a:t>
            </a:r>
            <a:endParaRPr lang="en-US" sz="900" dirty="0"/>
          </a:p>
        </p:txBody>
      </p:sp>
      <p:sp>
        <p:nvSpPr>
          <p:cNvPr id="19" name="Text 16"/>
          <p:cNvSpPr/>
          <p:nvPr/>
        </p:nvSpPr>
        <p:spPr>
          <a:xfrm>
            <a:off x="2085975" y="2508852"/>
            <a:ext cx="2271713" cy="242888"/>
          </a:xfrm>
          <a:prstGeom prst="rect">
            <a:avLst/>
          </a:prstGeom>
          <a:noFill/>
          <a:ln/>
        </p:spPr>
        <p:txBody>
          <a:bodyPr wrap="square" lIns="0" tIns="0" rIns="0" bIns="0" rtlCol="0" anchor="t">
            <a:spAutoFit/>
          </a:bodyPr>
          <a:lstStyle/>
          <a:p>
            <a:pPr algn="l" indent="0" marL="0">
              <a:buNone/>
            </a:pPr>
            <a:r>
              <a:rPr lang="en-US" sz="750" dirty="0">
                <a:solidFill>
                  <a:srgbClr val="64748B"/>
                </a:solidFill>
                <a:latin typeface="Inter" pitchFamily="34" charset="0"/>
                <a:ea typeface="Inter" pitchFamily="34" charset="-122"/>
                <a:cs typeface="Inter" pitchFamily="34" charset="-120"/>
              </a:rPr>
              <a:t>PX4 automatically transitions to Position Hold mode to maintain stability.</a:t>
            </a:r>
            <a:endParaRPr lang="en-US" sz="750" dirty="0"/>
          </a:p>
        </p:txBody>
      </p:sp>
      <p:sp>
        <p:nvSpPr>
          <p:cNvPr id="20" name="Shape 17"/>
          <p:cNvSpPr/>
          <p:nvPr/>
        </p:nvSpPr>
        <p:spPr>
          <a:xfrm>
            <a:off x="4657725" y="2239175"/>
            <a:ext cx="342900" cy="342900"/>
          </a:xfrm>
          <a:prstGeom prst="ellipse">
            <a:avLst/>
          </a:prstGeom>
          <a:solidFill>
            <a:srgbClr val="991B1B"/>
          </a:solidFill>
          <a:ln/>
        </p:spPr>
      </p:sp>
      <p:sp>
        <p:nvSpPr>
          <p:cNvPr id="21" name="Text 18"/>
          <p:cNvSpPr/>
          <p:nvPr/>
        </p:nvSpPr>
        <p:spPr>
          <a:xfrm>
            <a:off x="4657725" y="2239175"/>
            <a:ext cx="342900" cy="342900"/>
          </a:xfrm>
          <a:prstGeom prst="rect">
            <a:avLst/>
          </a:prstGeom>
          <a:noFill/>
          <a:ln/>
        </p:spPr>
        <p:txBody>
          <a:bodyPr wrap="none" lIns="0" tIns="0" rIns="0" bIns="0" rtlCol="0" anchor="ctr">
            <a:spAutoFit/>
          </a:bodyPr>
          <a:lstStyle/>
          <a:p>
            <a:pPr algn="ctr" indent="0" marL="0">
              <a:buNone/>
            </a:pPr>
            <a:r>
              <a:rPr lang="en-US" sz="1000" b="1" dirty="0">
                <a:solidFill>
                  <a:srgbClr val="F8FAFC"/>
                </a:solidFill>
                <a:latin typeface="Inter Bold" pitchFamily="34" charset="0"/>
                <a:ea typeface="Inter Bold" pitchFamily="34" charset="-122"/>
                <a:cs typeface="Inter Bold" pitchFamily="34" charset="-120"/>
              </a:rPr>
              <a:t>4</a:t>
            </a:r>
            <a:endParaRPr lang="en-US" sz="1000" dirty="0"/>
          </a:p>
        </p:txBody>
      </p:sp>
      <p:sp>
        <p:nvSpPr>
          <p:cNvPr id="22" name="Shape 19"/>
          <p:cNvSpPr/>
          <p:nvPr/>
        </p:nvSpPr>
        <p:spPr>
          <a:xfrm>
            <a:off x="5114925" y="2239175"/>
            <a:ext cx="2528888" cy="626864"/>
          </a:xfrm>
          <a:prstGeom prst="rect">
            <a:avLst/>
          </a:prstGeom>
          <a:solidFill>
            <a:srgbClr val="FFFFFF"/>
          </a:solidFill>
          <a:ln w="18288">
            <a:solidFill>
              <a:srgbClr val="E2E8F0"/>
            </a:solidFill>
            <a:prstDash val="solid"/>
          </a:ln>
        </p:spPr>
      </p:sp>
      <p:sp>
        <p:nvSpPr>
          <p:cNvPr id="23" name="Text 20"/>
          <p:cNvSpPr/>
          <p:nvPr/>
        </p:nvSpPr>
        <p:spPr>
          <a:xfrm>
            <a:off x="5243513" y="2324900"/>
            <a:ext cx="2271713" cy="155377"/>
          </a:xfrm>
          <a:prstGeom prst="rect">
            <a:avLst/>
          </a:prstGeom>
          <a:noFill/>
          <a:ln/>
        </p:spPr>
        <p:txBody>
          <a:bodyPr wrap="square" lIns="0" tIns="0" rIns="0" bIns="0" rtlCol="0" anchor="t">
            <a:spAutoFit/>
          </a:bodyPr>
          <a:lstStyle/>
          <a:p>
            <a:pPr algn="l" indent="0" marL="0">
              <a:buNone/>
            </a:pPr>
            <a:r>
              <a:rPr lang="en-US" sz="900" b="1" dirty="0">
                <a:solidFill>
                  <a:srgbClr val="0F172A"/>
                </a:solidFill>
                <a:latin typeface="Inter Bold" pitchFamily="34" charset="0"/>
                <a:ea typeface="Inter Bold" pitchFamily="34" charset="-122"/>
                <a:cs typeface="Inter Bold" pitchFamily="34" charset="-120"/>
              </a:rPr>
              <a:t>Failsafe Landing</a:t>
            </a:r>
            <a:endParaRPr lang="en-US" sz="900" dirty="0"/>
          </a:p>
        </p:txBody>
      </p:sp>
      <p:sp>
        <p:nvSpPr>
          <p:cNvPr id="24" name="Text 21"/>
          <p:cNvSpPr/>
          <p:nvPr/>
        </p:nvSpPr>
        <p:spPr>
          <a:xfrm>
            <a:off x="5243513" y="2508852"/>
            <a:ext cx="2271713" cy="242888"/>
          </a:xfrm>
          <a:prstGeom prst="rect">
            <a:avLst/>
          </a:prstGeom>
          <a:noFill/>
          <a:ln/>
        </p:spPr>
        <p:txBody>
          <a:bodyPr wrap="square" lIns="0" tIns="0" rIns="0" bIns="0" rtlCol="0" anchor="t">
            <a:spAutoFit/>
          </a:bodyPr>
          <a:lstStyle/>
          <a:p>
            <a:pPr algn="l" indent="0" marL="0">
              <a:buNone/>
            </a:pPr>
            <a:r>
              <a:rPr lang="en-US" sz="750" dirty="0">
                <a:solidFill>
                  <a:srgbClr val="64748B"/>
                </a:solidFill>
                <a:latin typeface="Inter" pitchFamily="34" charset="0"/>
                <a:ea typeface="Inter" pitchFamily="34" charset="-122"/>
                <a:cs typeface="Inter" pitchFamily="34" charset="-120"/>
              </a:rPr>
              <a:t>If conditions persist, PX4 executes a controlled autonomous landing sequence.</a:t>
            </a:r>
            <a:endParaRPr lang="en-US" sz="750" dirty="0"/>
          </a:p>
        </p:txBody>
      </p:sp>
      <p:sp>
        <p:nvSpPr>
          <p:cNvPr id="25" name="Shape 22"/>
          <p:cNvSpPr/>
          <p:nvPr/>
        </p:nvSpPr>
        <p:spPr>
          <a:xfrm>
            <a:off x="1714500" y="3008914"/>
            <a:ext cx="5715000" cy="805765"/>
          </a:xfrm>
          <a:prstGeom prst="rect">
            <a:avLst/>
          </a:prstGeom>
          <a:solidFill>
            <a:srgbClr val="0F172A"/>
          </a:solidFill>
          <a:ln/>
        </p:spPr>
      </p:sp>
      <p:sp>
        <p:nvSpPr>
          <p:cNvPr id="26" name="Shape 23"/>
          <p:cNvSpPr/>
          <p:nvPr/>
        </p:nvSpPr>
        <p:spPr>
          <a:xfrm>
            <a:off x="1714500" y="3008914"/>
            <a:ext cx="5715000" cy="28575"/>
          </a:xfrm>
          <a:prstGeom prst="rect">
            <a:avLst/>
          </a:prstGeom>
          <a:solidFill>
            <a:srgbClr val="991B1B"/>
          </a:solidFill>
          <a:ln/>
        </p:spPr>
      </p:sp>
      <p:sp>
        <p:nvSpPr>
          <p:cNvPr id="27" name="Text 24"/>
          <p:cNvSpPr/>
          <p:nvPr/>
        </p:nvSpPr>
        <p:spPr>
          <a:xfrm>
            <a:off x="1857375" y="3123214"/>
            <a:ext cx="5429250" cy="548590"/>
          </a:xfrm>
          <a:prstGeom prst="rect">
            <a:avLst/>
          </a:prstGeom>
          <a:noFill/>
          <a:ln/>
        </p:spPr>
        <p:txBody>
          <a:bodyPr wrap="square" lIns="0" tIns="0" rIns="0" bIns="0" rtlCol="0" anchor="t">
            <a:spAutoFit/>
          </a:bodyPr>
          <a:lstStyle/>
          <a:p>
            <a:pPr algn="ctr" indent="0" marL="0">
              <a:lnSpc>
                <a:spcPct val="128000"/>
              </a:lnSpc>
              <a:buNone/>
            </a:pPr>
            <a:r>
              <a:rPr lang="en-US" sz="800" b="1" dirty="0">
                <a:solidFill>
                  <a:srgbClr val="991B1B"/>
                </a:solidFill>
                <a:latin typeface="Inter Bold" pitchFamily="34" charset="0"/>
                <a:ea typeface="Inter Bold" pitchFamily="34" charset="-122"/>
                <a:cs typeface="Inter Bold" pitchFamily="34" charset="-120"/>
              </a:rPr>
              <a:t>Base Guarantee:</a:t>
            </a:r>
            <a:r>
              <a:rPr lang="en-US" sz="850" dirty="0">
                <a:solidFill>
                  <a:srgbClr val="F8FAFC"/>
                </a:solidFill>
                <a:latin typeface="Inter" pitchFamily="34" charset="0"/>
                <a:ea typeface="Inter" pitchFamily="34" charset="-122"/>
                <a:cs typeface="Inter" pitchFamily="34" charset="-120"/>
              </a:rPr>
              <a:t> Even if AI crashes completely, PX4 continues flying safely and executes an </a:t>
            </a:r>
            <a:r>
              <a:rPr lang="en-US" sz="850" dirty="0">
                <a:solidFill>
                  <a:srgbClr val="F8FAFC"/>
                </a:solidFill>
                <a:latin typeface="Inter" pitchFamily="34" charset="0"/>
                <a:ea typeface="Inter" pitchFamily="34" charset="-122"/>
                <a:cs typeface="Inter" pitchFamily="34" charset="-120"/>
              </a:rPr>
              <a:t>autonomous landing. The Work Index and ground-link decision frameworks are additional layers of </a:t>
            </a:r>
            <a:r>
              <a:rPr lang="en-US" sz="850" dirty="0">
                <a:solidFill>
                  <a:srgbClr val="F8FAFC"/>
                </a:solidFill>
                <a:latin typeface="Inter" pitchFamily="34" charset="0"/>
                <a:ea typeface="Inter" pitchFamily="34" charset="-122"/>
                <a:cs typeface="Inter" pitchFamily="34" charset="-120"/>
              </a:rPr>
              <a:t>judgment on top of this base guarantee — they do not replace it.</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571500" y="342900"/>
            <a:ext cx="8001000" cy="360759"/>
          </a:xfrm>
          <a:prstGeom prst="rect">
            <a:avLst/>
          </a:prstGeom>
          <a:noFill/>
          <a:ln/>
        </p:spPr>
        <p:txBody>
          <a:bodyPr wrap="square" lIns="0" tIns="0" rIns="0" bIns="0" rtlCol="0" anchor="t">
            <a:spAutoFit/>
          </a:bodyPr>
          <a:lstStyle/>
          <a:p>
            <a:pPr algn="l" indent="0" marL="0">
              <a:buNone/>
            </a:pPr>
            <a:r>
              <a:rPr lang="en-US" sz="1900" b="1" dirty="0">
                <a:solidFill>
                  <a:srgbClr val="0F172A"/>
                </a:solidFill>
                <a:latin typeface="Playfair Display ExtraBold" pitchFamily="34" charset="0"/>
                <a:ea typeface="Playfair Display ExtraBold" pitchFamily="34" charset="-122"/>
                <a:cs typeface="Playfair Display ExtraBold" pitchFamily="34" charset="-120"/>
              </a:rPr>
              <a:t>Work Index Energy-Margin Model</a:t>
            </a:r>
            <a:endParaRPr lang="en-US" sz="1900" dirty="0"/>
          </a:p>
        </p:txBody>
      </p:sp>
      <p:sp>
        <p:nvSpPr>
          <p:cNvPr id="4" name="Text 1"/>
          <p:cNvSpPr/>
          <p:nvPr/>
        </p:nvSpPr>
        <p:spPr>
          <a:xfrm>
            <a:off x="571500" y="1075134"/>
            <a:ext cx="3446134" cy="155377"/>
          </a:xfrm>
          <a:prstGeom prst="rect">
            <a:avLst/>
          </a:prstGeom>
          <a:noFill/>
          <a:ln/>
        </p:spPr>
        <p:txBody>
          <a:bodyPr wrap="square" lIns="0" tIns="0" rIns="0" bIns="0" rtlCol="0" anchor="t">
            <a:spAutoFit/>
          </a:bodyPr>
          <a:lstStyle/>
          <a:p>
            <a:pPr algn="l" indent="0" marL="0">
              <a:buNone/>
            </a:pPr>
            <a:r>
              <a:rPr lang="en-US" sz="900" b="1" spc="1" kern="0" dirty="0">
                <a:solidFill>
                  <a:srgbClr val="0F172A"/>
                </a:solidFill>
                <a:latin typeface="Inter Bold" pitchFamily="34" charset="0"/>
                <a:ea typeface="Inter Bold" pitchFamily="34" charset="-122"/>
                <a:cs typeface="Inter Bold" pitchFamily="34" charset="-120"/>
              </a:rPr>
              <a:t>PURPOSE &amp; TERMS</a:t>
            </a:r>
            <a:endParaRPr lang="en-US" sz="900" dirty="0"/>
          </a:p>
        </p:txBody>
      </p:sp>
      <p:sp>
        <p:nvSpPr>
          <p:cNvPr id="5" name="Text 2"/>
          <p:cNvSpPr/>
          <p:nvPr/>
        </p:nvSpPr>
        <p:spPr>
          <a:xfrm>
            <a:off x="571500" y="1344811"/>
            <a:ext cx="3446134" cy="514350"/>
          </a:xfrm>
          <a:prstGeom prst="rect">
            <a:avLst/>
          </a:prstGeom>
          <a:noFill/>
          <a:ln/>
        </p:spPr>
        <p:txBody>
          <a:bodyPr wrap="square" lIns="0" tIns="0" rIns="0" bIns="0" rtlCol="0" anchor="t">
            <a:spAutoFit/>
          </a:bodyPr>
          <a:lstStyle/>
          <a:p>
            <a:pPr algn="l" indent="0" marL="0">
              <a:lnSpc>
                <a:spcPct val="128000"/>
              </a:lnSpc>
              <a:buNone/>
            </a:pPr>
            <a:r>
              <a:rPr lang="en-US" sz="800" dirty="0">
                <a:solidFill>
                  <a:srgbClr val="334155"/>
                </a:solidFill>
                <a:latin typeface="Inter" pitchFamily="34" charset="0"/>
                <a:ea typeface="Inter" pitchFamily="34" charset="-122"/>
                <a:cs typeface="Inter" pitchFamily="34" charset="-120"/>
              </a:rPr>
              <a:t>Continuously determines whether the vehicle has enough remaining energy (flight-minutes) to complete its task and return or land safely.</a:t>
            </a:r>
            <a:endParaRPr lang="en-US" sz="800" dirty="0"/>
          </a:p>
        </p:txBody>
      </p:sp>
      <p:sp>
        <p:nvSpPr>
          <p:cNvPr id="6" name="Text 3"/>
          <p:cNvSpPr/>
          <p:nvPr/>
        </p:nvSpPr>
        <p:spPr>
          <a:xfrm>
            <a:off x="571500" y="2030611"/>
            <a:ext cx="1033835" cy="271463"/>
          </a:xfrm>
          <a:prstGeom prst="rect">
            <a:avLst/>
          </a:prstGeom>
          <a:noFill/>
          <a:ln/>
        </p:spPr>
        <p:txBody>
          <a:bodyPr wrap="none" lIns="0" tIns="85090" rIns="0" bIns="85090" rtlCol="0" anchor="ctr">
            <a:spAutoFit/>
          </a:bodyPr>
          <a:lstStyle/>
          <a:p>
            <a:pPr algn="l" indent="0" marL="0">
              <a:buNone/>
            </a:pPr>
            <a:r>
              <a:rPr lang="en-US" sz="700" b="1" spc="1" kern="0" dirty="0">
                <a:solidFill>
                  <a:srgbClr val="991B1B"/>
                </a:solidFill>
                <a:latin typeface="Inter Bold" pitchFamily="34" charset="0"/>
                <a:ea typeface="Inter Bold" pitchFamily="34" charset="-122"/>
                <a:cs typeface="Inter Bold" pitchFamily="34" charset="-120"/>
              </a:rPr>
              <a:t>TERM</a:t>
            </a:r>
            <a:endParaRPr lang="en-US" sz="700" dirty="0"/>
          </a:p>
        </p:txBody>
      </p:sp>
      <p:sp>
        <p:nvSpPr>
          <p:cNvPr id="7" name="Text 4"/>
          <p:cNvSpPr/>
          <p:nvPr/>
        </p:nvSpPr>
        <p:spPr>
          <a:xfrm>
            <a:off x="1605335" y="2030611"/>
            <a:ext cx="2412299" cy="271463"/>
          </a:xfrm>
          <a:prstGeom prst="rect">
            <a:avLst/>
          </a:prstGeom>
          <a:noFill/>
          <a:ln/>
        </p:spPr>
        <p:txBody>
          <a:bodyPr wrap="square" lIns="0" tIns="85090" rIns="0" bIns="85090" rtlCol="0" anchor="ctr">
            <a:spAutoFit/>
          </a:bodyPr>
          <a:lstStyle/>
          <a:p>
            <a:pPr algn="l" indent="0" marL="0">
              <a:buNone/>
            </a:pPr>
            <a:r>
              <a:rPr lang="en-US" sz="700" b="1" spc="1" kern="0" dirty="0">
                <a:solidFill>
                  <a:srgbClr val="991B1B"/>
                </a:solidFill>
                <a:latin typeface="Inter Bold" pitchFamily="34" charset="0"/>
                <a:ea typeface="Inter Bold" pitchFamily="34" charset="-122"/>
                <a:cs typeface="Inter Bold" pitchFamily="34" charset="-120"/>
              </a:rPr>
              <a:t>DEFINITION</a:t>
            </a:r>
            <a:endParaRPr lang="en-US" sz="700" dirty="0"/>
          </a:p>
        </p:txBody>
      </p:sp>
      <p:sp>
        <p:nvSpPr>
          <p:cNvPr id="8" name="Text 5"/>
          <p:cNvSpPr/>
          <p:nvPr/>
        </p:nvSpPr>
        <p:spPr>
          <a:xfrm>
            <a:off x="571500" y="2302073"/>
            <a:ext cx="1033835" cy="396478"/>
          </a:xfrm>
          <a:prstGeom prst="rect">
            <a:avLst/>
          </a:prstGeom>
          <a:noFill/>
          <a:ln/>
        </p:spPr>
        <p:txBody>
          <a:bodyPr wrap="none" lIns="0" tIns="85090" rIns="0" bIns="85090" rtlCol="0" anchor="ctr">
            <a:spAutoFit/>
          </a:bodyPr>
          <a:lstStyle/>
          <a:p>
            <a:pPr algn="l" indent="0" marL="0">
              <a:buNone/>
            </a:pPr>
            <a:r>
              <a:rPr lang="en-US" sz="700" b="1" dirty="0">
                <a:solidFill>
                  <a:srgbClr val="0F172A"/>
                </a:solidFill>
                <a:latin typeface="Inter Bold" pitchFamily="34" charset="0"/>
                <a:ea typeface="Inter Bold" pitchFamily="34" charset="-122"/>
                <a:cs typeface="Inter Bold" pitchFamily="34" charset="-120"/>
              </a:rPr>
              <a:t>W_total</a:t>
            </a:r>
            <a:endParaRPr lang="en-US" sz="700" dirty="0"/>
          </a:p>
        </p:txBody>
      </p:sp>
      <p:sp>
        <p:nvSpPr>
          <p:cNvPr id="9" name="Text 6"/>
          <p:cNvSpPr/>
          <p:nvPr/>
        </p:nvSpPr>
        <p:spPr>
          <a:xfrm>
            <a:off x="1605335" y="2302073"/>
            <a:ext cx="2412299" cy="396478"/>
          </a:xfrm>
          <a:prstGeom prst="rect">
            <a:avLst/>
          </a:prstGeom>
          <a:noFill/>
          <a:ln/>
        </p:spPr>
        <p:txBody>
          <a:bodyPr wrap="square" lIns="0" tIns="85090" rIns="0" bIns="85090" rtlCol="0" anchor="ctr">
            <a:spAutoFit/>
          </a:bodyPr>
          <a:lstStyle/>
          <a:p>
            <a:pPr algn="l" indent="0" marL="0">
              <a:buNone/>
            </a:pPr>
            <a:r>
              <a:rPr lang="en-US" sz="750" dirty="0">
                <a:solidFill>
                  <a:srgbClr val="334155"/>
                </a:solidFill>
                <a:latin typeface="Inter" pitchFamily="34" charset="0"/>
                <a:ea typeface="Inter" pitchFamily="34" charset="-122"/>
                <a:cs typeface="Inter" pitchFamily="34" charset="-120"/>
              </a:rPr>
              <a:t>Estimated flight-minutes remaining at current battery state and power draw</a:t>
            </a:r>
            <a:endParaRPr lang="en-US" sz="750" dirty="0"/>
          </a:p>
        </p:txBody>
      </p:sp>
      <p:sp>
        <p:nvSpPr>
          <p:cNvPr id="10" name="Text 7"/>
          <p:cNvSpPr/>
          <p:nvPr/>
        </p:nvSpPr>
        <p:spPr>
          <a:xfrm>
            <a:off x="571500" y="2698552"/>
            <a:ext cx="1033835" cy="392906"/>
          </a:xfrm>
          <a:prstGeom prst="rect">
            <a:avLst/>
          </a:prstGeom>
          <a:noFill/>
          <a:ln/>
        </p:spPr>
        <p:txBody>
          <a:bodyPr wrap="none" lIns="0" tIns="85090" rIns="0" bIns="85090" rtlCol="0" anchor="ctr">
            <a:spAutoFit/>
          </a:bodyPr>
          <a:lstStyle/>
          <a:p>
            <a:pPr algn="l" indent="0" marL="0">
              <a:buNone/>
            </a:pPr>
            <a:r>
              <a:rPr lang="en-US" sz="700" b="1" dirty="0">
                <a:solidFill>
                  <a:srgbClr val="0F172A"/>
                </a:solidFill>
                <a:latin typeface="Inter Bold" pitchFamily="34" charset="0"/>
                <a:ea typeface="Inter Bold" pitchFamily="34" charset="-122"/>
                <a:cs typeface="Inter Bold" pitchFamily="34" charset="-120"/>
              </a:rPr>
              <a:t>W_op</a:t>
            </a:r>
            <a:endParaRPr lang="en-US" sz="700" dirty="0"/>
          </a:p>
        </p:txBody>
      </p:sp>
      <p:sp>
        <p:nvSpPr>
          <p:cNvPr id="11" name="Text 8"/>
          <p:cNvSpPr/>
          <p:nvPr/>
        </p:nvSpPr>
        <p:spPr>
          <a:xfrm>
            <a:off x="1605335" y="2698552"/>
            <a:ext cx="2412299" cy="392906"/>
          </a:xfrm>
          <a:prstGeom prst="rect">
            <a:avLst/>
          </a:prstGeom>
          <a:noFill/>
          <a:ln/>
        </p:spPr>
        <p:txBody>
          <a:bodyPr wrap="square" lIns="0" tIns="85090" rIns="0" bIns="85090" rtlCol="0" anchor="ctr">
            <a:spAutoFit/>
          </a:bodyPr>
          <a:lstStyle/>
          <a:p>
            <a:pPr algn="l" indent="0" marL="0">
              <a:buNone/>
            </a:pPr>
            <a:r>
              <a:rPr lang="en-US" sz="750" dirty="0">
                <a:solidFill>
                  <a:srgbClr val="334155"/>
                </a:solidFill>
                <a:latin typeface="Inter" pitchFamily="34" charset="0"/>
                <a:ea typeface="Inter" pitchFamily="34" charset="-122"/>
                <a:cs typeface="Inter" pitchFamily="34" charset="-120"/>
              </a:rPr>
              <a:t>Minutes required to complete the remaining planned task from current position</a:t>
            </a:r>
            <a:endParaRPr lang="en-US" sz="750" dirty="0"/>
          </a:p>
        </p:txBody>
      </p:sp>
      <p:sp>
        <p:nvSpPr>
          <p:cNvPr id="12" name="Text 9"/>
          <p:cNvSpPr/>
          <p:nvPr/>
        </p:nvSpPr>
        <p:spPr>
          <a:xfrm>
            <a:off x="571500" y="3091458"/>
            <a:ext cx="1033835" cy="392906"/>
          </a:xfrm>
          <a:prstGeom prst="rect">
            <a:avLst/>
          </a:prstGeom>
          <a:noFill/>
          <a:ln/>
        </p:spPr>
        <p:txBody>
          <a:bodyPr wrap="none" lIns="0" tIns="85090" rIns="0" bIns="85090" rtlCol="0" anchor="ctr">
            <a:spAutoFit/>
          </a:bodyPr>
          <a:lstStyle/>
          <a:p>
            <a:pPr algn="l" indent="0" marL="0">
              <a:buNone/>
            </a:pPr>
            <a:r>
              <a:rPr lang="en-US" sz="700" b="1" dirty="0">
                <a:solidFill>
                  <a:srgbClr val="0F172A"/>
                </a:solidFill>
                <a:latin typeface="Inter Bold" pitchFamily="34" charset="0"/>
                <a:ea typeface="Inter Bold" pitchFamily="34" charset="-122"/>
                <a:cs typeface="Inter Bold" pitchFamily="34" charset="-120"/>
              </a:rPr>
              <a:t>W_return(t)</a:t>
            </a:r>
            <a:endParaRPr lang="en-US" sz="700" dirty="0"/>
          </a:p>
        </p:txBody>
      </p:sp>
      <p:sp>
        <p:nvSpPr>
          <p:cNvPr id="13" name="Text 10"/>
          <p:cNvSpPr/>
          <p:nvPr/>
        </p:nvSpPr>
        <p:spPr>
          <a:xfrm>
            <a:off x="1605335" y="3091458"/>
            <a:ext cx="2412299" cy="392906"/>
          </a:xfrm>
          <a:prstGeom prst="rect">
            <a:avLst/>
          </a:prstGeom>
          <a:noFill/>
          <a:ln/>
        </p:spPr>
        <p:txBody>
          <a:bodyPr wrap="square" lIns="0" tIns="85090" rIns="0" bIns="85090" rtlCol="0" anchor="ctr">
            <a:spAutoFit/>
          </a:bodyPr>
          <a:lstStyle/>
          <a:p>
            <a:pPr algn="l" indent="0" marL="0">
              <a:buNone/>
            </a:pPr>
            <a:r>
              <a:rPr lang="en-US" sz="750" dirty="0">
                <a:solidFill>
                  <a:srgbClr val="334155"/>
                </a:solidFill>
                <a:latin typeface="Inter" pitchFamily="34" charset="0"/>
                <a:ea typeface="Inter" pitchFamily="34" charset="-122"/>
                <a:cs typeface="Inter" pitchFamily="34" charset="-120"/>
              </a:rPr>
              <a:t>Minutes required to fly directly back to base from current position (re-evaluated continuously)</a:t>
            </a:r>
            <a:endParaRPr lang="en-US" sz="750" dirty="0"/>
          </a:p>
        </p:txBody>
      </p:sp>
      <p:sp>
        <p:nvSpPr>
          <p:cNvPr id="14" name="Text 11"/>
          <p:cNvSpPr/>
          <p:nvPr/>
        </p:nvSpPr>
        <p:spPr>
          <a:xfrm>
            <a:off x="571500" y="3484364"/>
            <a:ext cx="1033835" cy="392906"/>
          </a:xfrm>
          <a:prstGeom prst="rect">
            <a:avLst/>
          </a:prstGeom>
          <a:noFill/>
          <a:ln/>
        </p:spPr>
        <p:txBody>
          <a:bodyPr wrap="none" lIns="0" tIns="85090" rIns="0" bIns="85090" rtlCol="0" anchor="ctr">
            <a:spAutoFit/>
          </a:bodyPr>
          <a:lstStyle/>
          <a:p>
            <a:pPr algn="l" indent="0" marL="0">
              <a:buNone/>
            </a:pPr>
            <a:r>
              <a:rPr lang="en-US" sz="700" b="1" dirty="0">
                <a:solidFill>
                  <a:srgbClr val="0F172A"/>
                </a:solidFill>
                <a:latin typeface="Inter Bold" pitchFamily="34" charset="0"/>
                <a:ea typeface="Inter Bold" pitchFamily="34" charset="-122"/>
                <a:cs typeface="Inter Bold" pitchFamily="34" charset="-120"/>
              </a:rPr>
              <a:t>W_landing</a:t>
            </a:r>
            <a:endParaRPr lang="en-US" sz="700" dirty="0"/>
          </a:p>
        </p:txBody>
      </p:sp>
      <p:sp>
        <p:nvSpPr>
          <p:cNvPr id="15" name="Text 12"/>
          <p:cNvSpPr/>
          <p:nvPr/>
        </p:nvSpPr>
        <p:spPr>
          <a:xfrm>
            <a:off x="1605335" y="3484364"/>
            <a:ext cx="2412299" cy="392906"/>
          </a:xfrm>
          <a:prstGeom prst="rect">
            <a:avLst/>
          </a:prstGeom>
          <a:noFill/>
          <a:ln/>
        </p:spPr>
        <p:txBody>
          <a:bodyPr wrap="square" lIns="0" tIns="85090" rIns="0" bIns="85090" rtlCol="0" anchor="ctr">
            <a:spAutoFit/>
          </a:bodyPr>
          <a:lstStyle/>
          <a:p>
            <a:pPr algn="l" indent="0" marL="0">
              <a:buNone/>
            </a:pPr>
            <a:r>
              <a:rPr lang="en-US" sz="750" dirty="0">
                <a:solidFill>
                  <a:srgbClr val="334155"/>
                </a:solidFill>
                <a:latin typeface="Inter" pitchFamily="34" charset="0"/>
                <a:ea typeface="Inter" pitchFamily="34" charset="-122"/>
                <a:cs typeface="Inter" pitchFamily="34" charset="-120"/>
              </a:rPr>
              <a:t>Minutes of powered flight needed to execute a controlled landing</a:t>
            </a:r>
            <a:endParaRPr lang="en-US" sz="750" dirty="0"/>
          </a:p>
        </p:txBody>
      </p:sp>
      <p:sp>
        <p:nvSpPr>
          <p:cNvPr id="16" name="Text 13"/>
          <p:cNvSpPr/>
          <p:nvPr/>
        </p:nvSpPr>
        <p:spPr>
          <a:xfrm>
            <a:off x="571500" y="3877270"/>
            <a:ext cx="1033835" cy="392906"/>
          </a:xfrm>
          <a:prstGeom prst="rect">
            <a:avLst/>
          </a:prstGeom>
          <a:noFill/>
          <a:ln/>
        </p:spPr>
        <p:txBody>
          <a:bodyPr wrap="none" lIns="0" tIns="85090" rIns="0" bIns="85090" rtlCol="0" anchor="ctr">
            <a:spAutoFit/>
          </a:bodyPr>
          <a:lstStyle/>
          <a:p>
            <a:pPr algn="l" indent="0" marL="0">
              <a:buNone/>
            </a:pPr>
            <a:r>
              <a:rPr lang="en-US" sz="700" b="1" dirty="0">
                <a:solidFill>
                  <a:srgbClr val="0F172A"/>
                </a:solidFill>
                <a:latin typeface="Inter Bold" pitchFamily="34" charset="0"/>
                <a:ea typeface="Inter Bold" pitchFamily="34" charset="-122"/>
                <a:cs typeface="Inter Bold" pitchFamily="34" charset="-120"/>
              </a:rPr>
              <a:t>W_beacon</a:t>
            </a:r>
            <a:endParaRPr lang="en-US" sz="700" dirty="0"/>
          </a:p>
        </p:txBody>
      </p:sp>
      <p:sp>
        <p:nvSpPr>
          <p:cNvPr id="17" name="Text 14"/>
          <p:cNvSpPr/>
          <p:nvPr/>
        </p:nvSpPr>
        <p:spPr>
          <a:xfrm>
            <a:off x="1605335" y="3877270"/>
            <a:ext cx="2412299" cy="392906"/>
          </a:xfrm>
          <a:prstGeom prst="rect">
            <a:avLst/>
          </a:prstGeom>
          <a:noFill/>
          <a:ln/>
        </p:spPr>
        <p:txBody>
          <a:bodyPr wrap="square" lIns="0" tIns="85090" rIns="0" bIns="85090" rtlCol="0" anchor="ctr">
            <a:spAutoFit/>
          </a:bodyPr>
          <a:lstStyle/>
          <a:p>
            <a:pPr algn="l" indent="0" marL="0">
              <a:buNone/>
            </a:pPr>
            <a:r>
              <a:rPr lang="en-US" sz="750" dirty="0">
                <a:solidFill>
                  <a:srgbClr val="334155"/>
                </a:solidFill>
                <a:latin typeface="Inter" pitchFamily="34" charset="0"/>
                <a:ea typeface="Inter" pitchFamily="34" charset="-122"/>
                <a:cs typeface="Inter" pitchFamily="34" charset="-120"/>
              </a:rPr>
              <a:t>Minutes of low-power beacon transmission (GPS + comms) to sustain after landing</a:t>
            </a:r>
            <a:endParaRPr lang="en-US" sz="750" dirty="0"/>
          </a:p>
        </p:txBody>
      </p:sp>
      <p:sp>
        <p:nvSpPr>
          <p:cNvPr id="18" name="Text 15"/>
          <p:cNvSpPr/>
          <p:nvPr/>
        </p:nvSpPr>
        <p:spPr>
          <a:xfrm>
            <a:off x="571500" y="4270177"/>
            <a:ext cx="1033835" cy="392906"/>
          </a:xfrm>
          <a:prstGeom prst="rect">
            <a:avLst/>
          </a:prstGeom>
          <a:noFill/>
          <a:ln/>
        </p:spPr>
        <p:txBody>
          <a:bodyPr wrap="none" lIns="0" tIns="85090" rIns="0" bIns="85090" rtlCol="0" anchor="ctr">
            <a:spAutoFit/>
          </a:bodyPr>
          <a:lstStyle/>
          <a:p>
            <a:pPr algn="l" indent="0" marL="0">
              <a:buNone/>
            </a:pPr>
            <a:r>
              <a:rPr lang="en-US" sz="700" b="1" dirty="0">
                <a:solidFill>
                  <a:srgbClr val="0F172A"/>
                </a:solidFill>
                <a:latin typeface="Inter Bold" pitchFamily="34" charset="0"/>
                <a:ea typeface="Inter Bold" pitchFamily="34" charset="-122"/>
                <a:cs typeface="Inter Bold" pitchFamily="34" charset="-120"/>
              </a:rPr>
              <a:t>W_land_safe</a:t>
            </a:r>
            <a:endParaRPr lang="en-US" sz="700" dirty="0"/>
          </a:p>
        </p:txBody>
      </p:sp>
      <p:sp>
        <p:nvSpPr>
          <p:cNvPr id="19" name="Text 16"/>
          <p:cNvSpPr/>
          <p:nvPr/>
        </p:nvSpPr>
        <p:spPr>
          <a:xfrm>
            <a:off x="1605335" y="4270177"/>
            <a:ext cx="2412299" cy="392906"/>
          </a:xfrm>
          <a:prstGeom prst="rect">
            <a:avLst/>
          </a:prstGeom>
          <a:noFill/>
          <a:ln/>
        </p:spPr>
        <p:txBody>
          <a:bodyPr wrap="square" lIns="0" tIns="85090" rIns="0" bIns="85090" rtlCol="0" anchor="ctr">
            <a:spAutoFit/>
          </a:bodyPr>
          <a:lstStyle/>
          <a:p>
            <a:pPr algn="l" indent="0" marL="0">
              <a:buNone/>
            </a:pPr>
            <a:r>
              <a:rPr lang="en-US" sz="750" dirty="0">
                <a:solidFill>
                  <a:srgbClr val="334155"/>
                </a:solidFill>
                <a:latin typeface="Inter" pitchFamily="34" charset="0"/>
                <a:ea typeface="Inter" pitchFamily="34" charset="-122"/>
                <a:cs typeface="Inter" pitchFamily="34" charset="-120"/>
              </a:rPr>
              <a:t>The absolute floor below which the vehicle must stop flying regardless of anything else</a:t>
            </a:r>
            <a:endParaRPr lang="en-US" sz="750" dirty="0"/>
          </a:p>
        </p:txBody>
      </p:sp>
      <p:sp>
        <p:nvSpPr>
          <p:cNvPr id="20" name="Shape 17"/>
          <p:cNvSpPr/>
          <p:nvPr/>
        </p:nvSpPr>
        <p:spPr>
          <a:xfrm>
            <a:off x="4360534" y="1075134"/>
            <a:ext cx="4211966" cy="2223381"/>
          </a:xfrm>
          <a:prstGeom prst="rect">
            <a:avLst/>
          </a:prstGeom>
          <a:solidFill>
            <a:srgbClr val="0F172A"/>
          </a:solidFill>
          <a:ln/>
        </p:spPr>
      </p:sp>
      <p:sp>
        <p:nvSpPr>
          <p:cNvPr id="21" name="Shape 18"/>
          <p:cNvSpPr/>
          <p:nvPr/>
        </p:nvSpPr>
        <p:spPr>
          <a:xfrm>
            <a:off x="4360534" y="1075134"/>
            <a:ext cx="4211966" cy="28575"/>
          </a:xfrm>
          <a:prstGeom prst="rect">
            <a:avLst/>
          </a:prstGeom>
          <a:solidFill>
            <a:srgbClr val="991B1B"/>
          </a:solidFill>
          <a:ln/>
        </p:spPr>
      </p:sp>
      <p:sp>
        <p:nvSpPr>
          <p:cNvPr id="22" name="Text 19"/>
          <p:cNvSpPr/>
          <p:nvPr/>
        </p:nvSpPr>
        <p:spPr>
          <a:xfrm>
            <a:off x="4531984" y="1246584"/>
            <a:ext cx="3869066" cy="137517"/>
          </a:xfrm>
          <a:prstGeom prst="rect">
            <a:avLst/>
          </a:prstGeom>
          <a:noFill/>
          <a:ln/>
        </p:spPr>
        <p:txBody>
          <a:bodyPr wrap="square" lIns="0" tIns="0" rIns="0" bIns="0" rtlCol="0" anchor="t">
            <a:spAutoFit/>
          </a:bodyPr>
          <a:lstStyle/>
          <a:p>
            <a:pPr algn="l" indent="0" marL="0">
              <a:buNone/>
            </a:pPr>
            <a:r>
              <a:rPr lang="en-US" sz="800" b="1" dirty="0">
                <a:solidFill>
                  <a:srgbClr val="991B1B"/>
                </a:solidFill>
                <a:latin typeface="Inter Bold" pitchFamily="34" charset="0"/>
                <a:ea typeface="Inter Bold" pitchFamily="34" charset="-122"/>
                <a:cs typeface="Inter Bold" pitchFamily="34" charset="-120"/>
              </a:rPr>
              <a:t>Continuous Decision Rule</a:t>
            </a:r>
            <a:endParaRPr lang="en-US" sz="800" dirty="0"/>
          </a:p>
        </p:txBody>
      </p:sp>
      <p:sp>
        <p:nvSpPr>
          <p:cNvPr id="23" name="Text 20"/>
          <p:cNvSpPr/>
          <p:nvPr/>
        </p:nvSpPr>
        <p:spPr>
          <a:xfrm>
            <a:off x="4531984" y="1498402"/>
            <a:ext cx="3869066" cy="1600088"/>
          </a:xfrm>
          <a:prstGeom prst="rect">
            <a:avLst/>
          </a:prstGeom>
          <a:noFill/>
          <a:ln/>
        </p:spPr>
        <p:txBody>
          <a:bodyPr wrap="square" lIns="0" tIns="0" rIns="0" bIns="0" rtlCol="0" anchor="t">
            <a:spAutoFit/>
          </a:bodyPr>
          <a:lstStyle/>
          <a:p>
            <a:pPr algn="l" indent="0" marL="0">
              <a:lnSpc>
                <a:spcPct val="128000"/>
              </a:lnSpc>
              <a:buNone/>
            </a:pPr>
            <a:r>
              <a:rPr lang="en-US" sz="700" b="1" dirty="0">
                <a:solidFill>
                  <a:srgbClr val="F8FAFC"/>
                </a:solidFill>
                <a:latin typeface="monospace" pitchFamily="34" charset="0"/>
                <a:ea typeface="monospace" pitchFamily="34" charset="-122"/>
                <a:cs typeface="monospace" pitchFamily="34" charset="-120"/>
              </a:rPr>
              <a:t>IF</a:t>
            </a:r>
            <a:r>
              <a:rPr lang="en-US" sz="750" dirty="0">
                <a:solidFill>
                  <a:srgbClr val="CBD5E1"/>
                </a:solidFill>
                <a:latin typeface="monospace" pitchFamily="34" charset="0"/>
                <a:ea typeface="monospace" pitchFamily="34" charset="-122"/>
                <a:cs typeface="monospace" pitchFamily="34" charset="-120"/>
              </a:rPr>
              <a:t> W_total &gt;= W_op + W_return(t) + W_reserve:</a:t>
            </a:r>
            <a:r>
              <a:rPr lang="en-US" sz="750" dirty="0">
                <a:solidFill>
                  <a:srgbClr val="CBD5E1"/>
                </a:solidFill>
                <a:latin typeface="monospace" pitchFamily="34" charset="0"/>
                <a:ea typeface="monospace" pitchFamily="34" charset="-122"/>
                <a:cs typeface="monospace" pitchFamily="34" charset="-120"/>
              </a:rPr>
              <a:t>
</a:t>
            </a:r>
            <a:r>
              <a:rPr lang="en-US" sz="700" b="1" dirty="0">
                <a:solidFill>
                  <a:srgbClr val="991B1B"/>
                </a:solidFill>
                <a:latin typeface="monospace" pitchFamily="34" charset="0"/>
                <a:ea typeface="monospace" pitchFamily="34" charset="-122"/>
                <a:cs typeface="monospace" pitchFamily="34" charset="-120"/>
              </a:rPr>
              <a:t>CONTINUE</a:t>
            </a:r>
            <a:r>
              <a:rPr lang="en-US" sz="750" dirty="0">
                <a:solidFill>
                  <a:srgbClr val="CBD5E1"/>
                </a:solidFill>
                <a:latin typeface="monospace" pitchFamily="34" charset="0"/>
                <a:ea typeface="monospace" pitchFamily="34" charset="-122"/>
                <a:cs typeface="monospace" pitchFamily="34" charset="-120"/>
              </a:rPr>
              <a:t> current task</a:t>
            </a:r>
            <a:r>
              <a:rPr lang="en-US" sz="750" dirty="0">
                <a:solidFill>
                  <a:srgbClr val="CBD5E1"/>
                </a:solidFill>
                <a:latin typeface="monospace" pitchFamily="34" charset="0"/>
                <a:ea typeface="monospace" pitchFamily="34" charset="-122"/>
                <a:cs typeface="monospace" pitchFamily="34" charset="-120"/>
              </a:rPr>
              <a:t>
</a:t>
            </a:r>
            <a:r>
              <a:rPr lang="en-US" sz="750" dirty="0">
                <a:solidFill>
                  <a:srgbClr val="CBD5E1"/>
                </a:solidFill>
                <a:latin typeface="monospace" pitchFamily="34" charset="0"/>
                <a:ea typeface="monospace" pitchFamily="34" charset="-122"/>
                <a:cs typeface="monospace" pitchFamily="34" charset="-120"/>
              </a:rPr>
              <a:t> </a:t>
            </a:r>
            <a:r>
              <a:rPr lang="en-US" sz="700" b="1" dirty="0">
                <a:solidFill>
                  <a:srgbClr val="F8FAFC"/>
                </a:solidFill>
                <a:latin typeface="monospace" pitchFamily="34" charset="0"/>
                <a:ea typeface="monospace" pitchFamily="34" charset="-122"/>
                <a:cs typeface="monospace" pitchFamily="34" charset="-120"/>
              </a:rPr>
              <a:t>ELSE IF</a:t>
            </a:r>
            <a:r>
              <a:rPr lang="en-US" sz="750" dirty="0">
                <a:solidFill>
                  <a:srgbClr val="CBD5E1"/>
                </a:solidFill>
                <a:latin typeface="monospace" pitchFamily="34" charset="0"/>
                <a:ea typeface="monospace" pitchFamily="34" charset="-122"/>
                <a:cs typeface="monospace" pitchFamily="34" charset="-120"/>
              </a:rPr>
              <a:t> W_total &gt; W_land_safe:</a:t>
            </a:r>
            <a:r>
              <a:rPr lang="en-US" sz="750" dirty="0">
                <a:solidFill>
                  <a:srgbClr val="CBD5E1"/>
                </a:solidFill>
                <a:latin typeface="monospace" pitchFamily="34" charset="0"/>
                <a:ea typeface="monospace" pitchFamily="34" charset="-122"/>
                <a:cs typeface="monospace" pitchFamily="34" charset="-120"/>
              </a:rPr>
              <a:t>
</a:t>
            </a:r>
            <a:r>
              <a:rPr lang="en-US" sz="700" b="1" dirty="0">
                <a:solidFill>
                  <a:srgbClr val="991B1B"/>
                </a:solidFill>
                <a:latin typeface="monospace" pitchFamily="34" charset="0"/>
                <a:ea typeface="monospace" pitchFamily="34" charset="-122"/>
                <a:cs typeface="monospace" pitchFamily="34" charset="-120"/>
              </a:rPr>
              <a:t>ABORT</a:t>
            </a:r>
            <a:r>
              <a:rPr lang="en-US" sz="750" dirty="0">
                <a:solidFill>
                  <a:srgbClr val="CBD5E1"/>
                </a:solidFill>
                <a:latin typeface="monospace" pitchFamily="34" charset="0"/>
                <a:ea typeface="monospace" pitchFamily="34" charset="-122"/>
                <a:cs typeface="monospace" pitchFamily="34" charset="-120"/>
              </a:rPr>
              <a:t> further task expansion</a:t>
            </a:r>
            <a:r>
              <a:rPr lang="en-US" sz="750" dirty="0">
                <a:solidFill>
                  <a:srgbClr val="CBD5E1"/>
                </a:solidFill>
                <a:latin typeface="monospace" pitchFamily="34" charset="0"/>
                <a:ea typeface="monospace" pitchFamily="34" charset="-122"/>
                <a:cs typeface="monospace" pitchFamily="34" charset="-120"/>
              </a:rPr>
              <a:t>
</a:t>
            </a:r>
            <a:r>
              <a:rPr lang="en-US" sz="700" b="1" dirty="0">
                <a:solidFill>
                  <a:srgbClr val="991B1B"/>
                </a:solidFill>
                <a:latin typeface="monospace" pitchFamily="34" charset="0"/>
                <a:ea typeface="monospace" pitchFamily="34" charset="-122"/>
                <a:cs typeface="monospace" pitchFamily="34" charset="-120"/>
              </a:rPr>
              <a:t>HEAD TOWARD</a:t>
            </a:r>
            <a:r>
              <a:rPr lang="en-US" sz="750" dirty="0">
                <a:solidFill>
                  <a:srgbClr val="CBD5E1"/>
                </a:solidFill>
                <a:latin typeface="monospace" pitchFamily="34" charset="0"/>
                <a:ea typeface="monospace" pitchFamily="34" charset="-122"/>
                <a:cs typeface="monospace" pitchFamily="34" charset="-120"/>
              </a:rPr>
              <a:t> base or pre-mapped safe landing zone</a:t>
            </a:r>
            <a:r>
              <a:rPr lang="en-US" sz="750" dirty="0">
                <a:solidFill>
                  <a:srgbClr val="CBD5E1"/>
                </a:solidFill>
                <a:latin typeface="monospace" pitchFamily="34" charset="0"/>
                <a:ea typeface="monospace" pitchFamily="34" charset="-122"/>
                <a:cs typeface="monospace" pitchFamily="34" charset="-120"/>
              </a:rPr>
              <a:t>
</a:t>
            </a:r>
            <a:r>
              <a:rPr lang="en-US" sz="750" dirty="0">
                <a:solidFill>
                  <a:srgbClr val="CBD5E1"/>
                </a:solidFill>
                <a:latin typeface="monospace" pitchFamily="34" charset="0"/>
                <a:ea typeface="monospace" pitchFamily="34" charset="-122"/>
                <a:cs typeface="monospace" pitchFamily="34" charset="-120"/>
              </a:rPr>
              <a:t> </a:t>
            </a:r>
            <a:r>
              <a:rPr lang="en-US" sz="700" b="1" dirty="0">
                <a:solidFill>
                  <a:srgbClr val="F8FAFC"/>
                </a:solidFill>
                <a:latin typeface="monospace" pitchFamily="34" charset="0"/>
                <a:ea typeface="monospace" pitchFamily="34" charset="-122"/>
                <a:cs typeface="monospace" pitchFamily="34" charset="-120"/>
              </a:rPr>
              <a:t>ELSE</a:t>
            </a:r>
            <a:r>
              <a:rPr lang="en-US" sz="750" dirty="0">
                <a:solidFill>
                  <a:srgbClr val="CBD5E1"/>
                </a:solidFill>
                <a:latin typeface="monospace" pitchFamily="34" charset="0"/>
                <a:ea typeface="monospace" pitchFamily="34" charset="-122"/>
                <a:cs typeface="monospace" pitchFamily="34" charset="-120"/>
              </a:rPr>
              <a:t>: # W_total &lt;= W_land_safe</a:t>
            </a:r>
            <a:r>
              <a:rPr lang="en-US" sz="750" dirty="0">
                <a:solidFill>
                  <a:srgbClr val="CBD5E1"/>
                </a:solidFill>
                <a:latin typeface="monospace" pitchFamily="34" charset="0"/>
                <a:ea typeface="monospace" pitchFamily="34" charset="-122"/>
                <a:cs typeface="monospace" pitchFamily="34" charset="-120"/>
              </a:rPr>
              <a:t>
</a:t>
            </a:r>
            <a:r>
              <a:rPr lang="en-US" sz="700" b="1" dirty="0">
                <a:solidFill>
                  <a:srgbClr val="991B1B"/>
                </a:solidFill>
                <a:latin typeface="monospace" pitchFamily="34" charset="0"/>
                <a:ea typeface="monospace" pitchFamily="34" charset="-122"/>
                <a:cs typeface="monospace" pitchFamily="34" charset="-120"/>
              </a:rPr>
              <a:t>LAND IMMEDIATELY</a:t>
            </a:r>
            <a:r>
              <a:rPr lang="en-US" sz="750" dirty="0">
                <a:solidFill>
                  <a:srgbClr val="CBD5E1"/>
                </a:solidFill>
                <a:latin typeface="monospace" pitchFamily="34" charset="0"/>
                <a:ea typeface="monospace" pitchFamily="34" charset="-122"/>
                <a:cs typeface="monospace" pitchFamily="34" charset="-120"/>
              </a:rPr>
              <a:t>, in place</a:t>
            </a:r>
            <a:r>
              <a:rPr lang="en-US" sz="750" dirty="0">
                <a:solidFill>
                  <a:srgbClr val="CBD5E1"/>
                </a:solidFill>
                <a:latin typeface="monospace" pitchFamily="34" charset="0"/>
                <a:ea typeface="monospace" pitchFamily="34" charset="-122"/>
                <a:cs typeface="monospace" pitchFamily="34" charset="-120"/>
              </a:rPr>
              <a:t>
</a:t>
            </a:r>
            <a:r>
              <a:rPr lang="en-US" sz="700" b="1" dirty="0">
                <a:solidFill>
                  <a:srgbClr val="991B1B"/>
                </a:solidFill>
                <a:latin typeface="monospace" pitchFamily="34" charset="0"/>
                <a:ea typeface="monospace" pitchFamily="34" charset="-122"/>
                <a:cs typeface="monospace" pitchFamily="34" charset="-120"/>
              </a:rPr>
              <a:t>ENTER BEACON MODE</a:t>
            </a:r>
            <a:r>
              <a:rPr lang="en-US" sz="750" dirty="0">
                <a:solidFill>
                  <a:srgbClr val="CBD5E1"/>
                </a:solidFill>
                <a:latin typeface="monospace" pitchFamily="34" charset="0"/>
                <a:ea typeface="monospace" pitchFamily="34" charset="-122"/>
                <a:cs typeface="monospace" pitchFamily="34" charset="-120"/>
              </a:rPr>
              <a:t> (sustain GPS + comms)</a:t>
            </a:r>
            <a:r>
              <a:rPr lang="en-US" sz="750" dirty="0">
                <a:solidFill>
                  <a:srgbClr val="CBD5E1"/>
                </a:solidFill>
                <a:latin typeface="monospace" pitchFamily="34" charset="0"/>
                <a:ea typeface="monospace" pitchFamily="34" charset="-122"/>
                <a:cs typeface="monospace" pitchFamily="34" charset="-120"/>
              </a:rPr>
              <a:t>
</a:t>
            </a:r>
            <a:endParaRPr lang="en-US" sz="750" dirty="0"/>
          </a:p>
        </p:txBody>
      </p:sp>
      <p:sp>
        <p:nvSpPr>
          <p:cNvPr id="24" name="Text 21"/>
          <p:cNvSpPr/>
          <p:nvPr/>
        </p:nvSpPr>
        <p:spPr>
          <a:xfrm>
            <a:off x="4360534" y="3498540"/>
            <a:ext cx="4211966" cy="155377"/>
          </a:xfrm>
          <a:prstGeom prst="rect">
            <a:avLst/>
          </a:prstGeom>
          <a:noFill/>
          <a:ln/>
        </p:spPr>
        <p:txBody>
          <a:bodyPr wrap="square" lIns="0" tIns="0" rIns="0" bIns="0" rtlCol="0" anchor="t">
            <a:spAutoFit/>
          </a:bodyPr>
          <a:lstStyle/>
          <a:p>
            <a:pPr algn="l" indent="0" marL="0">
              <a:buNone/>
            </a:pPr>
            <a:r>
              <a:rPr lang="en-US" sz="900" b="1" spc="1" kern="0" dirty="0">
                <a:solidFill>
                  <a:srgbClr val="0F172A"/>
                </a:solidFill>
                <a:latin typeface="Inter Bold" pitchFamily="34" charset="0"/>
                <a:ea typeface="Inter Bold" pitchFamily="34" charset="-122"/>
                <a:cs typeface="Inter Bold" pitchFamily="34" charset="-120"/>
              </a:rPr>
              <a:t>PRIORITY ORDERING</a:t>
            </a:r>
            <a:endParaRPr lang="en-US" sz="900" dirty="0"/>
          </a:p>
        </p:txBody>
      </p:sp>
      <p:sp>
        <p:nvSpPr>
          <p:cNvPr id="25" name="Text 22"/>
          <p:cNvSpPr/>
          <p:nvPr/>
        </p:nvSpPr>
        <p:spPr>
          <a:xfrm>
            <a:off x="4360534" y="3768217"/>
            <a:ext cx="4211966" cy="171450"/>
          </a:xfrm>
          <a:prstGeom prst="rect">
            <a:avLst/>
          </a:prstGeom>
          <a:noFill/>
          <a:ln/>
        </p:spPr>
        <p:txBody>
          <a:bodyPr wrap="none" lIns="0" tIns="0" rIns="0" bIns="0" rtlCol="0" anchor="t">
            <a:spAutoFit/>
          </a:bodyPr>
          <a:lstStyle/>
          <a:p>
            <a:pPr algn="l" indent="0" marL="0">
              <a:lnSpc>
                <a:spcPct val="128000"/>
              </a:lnSpc>
              <a:buNone/>
            </a:pPr>
            <a:r>
              <a:rPr lang="en-US" sz="800" dirty="0">
                <a:solidFill>
                  <a:srgbClr val="334155"/>
                </a:solidFill>
                <a:latin typeface="Inter" pitchFamily="34" charset="0"/>
                <a:ea typeface="Inter" pitchFamily="34" charset="-122"/>
                <a:cs typeface="Inter" pitchFamily="34" charset="-120"/>
              </a:rPr>
              <a:t>The decision rule is built to preserve this ordering for maximum recoverability:</a:t>
            </a:r>
            <a:endParaRPr lang="en-US" sz="800" dirty="0"/>
          </a:p>
        </p:txBody>
      </p:sp>
      <p:sp>
        <p:nvSpPr>
          <p:cNvPr id="26" name="Shape 23"/>
          <p:cNvSpPr/>
          <p:nvPr/>
        </p:nvSpPr>
        <p:spPr>
          <a:xfrm>
            <a:off x="4360534" y="4053967"/>
            <a:ext cx="171450" cy="171450"/>
          </a:xfrm>
          <a:prstGeom prst="ellipse">
            <a:avLst/>
          </a:prstGeom>
          <a:solidFill>
            <a:srgbClr val="991B1B"/>
          </a:solidFill>
          <a:ln/>
        </p:spPr>
      </p:sp>
      <p:sp>
        <p:nvSpPr>
          <p:cNvPr id="27" name="Text 24"/>
          <p:cNvSpPr/>
          <p:nvPr/>
        </p:nvSpPr>
        <p:spPr>
          <a:xfrm>
            <a:off x="4360534" y="4053967"/>
            <a:ext cx="171450" cy="171450"/>
          </a:xfrm>
          <a:prstGeom prst="rect">
            <a:avLst/>
          </a:prstGeom>
          <a:noFill/>
          <a:ln/>
        </p:spPr>
        <p:txBody>
          <a:bodyPr wrap="none" lIns="0" tIns="0" rIns="0" bIns="0" rtlCol="0" anchor="ctr">
            <a:spAutoFit/>
          </a:bodyPr>
          <a:lstStyle/>
          <a:p>
            <a:pPr algn="ctr" indent="0" marL="0">
              <a:buNone/>
            </a:pPr>
            <a:r>
              <a:rPr lang="en-US" sz="600" b="1" dirty="0">
                <a:solidFill>
                  <a:srgbClr val="F8FAFC"/>
                </a:solidFill>
                <a:latin typeface="Inter Bold" pitchFamily="34" charset="0"/>
                <a:ea typeface="Inter Bold" pitchFamily="34" charset="-122"/>
                <a:cs typeface="Inter Bold" pitchFamily="34" charset="-120"/>
              </a:rPr>
              <a:t>1</a:t>
            </a:r>
            <a:endParaRPr lang="en-US" sz="600" dirty="0"/>
          </a:p>
        </p:txBody>
      </p:sp>
      <p:sp>
        <p:nvSpPr>
          <p:cNvPr id="28" name="Text 25"/>
          <p:cNvSpPr/>
          <p:nvPr/>
        </p:nvSpPr>
        <p:spPr>
          <a:xfrm>
            <a:off x="4617709" y="4053967"/>
            <a:ext cx="1902023" cy="164306"/>
          </a:xfrm>
          <a:prstGeom prst="rect">
            <a:avLst/>
          </a:prstGeom>
          <a:noFill/>
          <a:ln/>
        </p:spPr>
        <p:txBody>
          <a:bodyPr wrap="none" lIns="0" tIns="17018" rIns="0" bIns="0" rtlCol="0" anchor="t">
            <a:spAutoFit/>
          </a:bodyPr>
          <a:lstStyle/>
          <a:p>
            <a:pPr algn="l" indent="0" marL="0">
              <a:lnSpc>
                <a:spcPct val="120000"/>
              </a:lnSpc>
              <a:buNone/>
            </a:pPr>
            <a:r>
              <a:rPr lang="en-US" sz="700" b="1" dirty="0">
                <a:solidFill>
                  <a:srgbClr val="0F172A"/>
                </a:solidFill>
                <a:latin typeface="Inter Bold" pitchFamily="34" charset="0"/>
                <a:ea typeface="Inter Bold" pitchFamily="34" charset="-122"/>
                <a:cs typeface="Inter Bold" pitchFamily="34" charset="-120"/>
              </a:rPr>
              <a:t>Flying &amp; Transmitting:</a:t>
            </a:r>
            <a:r>
              <a:rPr lang="en-US" sz="750" dirty="0">
                <a:solidFill>
                  <a:srgbClr val="334155"/>
                </a:solidFill>
                <a:latin typeface="Inter" pitchFamily="34" charset="0"/>
                <a:ea typeface="Inter" pitchFamily="34" charset="-122"/>
                <a:cs typeface="Inter" pitchFamily="34" charset="-120"/>
              </a:rPr>
              <a:t> Easiest to locate.</a:t>
            </a:r>
            <a:endParaRPr lang="en-US" sz="700" dirty="0"/>
          </a:p>
        </p:txBody>
      </p:sp>
      <p:sp>
        <p:nvSpPr>
          <p:cNvPr id="29" name="Shape 26"/>
          <p:cNvSpPr/>
          <p:nvPr/>
        </p:nvSpPr>
        <p:spPr>
          <a:xfrm>
            <a:off x="4360534" y="4311142"/>
            <a:ext cx="171450" cy="171450"/>
          </a:xfrm>
          <a:prstGeom prst="ellipse">
            <a:avLst/>
          </a:prstGeom>
          <a:solidFill>
            <a:srgbClr val="991B1B"/>
          </a:solidFill>
          <a:ln/>
        </p:spPr>
      </p:sp>
      <p:sp>
        <p:nvSpPr>
          <p:cNvPr id="30" name="Text 27"/>
          <p:cNvSpPr/>
          <p:nvPr/>
        </p:nvSpPr>
        <p:spPr>
          <a:xfrm>
            <a:off x="4360534" y="4311142"/>
            <a:ext cx="171450" cy="171450"/>
          </a:xfrm>
          <a:prstGeom prst="rect">
            <a:avLst/>
          </a:prstGeom>
          <a:noFill/>
          <a:ln/>
        </p:spPr>
        <p:txBody>
          <a:bodyPr wrap="none" lIns="0" tIns="0" rIns="0" bIns="0" rtlCol="0" anchor="ctr">
            <a:spAutoFit/>
          </a:bodyPr>
          <a:lstStyle/>
          <a:p>
            <a:pPr algn="ctr" indent="0" marL="0">
              <a:buNone/>
            </a:pPr>
            <a:r>
              <a:rPr lang="en-US" sz="600" b="1" dirty="0">
                <a:solidFill>
                  <a:srgbClr val="F8FAFC"/>
                </a:solidFill>
                <a:latin typeface="Inter Bold" pitchFamily="34" charset="0"/>
                <a:ea typeface="Inter Bold" pitchFamily="34" charset="-122"/>
                <a:cs typeface="Inter Bold" pitchFamily="34" charset="-120"/>
              </a:rPr>
              <a:t>2</a:t>
            </a:r>
            <a:endParaRPr lang="en-US" sz="600" dirty="0"/>
          </a:p>
        </p:txBody>
      </p:sp>
      <p:sp>
        <p:nvSpPr>
          <p:cNvPr id="31" name="Text 28"/>
          <p:cNvSpPr/>
          <p:nvPr/>
        </p:nvSpPr>
        <p:spPr>
          <a:xfrm>
            <a:off x="4617709" y="4311142"/>
            <a:ext cx="2937867" cy="164306"/>
          </a:xfrm>
          <a:prstGeom prst="rect">
            <a:avLst/>
          </a:prstGeom>
          <a:noFill/>
          <a:ln/>
        </p:spPr>
        <p:txBody>
          <a:bodyPr wrap="none" lIns="0" tIns="17018" rIns="0" bIns="0" rtlCol="0" anchor="t">
            <a:spAutoFit/>
          </a:bodyPr>
          <a:lstStyle/>
          <a:p>
            <a:pPr algn="l" indent="0" marL="0">
              <a:lnSpc>
                <a:spcPct val="120000"/>
              </a:lnSpc>
              <a:buNone/>
            </a:pPr>
            <a:r>
              <a:rPr lang="en-US" sz="700" b="1" dirty="0">
                <a:solidFill>
                  <a:srgbClr val="0F172A"/>
                </a:solidFill>
                <a:latin typeface="Inter Bold" pitchFamily="34" charset="0"/>
                <a:ea typeface="Inter Bold" pitchFamily="34" charset="-122"/>
                <a:cs typeface="Inter Bold" pitchFamily="34" charset="-120"/>
              </a:rPr>
              <a:t>Landed &amp; Beaconing:</a:t>
            </a:r>
            <a:r>
              <a:rPr lang="en-US" sz="750" dirty="0">
                <a:solidFill>
                  <a:srgbClr val="334155"/>
                </a:solidFill>
                <a:latin typeface="Inter" pitchFamily="34" charset="0"/>
                <a:ea typeface="Inter" pitchFamily="34" charset="-122"/>
                <a:cs typeface="Inter" pitchFamily="34" charset="-120"/>
              </a:rPr>
              <a:t> Far easier to locate than a dead battery.</a:t>
            </a:r>
            <a:endParaRPr lang="en-US" sz="700" dirty="0"/>
          </a:p>
        </p:txBody>
      </p:sp>
      <p:sp>
        <p:nvSpPr>
          <p:cNvPr id="32" name="Shape 29"/>
          <p:cNvSpPr/>
          <p:nvPr/>
        </p:nvSpPr>
        <p:spPr>
          <a:xfrm>
            <a:off x="4360534" y="4568317"/>
            <a:ext cx="171450" cy="171450"/>
          </a:xfrm>
          <a:prstGeom prst="ellipse">
            <a:avLst/>
          </a:prstGeom>
          <a:solidFill>
            <a:srgbClr val="991B1B"/>
          </a:solidFill>
          <a:ln/>
        </p:spPr>
      </p:sp>
      <p:sp>
        <p:nvSpPr>
          <p:cNvPr id="33" name="Text 30"/>
          <p:cNvSpPr/>
          <p:nvPr/>
        </p:nvSpPr>
        <p:spPr>
          <a:xfrm>
            <a:off x="4360534" y="4568317"/>
            <a:ext cx="171450" cy="171450"/>
          </a:xfrm>
          <a:prstGeom prst="rect">
            <a:avLst/>
          </a:prstGeom>
          <a:noFill/>
          <a:ln/>
        </p:spPr>
        <p:txBody>
          <a:bodyPr wrap="none" lIns="0" tIns="0" rIns="0" bIns="0" rtlCol="0" anchor="ctr">
            <a:spAutoFit/>
          </a:bodyPr>
          <a:lstStyle/>
          <a:p>
            <a:pPr algn="ctr" indent="0" marL="0">
              <a:buNone/>
            </a:pPr>
            <a:r>
              <a:rPr lang="en-US" sz="600" b="1" dirty="0">
                <a:solidFill>
                  <a:srgbClr val="F8FAFC"/>
                </a:solidFill>
                <a:latin typeface="Inter Bold" pitchFamily="34" charset="0"/>
                <a:ea typeface="Inter Bold" pitchFamily="34" charset="-122"/>
                <a:cs typeface="Inter Bold" pitchFamily="34" charset="-120"/>
              </a:rPr>
              <a:t>3</a:t>
            </a:r>
            <a:endParaRPr lang="en-US" sz="600" dirty="0"/>
          </a:p>
        </p:txBody>
      </p:sp>
      <p:sp>
        <p:nvSpPr>
          <p:cNvPr id="34" name="Text 31"/>
          <p:cNvSpPr/>
          <p:nvPr/>
        </p:nvSpPr>
        <p:spPr>
          <a:xfrm>
            <a:off x="4617709" y="4568317"/>
            <a:ext cx="3909417" cy="164306"/>
          </a:xfrm>
          <a:prstGeom prst="rect">
            <a:avLst/>
          </a:prstGeom>
          <a:noFill/>
          <a:ln/>
        </p:spPr>
        <p:txBody>
          <a:bodyPr wrap="none" lIns="0" tIns="17018" rIns="0" bIns="0" rtlCol="0" anchor="t">
            <a:spAutoFit/>
          </a:bodyPr>
          <a:lstStyle/>
          <a:p>
            <a:pPr algn="l" indent="0" marL="0">
              <a:lnSpc>
                <a:spcPct val="120000"/>
              </a:lnSpc>
              <a:buNone/>
            </a:pPr>
            <a:r>
              <a:rPr lang="en-US" sz="700" b="1" dirty="0">
                <a:solidFill>
                  <a:srgbClr val="0F172A"/>
                </a:solidFill>
                <a:latin typeface="Inter Bold" pitchFamily="34" charset="0"/>
                <a:ea typeface="Inter Bold" pitchFamily="34" charset="-122"/>
                <a:cs typeface="Inter Bold" pitchFamily="34" charset="-120"/>
              </a:rPr>
              <a:t>Battery Dead Mid-Flight:</a:t>
            </a:r>
            <a:r>
              <a:rPr lang="en-US" sz="750" dirty="0">
                <a:solidFill>
                  <a:srgbClr val="334155"/>
                </a:solidFill>
                <a:latin typeface="Inter" pitchFamily="34" charset="0"/>
                <a:ea typeface="Inter" pitchFamily="34" charset="-122"/>
                <a:cs typeface="Inter" pitchFamily="34" charset="-120"/>
              </a:rPr>
              <a:t> The scenario the Work Index model prevents at all costs.</a:t>
            </a:r>
            <a:endParaRPr lang="en-US" sz="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219123"/>
          </a:xfrm>
          <a:prstGeom prst="rect">
            <a:avLst/>
          </a:prstGeom>
        </p:spPr>
      </p:pic>
      <p:sp>
        <p:nvSpPr>
          <p:cNvPr id="3" name="Text 0"/>
          <p:cNvSpPr/>
          <p:nvPr/>
        </p:nvSpPr>
        <p:spPr>
          <a:xfrm>
            <a:off x="571500" y="342900"/>
            <a:ext cx="8001000" cy="360759"/>
          </a:xfrm>
          <a:prstGeom prst="rect">
            <a:avLst/>
          </a:prstGeom>
          <a:noFill/>
          <a:ln/>
        </p:spPr>
        <p:txBody>
          <a:bodyPr wrap="square" lIns="0" tIns="0" rIns="0" bIns="0" rtlCol="0" anchor="t">
            <a:spAutoFit/>
          </a:bodyPr>
          <a:lstStyle/>
          <a:p>
            <a:pPr algn="l" indent="0" marL="0">
              <a:buNone/>
            </a:pPr>
            <a:r>
              <a:rPr lang="en-US" sz="1900" b="1" dirty="0">
                <a:solidFill>
                  <a:srgbClr val="0F172A"/>
                </a:solidFill>
                <a:latin typeface="Playfair Display ExtraBold" pitchFamily="34" charset="0"/>
                <a:ea typeface="Playfair Display ExtraBold" pitchFamily="34" charset="-122"/>
                <a:cs typeface="Playfair Display ExtraBold" pitchFamily="34" charset="-120"/>
              </a:rPr>
              <a:t>Safety Philosophy</a:t>
            </a:r>
            <a:endParaRPr lang="en-US" sz="1900" dirty="0"/>
          </a:p>
        </p:txBody>
      </p:sp>
      <p:sp>
        <p:nvSpPr>
          <p:cNvPr id="4" name="Text 1"/>
          <p:cNvSpPr/>
          <p:nvPr/>
        </p:nvSpPr>
        <p:spPr>
          <a:xfrm>
            <a:off x="571500" y="1103709"/>
            <a:ext cx="8001000" cy="365727"/>
          </a:xfrm>
          <a:prstGeom prst="rect">
            <a:avLst/>
          </a:prstGeom>
          <a:noFill/>
          <a:ln/>
        </p:spPr>
        <p:txBody>
          <a:bodyPr wrap="square" lIns="0" tIns="0" rIns="0" bIns="0" rtlCol="0" anchor="t">
            <a:spAutoFit/>
          </a:bodyPr>
          <a:lstStyle/>
          <a:p>
            <a:pPr algn="l" indent="0" marL="0">
              <a:lnSpc>
                <a:spcPct val="128000"/>
              </a:lnSpc>
              <a:buNone/>
            </a:pPr>
            <a:r>
              <a:rPr lang="en-US" sz="850" dirty="0">
                <a:solidFill>
                  <a:srgbClr val="334155"/>
                </a:solidFill>
                <a:latin typeface="Inter" pitchFamily="34" charset="0"/>
                <a:ea typeface="Inter" pitchFamily="34" charset="-122"/>
                <a:cs typeface="Inter" pitchFamily="34" charset="-120"/>
              </a:rPr>
              <a:t>The architecture deliberately separates the two core components of the system to ensure that safety-critical flight control is never compromised by AI experimentation.</a:t>
            </a:r>
            <a:endParaRPr lang="en-US" sz="850" dirty="0"/>
          </a:p>
        </p:txBody>
      </p:sp>
      <p:sp>
        <p:nvSpPr>
          <p:cNvPr id="5" name="Text 2"/>
          <p:cNvSpPr/>
          <p:nvPr/>
        </p:nvSpPr>
        <p:spPr>
          <a:xfrm>
            <a:off x="857250" y="1812336"/>
            <a:ext cx="3407569" cy="303609"/>
          </a:xfrm>
          <a:prstGeom prst="rect">
            <a:avLst/>
          </a:prstGeom>
          <a:noFill/>
          <a:ln/>
        </p:spPr>
        <p:txBody>
          <a:bodyPr wrap="square" lIns="0" tIns="0" rIns="0" bIns="0" rtlCol="0" anchor="t">
            <a:spAutoFit/>
          </a:bodyPr>
          <a:lstStyle/>
          <a:p>
            <a:pPr algn="l" indent="0" marL="0">
              <a:buNone/>
            </a:pPr>
            <a:r>
              <a:rPr lang="en-US" sz="1600" b="1" dirty="0">
                <a:solidFill>
                  <a:srgbClr val="991B1B"/>
                </a:solidFill>
                <a:latin typeface="Playfair Display ExtraBold" pitchFamily="34" charset="0"/>
                <a:ea typeface="Playfair Display ExtraBold" pitchFamily="34" charset="-122"/>
                <a:cs typeface="Playfair Display ExtraBold" pitchFamily="34" charset="-120"/>
              </a:rPr>
              <a:t>AI Advisor</a:t>
            </a:r>
            <a:endParaRPr lang="en-US" sz="1600" dirty="0"/>
          </a:p>
        </p:txBody>
      </p:sp>
      <p:sp>
        <p:nvSpPr>
          <p:cNvPr id="6" name="Shape 3"/>
          <p:cNvSpPr/>
          <p:nvPr/>
        </p:nvSpPr>
        <p:spPr>
          <a:xfrm>
            <a:off x="857250" y="2358833"/>
            <a:ext cx="171450" cy="171450"/>
          </a:xfrm>
          <a:prstGeom prst="ellipse">
            <a:avLst/>
          </a:prstGeom>
          <a:solidFill>
            <a:srgbClr val="991B1B">
              <a:alpha val="20000"/>
            </a:srgbClr>
          </a:solidFill>
          <a:ln/>
        </p:spPr>
      </p:sp>
      <p:pic>
        <p:nvPicPr>
          <p:cNvPr id="7" name="Image 1" descr="preencoded.png">    </p:cNvPr>
          <p:cNvPicPr>
            <a:picLocks noChangeAspect="1"/>
          </p:cNvPicPr>
          <p:nvPr/>
        </p:nvPicPr>
        <p:blipFill>
          <a:blip r:embed="rId2"/>
          <a:stretch>
            <a:fillRect/>
          </a:stretch>
        </p:blipFill>
        <p:spPr>
          <a:xfrm>
            <a:off x="885825" y="2387408"/>
            <a:ext cx="114300" cy="114300"/>
          </a:xfrm>
          <a:prstGeom prst="rect">
            <a:avLst/>
          </a:prstGeom>
        </p:spPr>
      </p:pic>
      <p:sp>
        <p:nvSpPr>
          <p:cNvPr id="8" name="Text 4"/>
          <p:cNvSpPr/>
          <p:nvPr/>
        </p:nvSpPr>
        <p:spPr>
          <a:xfrm>
            <a:off x="1143000" y="2344545"/>
            <a:ext cx="3121819" cy="342900"/>
          </a:xfrm>
          <a:prstGeom prst="rect">
            <a:avLst/>
          </a:prstGeom>
          <a:noFill/>
          <a:ln/>
        </p:spPr>
        <p:txBody>
          <a:bodyPr wrap="square" lIns="0" tIns="0" rIns="0" bIns="0" rtlCol="0" anchor="t">
            <a:spAutoFit/>
          </a:bodyPr>
          <a:lstStyle/>
          <a:p>
            <a:pPr algn="l" indent="0" marL="0">
              <a:lnSpc>
                <a:spcPct val="120000"/>
              </a:lnSpc>
              <a:buNone/>
            </a:pPr>
            <a:r>
              <a:rPr lang="en-US" sz="800" b="1" dirty="0">
                <a:solidFill>
                  <a:srgbClr val="334155"/>
                </a:solidFill>
                <a:latin typeface="Inter Bold" pitchFamily="34" charset="0"/>
                <a:ea typeface="Inter Bold" pitchFamily="34" charset="-122"/>
                <a:cs typeface="Inter Bold" pitchFamily="34" charset="-120"/>
              </a:rPr>
              <a:t>Non-deterministic:</a:t>
            </a:r>
            <a:r>
              <a:rPr lang="en-US" sz="850" dirty="0">
                <a:solidFill>
                  <a:srgbClr val="334155"/>
                </a:solidFill>
                <a:latin typeface="Inter" pitchFamily="34" charset="0"/>
                <a:ea typeface="Inter" pitchFamily="34" charset="-122"/>
                <a:cs typeface="Inter" pitchFamily="34" charset="-120"/>
              </a:rPr>
              <a:t> Probabilistic decision-making with </a:t>
            </a:r>
            <a:r>
              <a:rPr lang="en-US" sz="850" dirty="0">
                <a:solidFill>
                  <a:srgbClr val="334155"/>
                </a:solidFill>
                <a:latin typeface="Inter" pitchFamily="34" charset="0"/>
                <a:ea typeface="Inter" pitchFamily="34" charset="-122"/>
                <a:cs typeface="Inter" pitchFamily="34" charset="-120"/>
              </a:rPr>
              <a:t>varying outputs for the same inputs.</a:t>
            </a:r>
            <a:endParaRPr lang="en-US" sz="800" dirty="0"/>
          </a:p>
        </p:txBody>
      </p:sp>
      <p:sp>
        <p:nvSpPr>
          <p:cNvPr id="9" name="Shape 5"/>
          <p:cNvSpPr/>
          <p:nvPr/>
        </p:nvSpPr>
        <p:spPr>
          <a:xfrm>
            <a:off x="857250" y="2873183"/>
            <a:ext cx="171450" cy="171450"/>
          </a:xfrm>
          <a:prstGeom prst="ellipse">
            <a:avLst/>
          </a:prstGeom>
          <a:solidFill>
            <a:srgbClr val="991B1B">
              <a:alpha val="20000"/>
            </a:srgbClr>
          </a:solidFill>
          <a:ln/>
        </p:spPr>
      </p:sp>
      <p:pic>
        <p:nvPicPr>
          <p:cNvPr id="10" name="Image 2" descr="preencoded.png">    </p:cNvPr>
          <p:cNvPicPr>
            <a:picLocks noChangeAspect="1"/>
          </p:cNvPicPr>
          <p:nvPr/>
        </p:nvPicPr>
        <p:blipFill>
          <a:blip r:embed="rId3"/>
          <a:stretch>
            <a:fillRect/>
          </a:stretch>
        </p:blipFill>
        <p:spPr>
          <a:xfrm>
            <a:off x="885825" y="2901758"/>
            <a:ext cx="114300" cy="114300"/>
          </a:xfrm>
          <a:prstGeom prst="rect">
            <a:avLst/>
          </a:prstGeom>
        </p:spPr>
      </p:pic>
      <p:sp>
        <p:nvSpPr>
          <p:cNvPr id="11" name="Text 6"/>
          <p:cNvSpPr/>
          <p:nvPr/>
        </p:nvSpPr>
        <p:spPr>
          <a:xfrm>
            <a:off x="1143000" y="2858895"/>
            <a:ext cx="3121819" cy="342900"/>
          </a:xfrm>
          <a:prstGeom prst="rect">
            <a:avLst/>
          </a:prstGeom>
          <a:noFill/>
          <a:ln/>
        </p:spPr>
        <p:txBody>
          <a:bodyPr wrap="square" lIns="0" tIns="0" rIns="0" bIns="0" rtlCol="0" anchor="t">
            <a:spAutoFit/>
          </a:bodyPr>
          <a:lstStyle/>
          <a:p>
            <a:pPr algn="l" indent="0" marL="0">
              <a:lnSpc>
                <a:spcPct val="120000"/>
              </a:lnSpc>
              <a:buNone/>
            </a:pPr>
            <a:r>
              <a:rPr lang="en-US" sz="800" b="1" dirty="0">
                <a:solidFill>
                  <a:srgbClr val="334155"/>
                </a:solidFill>
                <a:latin typeface="Inter Bold" pitchFamily="34" charset="0"/>
                <a:ea typeface="Inter Bold" pitchFamily="34" charset="-122"/>
                <a:cs typeface="Inter Bold" pitchFamily="34" charset="-120"/>
              </a:rPr>
              <a:t>Compute-heavy:</a:t>
            </a:r>
            <a:r>
              <a:rPr lang="en-US" sz="850" dirty="0">
                <a:solidFill>
                  <a:srgbClr val="334155"/>
                </a:solidFill>
                <a:latin typeface="Inter" pitchFamily="34" charset="0"/>
                <a:ea typeface="Inter" pitchFamily="34" charset="-122"/>
                <a:cs typeface="Inter" pitchFamily="34" charset="-120"/>
              </a:rPr>
              <a:t> Requires significant processing power </a:t>
            </a:r>
            <a:r>
              <a:rPr lang="en-US" sz="850" dirty="0">
                <a:solidFill>
                  <a:srgbClr val="334155"/>
                </a:solidFill>
                <a:latin typeface="Inter" pitchFamily="34" charset="0"/>
                <a:ea typeface="Inter" pitchFamily="34" charset="-122"/>
                <a:cs typeface="Inter" pitchFamily="34" charset="-120"/>
              </a:rPr>
              <a:t>for inference and perception.</a:t>
            </a:r>
            <a:endParaRPr lang="en-US" sz="800" dirty="0"/>
          </a:p>
        </p:txBody>
      </p:sp>
      <p:sp>
        <p:nvSpPr>
          <p:cNvPr id="12" name="Shape 7"/>
          <p:cNvSpPr/>
          <p:nvPr/>
        </p:nvSpPr>
        <p:spPr>
          <a:xfrm>
            <a:off x="857250" y="3387533"/>
            <a:ext cx="171450" cy="171450"/>
          </a:xfrm>
          <a:prstGeom prst="ellipse">
            <a:avLst/>
          </a:prstGeom>
          <a:solidFill>
            <a:srgbClr val="991B1B">
              <a:alpha val="20000"/>
            </a:srgbClr>
          </a:solidFill>
          <a:ln/>
        </p:spPr>
      </p:sp>
      <p:pic>
        <p:nvPicPr>
          <p:cNvPr id="13" name="Image 3" descr="preencoded.png">    </p:cNvPr>
          <p:cNvPicPr>
            <a:picLocks noChangeAspect="1"/>
          </p:cNvPicPr>
          <p:nvPr/>
        </p:nvPicPr>
        <p:blipFill>
          <a:blip r:embed="rId4"/>
          <a:stretch>
            <a:fillRect/>
          </a:stretch>
        </p:blipFill>
        <p:spPr>
          <a:xfrm>
            <a:off x="892969" y="3416108"/>
            <a:ext cx="100013" cy="114300"/>
          </a:xfrm>
          <a:prstGeom prst="rect">
            <a:avLst/>
          </a:prstGeom>
        </p:spPr>
      </p:pic>
      <p:sp>
        <p:nvSpPr>
          <p:cNvPr id="14" name="Text 8"/>
          <p:cNvSpPr/>
          <p:nvPr/>
        </p:nvSpPr>
        <p:spPr>
          <a:xfrm>
            <a:off x="1143000" y="3373245"/>
            <a:ext cx="3121819" cy="342900"/>
          </a:xfrm>
          <a:prstGeom prst="rect">
            <a:avLst/>
          </a:prstGeom>
          <a:noFill/>
          <a:ln/>
        </p:spPr>
        <p:txBody>
          <a:bodyPr wrap="square" lIns="0" tIns="0" rIns="0" bIns="0" rtlCol="0" anchor="t">
            <a:spAutoFit/>
          </a:bodyPr>
          <a:lstStyle/>
          <a:p>
            <a:pPr algn="l" indent="0" marL="0">
              <a:lnSpc>
                <a:spcPct val="120000"/>
              </a:lnSpc>
              <a:buNone/>
            </a:pPr>
            <a:r>
              <a:rPr lang="en-US" sz="800" b="1" dirty="0">
                <a:solidFill>
                  <a:srgbClr val="334155"/>
                </a:solidFill>
                <a:latin typeface="Inter Bold" pitchFamily="34" charset="0"/>
                <a:ea typeface="Inter Bold" pitchFamily="34" charset="-122"/>
                <a:cs typeface="Inter Bold" pitchFamily="34" charset="-120"/>
              </a:rPr>
              <a:t>Experimental:</a:t>
            </a:r>
            <a:r>
              <a:rPr lang="en-US" sz="850" dirty="0">
                <a:solidFill>
                  <a:srgbClr val="334155"/>
                </a:solidFill>
                <a:latin typeface="Inter" pitchFamily="34" charset="0"/>
                <a:ea typeface="Inter" pitchFamily="34" charset="-122"/>
                <a:cs typeface="Inter" pitchFamily="34" charset="-120"/>
              </a:rPr>
              <a:t> Constantly evolving models and logic that </a:t>
            </a:r>
            <a:r>
              <a:rPr lang="en-US" sz="850" dirty="0">
                <a:solidFill>
                  <a:srgbClr val="334155"/>
                </a:solidFill>
                <a:latin typeface="Inter" pitchFamily="34" charset="0"/>
                <a:ea typeface="Inter" pitchFamily="34" charset="-122"/>
                <a:cs typeface="Inter" pitchFamily="34" charset="-120"/>
              </a:rPr>
              <a:t>may contain unknown edge cases.</a:t>
            </a:r>
            <a:endParaRPr lang="en-US" sz="800" dirty="0"/>
          </a:p>
        </p:txBody>
      </p:sp>
      <p:sp>
        <p:nvSpPr>
          <p:cNvPr id="15" name="Text 9"/>
          <p:cNvSpPr/>
          <p:nvPr/>
        </p:nvSpPr>
        <p:spPr>
          <a:xfrm>
            <a:off x="4879181" y="1812336"/>
            <a:ext cx="3407569" cy="303609"/>
          </a:xfrm>
          <a:prstGeom prst="rect">
            <a:avLst/>
          </a:prstGeom>
          <a:noFill/>
          <a:ln/>
        </p:spPr>
        <p:txBody>
          <a:bodyPr wrap="square" lIns="0" tIns="0" rIns="0" bIns="0" rtlCol="0" anchor="t">
            <a:spAutoFit/>
          </a:bodyPr>
          <a:lstStyle/>
          <a:p>
            <a:pPr algn="l" indent="0" marL="0">
              <a:buNone/>
            </a:pPr>
            <a:r>
              <a:rPr lang="en-US" sz="1600" b="1" dirty="0">
                <a:solidFill>
                  <a:srgbClr val="0F172A"/>
                </a:solidFill>
                <a:latin typeface="Playfair Display ExtraBold" pitchFamily="34" charset="0"/>
                <a:ea typeface="Playfair Display ExtraBold" pitchFamily="34" charset="-122"/>
                <a:cs typeface="Playfair Display ExtraBold" pitchFamily="34" charset="-120"/>
              </a:rPr>
              <a:t>PX4 Flight Stack</a:t>
            </a:r>
            <a:endParaRPr lang="en-US" sz="1600" dirty="0"/>
          </a:p>
        </p:txBody>
      </p:sp>
      <p:sp>
        <p:nvSpPr>
          <p:cNvPr id="16" name="Shape 10"/>
          <p:cNvSpPr/>
          <p:nvPr/>
        </p:nvSpPr>
        <p:spPr>
          <a:xfrm>
            <a:off x="4879181" y="2358833"/>
            <a:ext cx="171450" cy="171450"/>
          </a:xfrm>
          <a:prstGeom prst="ellipse">
            <a:avLst/>
          </a:prstGeom>
          <a:solidFill>
            <a:srgbClr val="0F172A"/>
          </a:solidFill>
          <a:ln/>
        </p:spPr>
      </p:sp>
      <p:pic>
        <p:nvPicPr>
          <p:cNvPr id="17" name="Image 4" descr="preencoded.png">    </p:cNvPr>
          <p:cNvPicPr>
            <a:picLocks noChangeAspect="1"/>
          </p:cNvPicPr>
          <p:nvPr/>
        </p:nvPicPr>
        <p:blipFill>
          <a:blip r:embed="rId5"/>
          <a:stretch>
            <a:fillRect/>
          </a:stretch>
        </p:blipFill>
        <p:spPr>
          <a:xfrm>
            <a:off x="4914900" y="2387408"/>
            <a:ext cx="100013" cy="114300"/>
          </a:xfrm>
          <a:prstGeom prst="rect">
            <a:avLst/>
          </a:prstGeom>
        </p:spPr>
      </p:pic>
      <p:sp>
        <p:nvSpPr>
          <p:cNvPr id="18" name="Text 11"/>
          <p:cNvSpPr/>
          <p:nvPr/>
        </p:nvSpPr>
        <p:spPr>
          <a:xfrm>
            <a:off x="5164931" y="2344545"/>
            <a:ext cx="3121819" cy="342900"/>
          </a:xfrm>
          <a:prstGeom prst="rect">
            <a:avLst/>
          </a:prstGeom>
          <a:noFill/>
          <a:ln/>
        </p:spPr>
        <p:txBody>
          <a:bodyPr wrap="square" lIns="0" tIns="0" rIns="0" bIns="0" rtlCol="0" anchor="t">
            <a:spAutoFit/>
          </a:bodyPr>
          <a:lstStyle/>
          <a:p>
            <a:pPr algn="l" indent="0" marL="0">
              <a:lnSpc>
                <a:spcPct val="120000"/>
              </a:lnSpc>
              <a:buNone/>
            </a:pPr>
            <a:r>
              <a:rPr lang="en-US" sz="800" b="1" dirty="0">
                <a:solidFill>
                  <a:srgbClr val="334155"/>
                </a:solidFill>
                <a:latin typeface="Inter Bold" pitchFamily="34" charset="0"/>
                <a:ea typeface="Inter Bold" pitchFamily="34" charset="-122"/>
                <a:cs typeface="Inter Bold" pitchFamily="34" charset="-120"/>
              </a:rPr>
              <a:t>Hard real-time:</a:t>
            </a:r>
            <a:r>
              <a:rPr lang="en-US" sz="850" dirty="0">
                <a:solidFill>
                  <a:srgbClr val="334155"/>
                </a:solidFill>
                <a:latin typeface="Inter" pitchFamily="34" charset="0"/>
                <a:ea typeface="Inter" pitchFamily="34" charset="-122"/>
                <a:cs typeface="Inter" pitchFamily="34" charset="-120"/>
              </a:rPr>
              <a:t> Strict timing guarantees required for </a:t>
            </a:r>
            <a:r>
              <a:rPr lang="en-US" sz="850" dirty="0">
                <a:solidFill>
                  <a:srgbClr val="334155"/>
                </a:solidFill>
                <a:latin typeface="Inter" pitchFamily="34" charset="0"/>
                <a:ea typeface="Inter" pitchFamily="34" charset="-122"/>
                <a:cs typeface="Inter" pitchFamily="34" charset="-120"/>
              </a:rPr>
              <a:t>maintaining vehicle stability.</a:t>
            </a:r>
            <a:endParaRPr lang="en-US" sz="800" dirty="0"/>
          </a:p>
        </p:txBody>
      </p:sp>
      <p:sp>
        <p:nvSpPr>
          <p:cNvPr id="19" name="Shape 12"/>
          <p:cNvSpPr/>
          <p:nvPr/>
        </p:nvSpPr>
        <p:spPr>
          <a:xfrm>
            <a:off x="4879181" y="2873183"/>
            <a:ext cx="171450" cy="171450"/>
          </a:xfrm>
          <a:prstGeom prst="ellipse">
            <a:avLst/>
          </a:prstGeom>
          <a:solidFill>
            <a:srgbClr val="0F172A"/>
          </a:solidFill>
          <a:ln/>
        </p:spPr>
      </p:sp>
      <p:pic>
        <p:nvPicPr>
          <p:cNvPr id="20" name="Image 5" descr="preencoded.png">    </p:cNvPr>
          <p:cNvPicPr>
            <a:picLocks noChangeAspect="1"/>
          </p:cNvPicPr>
          <p:nvPr/>
        </p:nvPicPr>
        <p:blipFill>
          <a:blip r:embed="rId6"/>
          <a:stretch>
            <a:fillRect/>
          </a:stretch>
        </p:blipFill>
        <p:spPr>
          <a:xfrm>
            <a:off x="4907756" y="2901758"/>
            <a:ext cx="114300" cy="114300"/>
          </a:xfrm>
          <a:prstGeom prst="rect">
            <a:avLst/>
          </a:prstGeom>
        </p:spPr>
      </p:pic>
      <p:sp>
        <p:nvSpPr>
          <p:cNvPr id="21" name="Text 13"/>
          <p:cNvSpPr/>
          <p:nvPr/>
        </p:nvSpPr>
        <p:spPr>
          <a:xfrm>
            <a:off x="5164931" y="2858895"/>
            <a:ext cx="3121819" cy="342900"/>
          </a:xfrm>
          <a:prstGeom prst="rect">
            <a:avLst/>
          </a:prstGeom>
          <a:noFill/>
          <a:ln/>
        </p:spPr>
        <p:txBody>
          <a:bodyPr wrap="square" lIns="0" tIns="0" rIns="0" bIns="0" rtlCol="0" anchor="t">
            <a:spAutoFit/>
          </a:bodyPr>
          <a:lstStyle/>
          <a:p>
            <a:pPr algn="l" indent="0" marL="0">
              <a:lnSpc>
                <a:spcPct val="120000"/>
              </a:lnSpc>
              <a:buNone/>
            </a:pPr>
            <a:r>
              <a:rPr lang="en-US" sz="800" b="1" dirty="0">
                <a:solidFill>
                  <a:srgbClr val="334155"/>
                </a:solidFill>
                <a:latin typeface="Inter Bold" pitchFamily="34" charset="0"/>
                <a:ea typeface="Inter Bold" pitchFamily="34" charset="-122"/>
                <a:cs typeface="Inter Bold" pitchFamily="34" charset="-120"/>
              </a:rPr>
              <a:t>Deterministic:</a:t>
            </a:r>
            <a:r>
              <a:rPr lang="en-US" sz="850" dirty="0">
                <a:solidFill>
                  <a:srgbClr val="334155"/>
                </a:solidFill>
                <a:latin typeface="Inter" pitchFamily="34" charset="0"/>
                <a:ea typeface="Inter" pitchFamily="34" charset="-122"/>
                <a:cs typeface="Inter" pitchFamily="34" charset="-120"/>
              </a:rPr>
              <a:t> Predictable, repeatable behavior essential </a:t>
            </a:r>
            <a:r>
              <a:rPr lang="en-US" sz="850" dirty="0">
                <a:solidFill>
                  <a:srgbClr val="334155"/>
                </a:solidFill>
                <a:latin typeface="Inter" pitchFamily="34" charset="0"/>
                <a:ea typeface="Inter" pitchFamily="34" charset="-122"/>
                <a:cs typeface="Inter" pitchFamily="34" charset="-120"/>
              </a:rPr>
              <a:t>for control loops.</a:t>
            </a:r>
            <a:endParaRPr lang="en-US" sz="800" dirty="0"/>
          </a:p>
        </p:txBody>
      </p:sp>
      <p:sp>
        <p:nvSpPr>
          <p:cNvPr id="22" name="Shape 14"/>
          <p:cNvSpPr/>
          <p:nvPr/>
        </p:nvSpPr>
        <p:spPr>
          <a:xfrm>
            <a:off x="4879181" y="3387533"/>
            <a:ext cx="171450" cy="171450"/>
          </a:xfrm>
          <a:prstGeom prst="ellipse">
            <a:avLst/>
          </a:prstGeom>
          <a:solidFill>
            <a:srgbClr val="0F172A"/>
          </a:solidFill>
          <a:ln/>
        </p:spPr>
      </p:sp>
      <p:pic>
        <p:nvPicPr>
          <p:cNvPr id="23" name="Image 6" descr="preencoded.png">    </p:cNvPr>
          <p:cNvPicPr>
            <a:picLocks noChangeAspect="1"/>
          </p:cNvPicPr>
          <p:nvPr/>
        </p:nvPicPr>
        <p:blipFill>
          <a:blip r:embed="rId7"/>
          <a:stretch>
            <a:fillRect/>
          </a:stretch>
        </p:blipFill>
        <p:spPr>
          <a:xfrm>
            <a:off x="4907756" y="3416108"/>
            <a:ext cx="114300" cy="114300"/>
          </a:xfrm>
          <a:prstGeom prst="rect">
            <a:avLst/>
          </a:prstGeom>
        </p:spPr>
      </p:pic>
      <p:sp>
        <p:nvSpPr>
          <p:cNvPr id="24" name="Text 15"/>
          <p:cNvSpPr/>
          <p:nvPr/>
        </p:nvSpPr>
        <p:spPr>
          <a:xfrm>
            <a:off x="5164931" y="3373245"/>
            <a:ext cx="3121819" cy="342900"/>
          </a:xfrm>
          <a:prstGeom prst="rect">
            <a:avLst/>
          </a:prstGeom>
          <a:noFill/>
          <a:ln/>
        </p:spPr>
        <p:txBody>
          <a:bodyPr wrap="square" lIns="0" tIns="0" rIns="0" bIns="0" rtlCol="0" anchor="t">
            <a:spAutoFit/>
          </a:bodyPr>
          <a:lstStyle/>
          <a:p>
            <a:pPr algn="l" indent="0" marL="0">
              <a:lnSpc>
                <a:spcPct val="120000"/>
              </a:lnSpc>
              <a:buNone/>
            </a:pPr>
            <a:r>
              <a:rPr lang="en-US" sz="800" b="1" dirty="0">
                <a:solidFill>
                  <a:srgbClr val="334155"/>
                </a:solidFill>
                <a:latin typeface="Inter Bold" pitchFamily="34" charset="0"/>
                <a:ea typeface="Inter Bold" pitchFamily="34" charset="-122"/>
                <a:cs typeface="Inter Bold" pitchFamily="34" charset="-120"/>
              </a:rPr>
              <a:t>Safety-certifiable:</a:t>
            </a:r>
            <a:r>
              <a:rPr lang="en-US" sz="850" dirty="0">
                <a:solidFill>
                  <a:srgbClr val="334155"/>
                </a:solidFill>
                <a:latin typeface="Inter" pitchFamily="34" charset="0"/>
                <a:ea typeface="Inter" pitchFamily="34" charset="-122"/>
                <a:cs typeface="Inter" pitchFamily="34" charset="-120"/>
              </a:rPr>
              <a:t> Built with rigorous testing and failsafe </a:t>
            </a:r>
            <a:r>
              <a:rPr lang="en-US" sz="850" dirty="0">
                <a:solidFill>
                  <a:srgbClr val="334155"/>
                </a:solidFill>
                <a:latin typeface="Inter" pitchFamily="34" charset="0"/>
                <a:ea typeface="Inter" pitchFamily="34" charset="-122"/>
                <a:cs typeface="Inter" pitchFamily="34" charset="-120"/>
              </a:rPr>
              <a:t>mechanisms to guarantee survival.</a:t>
            </a:r>
            <a:endParaRPr lang="en-US" sz="800" dirty="0"/>
          </a:p>
        </p:txBody>
      </p:sp>
      <p:sp>
        <p:nvSpPr>
          <p:cNvPr id="25" name="Shape 16"/>
          <p:cNvSpPr/>
          <p:nvPr/>
        </p:nvSpPr>
        <p:spPr>
          <a:xfrm>
            <a:off x="571500" y="4230495"/>
            <a:ext cx="8001000" cy="988628"/>
          </a:xfrm>
          <a:prstGeom prst="rect">
            <a:avLst/>
          </a:prstGeom>
          <a:solidFill>
            <a:srgbClr val="0F172A"/>
          </a:solidFill>
          <a:ln/>
        </p:spPr>
      </p:sp>
      <p:sp>
        <p:nvSpPr>
          <p:cNvPr id="26" name="Shape 17"/>
          <p:cNvSpPr/>
          <p:nvPr/>
        </p:nvSpPr>
        <p:spPr>
          <a:xfrm>
            <a:off x="571500" y="4230495"/>
            <a:ext cx="8001000" cy="28575"/>
          </a:xfrm>
          <a:prstGeom prst="rect">
            <a:avLst/>
          </a:prstGeom>
          <a:solidFill>
            <a:srgbClr val="991B1B"/>
          </a:solidFill>
          <a:ln/>
        </p:spPr>
      </p:sp>
      <p:sp>
        <p:nvSpPr>
          <p:cNvPr id="27" name="Text 18"/>
          <p:cNvSpPr/>
          <p:nvPr/>
        </p:nvSpPr>
        <p:spPr>
          <a:xfrm>
            <a:off x="1357313" y="4401945"/>
            <a:ext cx="6429375" cy="617153"/>
          </a:xfrm>
          <a:prstGeom prst="rect">
            <a:avLst/>
          </a:prstGeom>
          <a:noFill/>
          <a:ln/>
        </p:spPr>
        <p:txBody>
          <a:bodyPr wrap="square" lIns="0" tIns="0" rIns="0" bIns="0" rtlCol="0" anchor="t">
            <a:spAutoFit/>
          </a:bodyPr>
          <a:lstStyle/>
          <a:p>
            <a:pPr algn="ctr" indent="0" marL="0">
              <a:lnSpc>
                <a:spcPct val="128000"/>
              </a:lnSpc>
              <a:buNone/>
            </a:pPr>
            <a:r>
              <a:rPr lang="en-US" sz="900" b="1" dirty="0">
                <a:solidFill>
                  <a:srgbClr val="991B1B"/>
                </a:solidFill>
                <a:latin typeface="Inter Bold" pitchFamily="34" charset="0"/>
                <a:ea typeface="Inter Bold" pitchFamily="34" charset="-122"/>
                <a:cs typeface="Inter Bold" pitchFamily="34" charset="-120"/>
              </a:rPr>
              <a:t>Base Guarantee:</a:t>
            </a:r>
            <a:r>
              <a:rPr lang="en-US" sz="950" dirty="0">
                <a:solidFill>
                  <a:srgbClr val="F8FAFC"/>
                </a:solidFill>
                <a:latin typeface="Inter" pitchFamily="34" charset="0"/>
                <a:ea typeface="Inter" pitchFamily="34" charset="-122"/>
                <a:cs typeface="Inter" pitchFamily="34" charset="-120"/>
              </a:rPr>
              <a:t> Even if AI crashes completely, PX4 continues flying safely and executes an autonomous </a:t>
            </a:r>
            <a:r>
              <a:rPr lang="en-US" sz="950" dirty="0">
                <a:solidFill>
                  <a:srgbClr val="F8FAFC"/>
                </a:solidFill>
                <a:latin typeface="Inter" pitchFamily="34" charset="0"/>
                <a:ea typeface="Inter" pitchFamily="34" charset="-122"/>
                <a:cs typeface="Inter" pitchFamily="34" charset="-120"/>
              </a:rPr>
              <a:t>landing. The Work Index and ground-link decision frameworks are additional layers of judgment on top of </a:t>
            </a:r>
            <a:r>
              <a:rPr lang="en-US" sz="950" dirty="0">
                <a:solidFill>
                  <a:srgbClr val="F8FAFC"/>
                </a:solidFill>
                <a:latin typeface="Inter" pitchFamily="34" charset="0"/>
                <a:ea typeface="Inter" pitchFamily="34" charset="-122"/>
                <a:cs typeface="Inter" pitchFamily="34" charset="-120"/>
              </a:rPr>
              <a:t>this base guarantee — they do not replace it.</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571500" y="342900"/>
            <a:ext cx="8001000" cy="360759"/>
          </a:xfrm>
          <a:prstGeom prst="rect">
            <a:avLst/>
          </a:prstGeom>
          <a:noFill/>
          <a:ln/>
        </p:spPr>
        <p:txBody>
          <a:bodyPr wrap="square" lIns="0" tIns="0" rIns="0" bIns="0" rtlCol="0" anchor="t">
            <a:spAutoFit/>
          </a:bodyPr>
          <a:lstStyle/>
          <a:p>
            <a:pPr algn="l" indent="0" marL="0">
              <a:buNone/>
            </a:pPr>
            <a:r>
              <a:rPr lang="en-US" sz="1900" b="1" dirty="0">
                <a:solidFill>
                  <a:srgbClr val="0F172A"/>
                </a:solidFill>
                <a:latin typeface="Playfair Display ExtraBold" pitchFamily="34" charset="0"/>
                <a:ea typeface="Playfair Display ExtraBold" pitchFamily="34" charset="-122"/>
                <a:cs typeface="Playfair Display ExtraBold" pitchFamily="34" charset="-120"/>
              </a:rPr>
              <a:t>Development Workflow</a:t>
            </a:r>
            <a:endParaRPr lang="en-US" sz="1900" dirty="0"/>
          </a:p>
        </p:txBody>
      </p:sp>
      <p:sp>
        <p:nvSpPr>
          <p:cNvPr id="4" name="Text 1"/>
          <p:cNvSpPr/>
          <p:nvPr/>
        </p:nvSpPr>
        <p:spPr>
          <a:xfrm>
            <a:off x="571500" y="1132284"/>
            <a:ext cx="8001000" cy="182863"/>
          </a:xfrm>
          <a:prstGeom prst="rect">
            <a:avLst/>
          </a:prstGeom>
          <a:noFill/>
          <a:ln/>
        </p:spPr>
        <p:txBody>
          <a:bodyPr wrap="none" lIns="0" tIns="0" rIns="0" bIns="0" rtlCol="0" anchor="t">
            <a:spAutoFit/>
          </a:bodyPr>
          <a:lstStyle/>
          <a:p>
            <a:pPr algn="l" indent="0" marL="0">
              <a:lnSpc>
                <a:spcPct val="128000"/>
              </a:lnSpc>
              <a:buNone/>
            </a:pPr>
            <a:r>
              <a:rPr lang="en-US" sz="850" dirty="0">
                <a:solidFill>
                  <a:srgbClr val="334155"/>
                </a:solidFill>
                <a:latin typeface="Inter" pitchFamily="34" charset="0"/>
                <a:ea typeface="Inter" pitchFamily="34" charset="-122"/>
                <a:cs typeface="Inter" pitchFamily="34" charset="-120"/>
              </a:rPr>
              <a:t>The recommended testing pipeline progresses through five stages, moving from pure simulation to full autonomous flight.</a:t>
            </a:r>
            <a:endParaRPr lang="en-US" sz="850" dirty="0"/>
          </a:p>
        </p:txBody>
      </p:sp>
      <p:sp>
        <p:nvSpPr>
          <p:cNvPr id="5" name="Shape 2"/>
          <p:cNvSpPr/>
          <p:nvPr/>
        </p:nvSpPr>
        <p:spPr>
          <a:xfrm>
            <a:off x="1131559" y="1658048"/>
            <a:ext cx="342900" cy="342900"/>
          </a:xfrm>
          <a:prstGeom prst="ellipse">
            <a:avLst/>
          </a:prstGeom>
          <a:solidFill>
            <a:srgbClr val="0F172A"/>
          </a:solidFill>
          <a:ln/>
        </p:spPr>
      </p:sp>
      <p:sp>
        <p:nvSpPr>
          <p:cNvPr id="6" name="Text 3"/>
          <p:cNvSpPr/>
          <p:nvPr/>
        </p:nvSpPr>
        <p:spPr>
          <a:xfrm>
            <a:off x="1131559" y="1658048"/>
            <a:ext cx="342900" cy="342900"/>
          </a:xfrm>
          <a:prstGeom prst="rect">
            <a:avLst/>
          </a:prstGeom>
          <a:noFill/>
          <a:ln/>
        </p:spPr>
        <p:txBody>
          <a:bodyPr wrap="none" lIns="0" tIns="0" rIns="0" bIns="0" rtlCol="0" anchor="ctr">
            <a:spAutoFit/>
          </a:bodyPr>
          <a:lstStyle/>
          <a:p>
            <a:pPr algn="ctr" indent="0" marL="0">
              <a:buNone/>
            </a:pPr>
            <a:r>
              <a:rPr lang="en-US" sz="1200" b="1" dirty="0">
                <a:solidFill>
                  <a:srgbClr val="F8FAFC"/>
                </a:solidFill>
                <a:latin typeface="Playfair Display ExtraBold" pitchFamily="34" charset="0"/>
                <a:ea typeface="Playfair Display ExtraBold" pitchFamily="34" charset="-122"/>
                <a:cs typeface="Playfair Display ExtraBold" pitchFamily="34" charset="-120"/>
              </a:rPr>
              <a:t>1</a:t>
            </a:r>
            <a:endParaRPr lang="en-US" sz="1200" dirty="0"/>
          </a:p>
        </p:txBody>
      </p:sp>
      <p:sp>
        <p:nvSpPr>
          <p:cNvPr id="7" name="Text 4"/>
          <p:cNvSpPr/>
          <p:nvPr/>
        </p:nvSpPr>
        <p:spPr>
          <a:xfrm>
            <a:off x="906531" y="2143823"/>
            <a:ext cx="792956" cy="137517"/>
          </a:xfrm>
          <a:prstGeom prst="rect">
            <a:avLst/>
          </a:prstGeom>
          <a:noFill/>
          <a:ln/>
        </p:spPr>
        <p:txBody>
          <a:bodyPr wrap="none" lIns="0" tIns="0" rIns="0" bIns="0" rtlCol="0" anchor="t">
            <a:spAutoFit/>
          </a:bodyPr>
          <a:lstStyle/>
          <a:p>
            <a:pPr algn="ctr" indent="0" marL="0">
              <a:buNone/>
            </a:pPr>
            <a:r>
              <a:rPr lang="en-US" sz="800" b="1" spc="1" kern="0" dirty="0">
                <a:solidFill>
                  <a:srgbClr val="0F172A"/>
                </a:solidFill>
                <a:latin typeface="Inter Bold" pitchFamily="34" charset="0"/>
                <a:ea typeface="Inter Bold" pitchFamily="34" charset="-122"/>
                <a:cs typeface="Inter Bold" pitchFamily="34" charset="-120"/>
              </a:rPr>
              <a:t>SIMULATION</a:t>
            </a:r>
            <a:endParaRPr lang="en-US" sz="800" dirty="0"/>
          </a:p>
        </p:txBody>
      </p:sp>
      <p:sp>
        <p:nvSpPr>
          <p:cNvPr id="8" name="Text 5"/>
          <p:cNvSpPr/>
          <p:nvPr/>
        </p:nvSpPr>
        <p:spPr>
          <a:xfrm>
            <a:off x="571500" y="2367065"/>
            <a:ext cx="1463046" cy="600075"/>
          </a:xfrm>
          <a:prstGeom prst="rect">
            <a:avLst/>
          </a:prstGeom>
          <a:noFill/>
          <a:ln/>
        </p:spPr>
        <p:txBody>
          <a:bodyPr wrap="square" lIns="0" tIns="0" rIns="0" bIns="0" rtlCol="0" anchor="t">
            <a:spAutoFit/>
          </a:bodyPr>
          <a:lstStyle/>
          <a:p>
            <a:pPr algn="ctr" indent="0" marL="0">
              <a:lnSpc>
                <a:spcPct val="120000"/>
              </a:lnSpc>
              <a:buNone/>
            </a:pPr>
            <a:r>
              <a:rPr lang="en-US" sz="750" dirty="0">
                <a:solidFill>
                  <a:srgbClr val="334155"/>
                </a:solidFill>
                <a:latin typeface="Inter" pitchFamily="34" charset="0"/>
                <a:ea typeface="Inter" pitchFamily="34" charset="-122"/>
                <a:cs typeface="Inter" pitchFamily="34" charset="-120"/>
              </a:rPr>
              <a:t>Test AI logic with SITL and Gazebo, including injected ground-link dropouts and battery drain scenarios.</a:t>
            </a:r>
            <a:endParaRPr lang="en-US" sz="750" dirty="0"/>
          </a:p>
        </p:txBody>
      </p:sp>
      <p:sp>
        <p:nvSpPr>
          <p:cNvPr id="9" name="Shape 6"/>
          <p:cNvSpPr/>
          <p:nvPr/>
        </p:nvSpPr>
        <p:spPr>
          <a:xfrm>
            <a:off x="2766054" y="1658048"/>
            <a:ext cx="342900" cy="342900"/>
          </a:xfrm>
          <a:prstGeom prst="ellipse">
            <a:avLst/>
          </a:prstGeom>
          <a:solidFill>
            <a:srgbClr val="0F172A"/>
          </a:solidFill>
          <a:ln/>
        </p:spPr>
      </p:sp>
      <p:sp>
        <p:nvSpPr>
          <p:cNvPr id="10" name="Text 7"/>
          <p:cNvSpPr/>
          <p:nvPr/>
        </p:nvSpPr>
        <p:spPr>
          <a:xfrm>
            <a:off x="2766054" y="1658048"/>
            <a:ext cx="342900" cy="342900"/>
          </a:xfrm>
          <a:prstGeom prst="rect">
            <a:avLst/>
          </a:prstGeom>
          <a:noFill/>
          <a:ln/>
        </p:spPr>
        <p:txBody>
          <a:bodyPr wrap="none" lIns="0" tIns="0" rIns="0" bIns="0" rtlCol="0" anchor="ctr">
            <a:spAutoFit/>
          </a:bodyPr>
          <a:lstStyle/>
          <a:p>
            <a:pPr algn="ctr" indent="0" marL="0">
              <a:buNone/>
            </a:pPr>
            <a:r>
              <a:rPr lang="en-US" sz="1200" b="1" dirty="0">
                <a:solidFill>
                  <a:srgbClr val="F8FAFC"/>
                </a:solidFill>
                <a:latin typeface="Playfair Display ExtraBold" pitchFamily="34" charset="0"/>
                <a:ea typeface="Playfair Display ExtraBold" pitchFamily="34" charset="-122"/>
                <a:cs typeface="Playfair Display ExtraBold" pitchFamily="34" charset="-120"/>
              </a:rPr>
              <a:t>2</a:t>
            </a:r>
            <a:endParaRPr lang="en-US" sz="1200" dirty="0"/>
          </a:p>
        </p:txBody>
      </p:sp>
      <p:sp>
        <p:nvSpPr>
          <p:cNvPr id="11" name="Text 8"/>
          <p:cNvSpPr/>
          <p:nvPr/>
        </p:nvSpPr>
        <p:spPr>
          <a:xfrm>
            <a:off x="2541919" y="2143823"/>
            <a:ext cx="791170" cy="137517"/>
          </a:xfrm>
          <a:prstGeom prst="rect">
            <a:avLst/>
          </a:prstGeom>
          <a:noFill/>
          <a:ln/>
        </p:spPr>
        <p:txBody>
          <a:bodyPr wrap="none" lIns="0" tIns="0" rIns="0" bIns="0" rtlCol="0" anchor="t">
            <a:spAutoFit/>
          </a:bodyPr>
          <a:lstStyle/>
          <a:p>
            <a:pPr algn="ctr" indent="0" marL="0">
              <a:buNone/>
            </a:pPr>
            <a:r>
              <a:rPr lang="en-US" sz="800" b="1" spc="1" kern="0" dirty="0">
                <a:solidFill>
                  <a:srgbClr val="0F172A"/>
                </a:solidFill>
                <a:latin typeface="Inter Bold" pitchFamily="34" charset="0"/>
                <a:ea typeface="Inter Bold" pitchFamily="34" charset="-122"/>
                <a:cs typeface="Inter Bold" pitchFamily="34" charset="-120"/>
              </a:rPr>
              <a:t>HIL TESTING</a:t>
            </a:r>
            <a:endParaRPr lang="en-US" sz="800" dirty="0"/>
          </a:p>
        </p:txBody>
      </p:sp>
      <p:sp>
        <p:nvSpPr>
          <p:cNvPr id="12" name="Text 9"/>
          <p:cNvSpPr/>
          <p:nvPr/>
        </p:nvSpPr>
        <p:spPr>
          <a:xfrm>
            <a:off x="2205996" y="2367065"/>
            <a:ext cx="1463046" cy="450056"/>
          </a:xfrm>
          <a:prstGeom prst="rect">
            <a:avLst/>
          </a:prstGeom>
          <a:noFill/>
          <a:ln/>
        </p:spPr>
        <p:txBody>
          <a:bodyPr wrap="square" lIns="0" tIns="0" rIns="0" bIns="0" rtlCol="0" anchor="t">
            <a:spAutoFit/>
          </a:bodyPr>
          <a:lstStyle/>
          <a:p>
            <a:pPr algn="ctr" indent="0" marL="0">
              <a:lnSpc>
                <a:spcPct val="120000"/>
              </a:lnSpc>
              <a:buNone/>
            </a:pPr>
            <a:r>
              <a:rPr lang="en-US" sz="750" dirty="0">
                <a:solidFill>
                  <a:srgbClr val="334155"/>
                </a:solidFill>
                <a:latin typeface="Inter" pitchFamily="34" charset="0"/>
                <a:ea typeface="Inter" pitchFamily="34" charset="-122"/>
                <a:cs typeface="Inter" pitchFamily="34" charset="-120"/>
              </a:rPr>
              <a:t>Hardware-in-the-loop testing with the real flight controller to validate control loops.</a:t>
            </a:r>
            <a:endParaRPr lang="en-US" sz="750" dirty="0"/>
          </a:p>
        </p:txBody>
      </p:sp>
      <p:sp>
        <p:nvSpPr>
          <p:cNvPr id="13" name="Shape 10"/>
          <p:cNvSpPr/>
          <p:nvPr/>
        </p:nvSpPr>
        <p:spPr>
          <a:xfrm>
            <a:off x="4400550" y="1658048"/>
            <a:ext cx="342900" cy="342900"/>
          </a:xfrm>
          <a:prstGeom prst="ellipse">
            <a:avLst/>
          </a:prstGeom>
          <a:solidFill>
            <a:srgbClr val="0F172A"/>
          </a:solidFill>
          <a:ln/>
        </p:spPr>
      </p:sp>
      <p:sp>
        <p:nvSpPr>
          <p:cNvPr id="14" name="Text 11"/>
          <p:cNvSpPr/>
          <p:nvPr/>
        </p:nvSpPr>
        <p:spPr>
          <a:xfrm>
            <a:off x="4400550" y="1658048"/>
            <a:ext cx="342900" cy="342900"/>
          </a:xfrm>
          <a:prstGeom prst="rect">
            <a:avLst/>
          </a:prstGeom>
          <a:noFill/>
          <a:ln/>
        </p:spPr>
        <p:txBody>
          <a:bodyPr wrap="none" lIns="0" tIns="0" rIns="0" bIns="0" rtlCol="0" anchor="ctr">
            <a:spAutoFit/>
          </a:bodyPr>
          <a:lstStyle/>
          <a:p>
            <a:pPr algn="ctr" indent="0" marL="0">
              <a:buNone/>
            </a:pPr>
            <a:r>
              <a:rPr lang="en-US" sz="1200" b="1" dirty="0">
                <a:solidFill>
                  <a:srgbClr val="F8FAFC"/>
                </a:solidFill>
                <a:latin typeface="Playfair Display ExtraBold" pitchFamily="34" charset="0"/>
                <a:ea typeface="Playfair Display ExtraBold" pitchFamily="34" charset="-122"/>
                <a:cs typeface="Playfair Display ExtraBold" pitchFamily="34" charset="-120"/>
              </a:rPr>
              <a:t>3</a:t>
            </a:r>
            <a:endParaRPr lang="en-US" sz="1200" dirty="0"/>
          </a:p>
        </p:txBody>
      </p:sp>
      <p:sp>
        <p:nvSpPr>
          <p:cNvPr id="15" name="Text 12"/>
          <p:cNvSpPr/>
          <p:nvPr/>
        </p:nvSpPr>
        <p:spPr>
          <a:xfrm>
            <a:off x="3996035" y="2143823"/>
            <a:ext cx="1151930" cy="137517"/>
          </a:xfrm>
          <a:prstGeom prst="rect">
            <a:avLst/>
          </a:prstGeom>
          <a:noFill/>
          <a:ln/>
        </p:spPr>
        <p:txBody>
          <a:bodyPr wrap="none" lIns="0" tIns="0" rIns="0" bIns="0" rtlCol="0" anchor="t">
            <a:spAutoFit/>
          </a:bodyPr>
          <a:lstStyle/>
          <a:p>
            <a:pPr algn="ctr" indent="0" marL="0">
              <a:buNone/>
            </a:pPr>
            <a:r>
              <a:rPr lang="en-US" sz="800" b="1" spc="1" kern="0" dirty="0">
                <a:solidFill>
                  <a:srgbClr val="0F172A"/>
                </a:solidFill>
                <a:latin typeface="Inter Bold" pitchFamily="34" charset="0"/>
                <a:ea typeface="Inter Bold" pitchFamily="34" charset="-122"/>
                <a:cs typeface="Inter Bold" pitchFamily="34" charset="-120"/>
              </a:rPr>
              <a:t>TETHERED FLIGHT</a:t>
            </a:r>
            <a:endParaRPr lang="en-US" sz="800" dirty="0"/>
          </a:p>
        </p:txBody>
      </p:sp>
      <p:sp>
        <p:nvSpPr>
          <p:cNvPr id="16" name="Text 13"/>
          <p:cNvSpPr/>
          <p:nvPr/>
        </p:nvSpPr>
        <p:spPr>
          <a:xfrm>
            <a:off x="3840491" y="2367065"/>
            <a:ext cx="1463046" cy="600075"/>
          </a:xfrm>
          <a:prstGeom prst="rect">
            <a:avLst/>
          </a:prstGeom>
          <a:noFill/>
          <a:ln/>
        </p:spPr>
        <p:txBody>
          <a:bodyPr wrap="square" lIns="0" tIns="0" rIns="0" bIns="0" rtlCol="0" anchor="t">
            <a:spAutoFit/>
          </a:bodyPr>
          <a:lstStyle/>
          <a:p>
            <a:pPr algn="ctr" indent="0" marL="0">
              <a:lnSpc>
                <a:spcPct val="120000"/>
              </a:lnSpc>
              <a:buNone/>
            </a:pPr>
            <a:r>
              <a:rPr lang="en-US" sz="750" dirty="0">
                <a:solidFill>
                  <a:srgbClr val="334155"/>
                </a:solidFill>
                <a:latin typeface="Inter" pitchFamily="34" charset="0"/>
                <a:ea typeface="Inter" pitchFamily="34" charset="-122"/>
                <a:cs typeface="Inter" pitchFamily="34" charset="-120"/>
              </a:rPr>
              <a:t>Real drone flight with a physical safety tether to prevent uncontrolled movement.</a:t>
            </a:r>
            <a:endParaRPr lang="en-US" sz="750" dirty="0"/>
          </a:p>
        </p:txBody>
      </p:sp>
      <p:sp>
        <p:nvSpPr>
          <p:cNvPr id="17" name="Shape 14"/>
          <p:cNvSpPr/>
          <p:nvPr/>
        </p:nvSpPr>
        <p:spPr>
          <a:xfrm>
            <a:off x="6035046" y="1658048"/>
            <a:ext cx="342900" cy="342900"/>
          </a:xfrm>
          <a:prstGeom prst="ellipse">
            <a:avLst/>
          </a:prstGeom>
          <a:solidFill>
            <a:srgbClr val="0F172A"/>
          </a:solidFill>
          <a:ln/>
        </p:spPr>
      </p:sp>
      <p:sp>
        <p:nvSpPr>
          <p:cNvPr id="18" name="Text 15"/>
          <p:cNvSpPr/>
          <p:nvPr/>
        </p:nvSpPr>
        <p:spPr>
          <a:xfrm>
            <a:off x="6035046" y="1658048"/>
            <a:ext cx="342900" cy="342900"/>
          </a:xfrm>
          <a:prstGeom prst="rect">
            <a:avLst/>
          </a:prstGeom>
          <a:noFill/>
          <a:ln/>
        </p:spPr>
        <p:txBody>
          <a:bodyPr wrap="none" lIns="0" tIns="0" rIns="0" bIns="0" rtlCol="0" anchor="ctr">
            <a:spAutoFit/>
          </a:bodyPr>
          <a:lstStyle/>
          <a:p>
            <a:pPr algn="ctr" indent="0" marL="0">
              <a:buNone/>
            </a:pPr>
            <a:r>
              <a:rPr lang="en-US" sz="1200" b="1" dirty="0">
                <a:solidFill>
                  <a:srgbClr val="F8FAFC"/>
                </a:solidFill>
                <a:latin typeface="Playfair Display ExtraBold" pitchFamily="34" charset="0"/>
                <a:ea typeface="Playfair Display ExtraBold" pitchFamily="34" charset="-122"/>
                <a:cs typeface="Playfair Display ExtraBold" pitchFamily="34" charset="-120"/>
              </a:rPr>
              <a:t>4</a:t>
            </a:r>
            <a:endParaRPr lang="en-US" sz="1200" dirty="0"/>
          </a:p>
        </p:txBody>
      </p:sp>
      <p:sp>
        <p:nvSpPr>
          <p:cNvPr id="19" name="Text 16"/>
          <p:cNvSpPr/>
          <p:nvPr/>
        </p:nvSpPr>
        <p:spPr>
          <a:xfrm>
            <a:off x="5810910" y="2143823"/>
            <a:ext cx="791170" cy="137517"/>
          </a:xfrm>
          <a:prstGeom prst="rect">
            <a:avLst/>
          </a:prstGeom>
          <a:noFill/>
          <a:ln/>
        </p:spPr>
        <p:txBody>
          <a:bodyPr wrap="none" lIns="0" tIns="0" rIns="0" bIns="0" rtlCol="0" anchor="t">
            <a:spAutoFit/>
          </a:bodyPr>
          <a:lstStyle/>
          <a:p>
            <a:pPr algn="ctr" indent="0" marL="0">
              <a:buNone/>
            </a:pPr>
            <a:r>
              <a:rPr lang="en-US" sz="800" b="1" spc="1" kern="0" dirty="0">
                <a:solidFill>
                  <a:srgbClr val="0F172A"/>
                </a:solidFill>
                <a:latin typeface="Inter Bold" pitchFamily="34" charset="0"/>
                <a:ea typeface="Inter Bold" pitchFamily="34" charset="-122"/>
                <a:cs typeface="Inter Bold" pitchFamily="34" charset="-120"/>
              </a:rPr>
              <a:t>SUPERVISED</a:t>
            </a:r>
            <a:endParaRPr lang="en-US" sz="800" dirty="0"/>
          </a:p>
        </p:txBody>
      </p:sp>
      <p:sp>
        <p:nvSpPr>
          <p:cNvPr id="20" name="Text 17"/>
          <p:cNvSpPr/>
          <p:nvPr/>
        </p:nvSpPr>
        <p:spPr>
          <a:xfrm>
            <a:off x="5474987" y="2367065"/>
            <a:ext cx="1463046" cy="450056"/>
          </a:xfrm>
          <a:prstGeom prst="rect">
            <a:avLst/>
          </a:prstGeom>
          <a:noFill/>
          <a:ln/>
        </p:spPr>
        <p:txBody>
          <a:bodyPr wrap="square" lIns="0" tIns="0" rIns="0" bIns="0" rtlCol="0" anchor="t">
            <a:spAutoFit/>
          </a:bodyPr>
          <a:lstStyle/>
          <a:p>
            <a:pPr algn="ctr" indent="0" marL="0">
              <a:lnSpc>
                <a:spcPct val="120000"/>
              </a:lnSpc>
              <a:buNone/>
            </a:pPr>
            <a:r>
              <a:rPr lang="en-US" sz="750" dirty="0">
                <a:solidFill>
                  <a:srgbClr val="334155"/>
                </a:solidFill>
                <a:latin typeface="Inter" pitchFamily="34" charset="0"/>
                <a:ea typeface="Inter" pitchFamily="34" charset="-122"/>
                <a:cs typeface="Inter" pitchFamily="34" charset="-120"/>
              </a:rPr>
              <a:t>AI active with a human pilot ready to immediately override and take manual control.</a:t>
            </a:r>
            <a:endParaRPr lang="en-US" sz="750" dirty="0"/>
          </a:p>
        </p:txBody>
      </p:sp>
      <p:sp>
        <p:nvSpPr>
          <p:cNvPr id="21" name="Shape 18"/>
          <p:cNvSpPr/>
          <p:nvPr/>
        </p:nvSpPr>
        <p:spPr>
          <a:xfrm>
            <a:off x="7669541" y="1658048"/>
            <a:ext cx="342900" cy="342900"/>
          </a:xfrm>
          <a:prstGeom prst="ellipse">
            <a:avLst/>
          </a:prstGeom>
          <a:solidFill>
            <a:srgbClr val="991B1B"/>
          </a:solidFill>
          <a:ln/>
        </p:spPr>
      </p:sp>
      <p:sp>
        <p:nvSpPr>
          <p:cNvPr id="22" name="Text 19"/>
          <p:cNvSpPr/>
          <p:nvPr/>
        </p:nvSpPr>
        <p:spPr>
          <a:xfrm>
            <a:off x="7669541" y="1658048"/>
            <a:ext cx="342900" cy="342900"/>
          </a:xfrm>
          <a:prstGeom prst="rect">
            <a:avLst/>
          </a:prstGeom>
          <a:noFill/>
          <a:ln/>
        </p:spPr>
        <p:txBody>
          <a:bodyPr wrap="none" lIns="0" tIns="0" rIns="0" bIns="0" rtlCol="0" anchor="ctr">
            <a:spAutoFit/>
          </a:bodyPr>
          <a:lstStyle/>
          <a:p>
            <a:pPr algn="ctr" indent="0" marL="0">
              <a:buNone/>
            </a:pPr>
            <a:r>
              <a:rPr lang="en-US" sz="1200" b="1" dirty="0">
                <a:solidFill>
                  <a:srgbClr val="F8FAFC"/>
                </a:solidFill>
                <a:latin typeface="Playfair Display ExtraBold" pitchFamily="34" charset="0"/>
                <a:ea typeface="Playfair Display ExtraBold" pitchFamily="34" charset="-122"/>
                <a:cs typeface="Playfair Display ExtraBold" pitchFamily="34" charset="-120"/>
              </a:rPr>
              <a:t>5</a:t>
            </a:r>
            <a:endParaRPr lang="en-US" sz="1200" dirty="0"/>
          </a:p>
        </p:txBody>
      </p:sp>
      <p:sp>
        <p:nvSpPr>
          <p:cNvPr id="23" name="Text 20"/>
          <p:cNvSpPr/>
          <p:nvPr/>
        </p:nvSpPr>
        <p:spPr>
          <a:xfrm>
            <a:off x="7376647" y="2143823"/>
            <a:ext cx="928688" cy="137517"/>
          </a:xfrm>
          <a:prstGeom prst="rect">
            <a:avLst/>
          </a:prstGeom>
          <a:noFill/>
          <a:ln/>
        </p:spPr>
        <p:txBody>
          <a:bodyPr wrap="none" lIns="0" tIns="0" rIns="0" bIns="0" rtlCol="0" anchor="t">
            <a:spAutoFit/>
          </a:bodyPr>
          <a:lstStyle/>
          <a:p>
            <a:pPr algn="ctr" indent="0" marL="0">
              <a:buNone/>
            </a:pPr>
            <a:r>
              <a:rPr lang="en-US" sz="800" b="1" spc="1" kern="0" dirty="0">
                <a:solidFill>
                  <a:srgbClr val="0F172A"/>
                </a:solidFill>
                <a:latin typeface="Inter Bold" pitchFamily="34" charset="0"/>
                <a:ea typeface="Inter Bold" pitchFamily="34" charset="-122"/>
                <a:cs typeface="Inter Bold" pitchFamily="34" charset="-120"/>
              </a:rPr>
              <a:t>AUTONOMOUS</a:t>
            </a:r>
            <a:endParaRPr lang="en-US" sz="800" dirty="0"/>
          </a:p>
        </p:txBody>
      </p:sp>
      <p:sp>
        <p:nvSpPr>
          <p:cNvPr id="24" name="Text 21"/>
          <p:cNvSpPr/>
          <p:nvPr/>
        </p:nvSpPr>
        <p:spPr>
          <a:xfrm>
            <a:off x="7109482" y="2367065"/>
            <a:ext cx="1463046" cy="450056"/>
          </a:xfrm>
          <a:prstGeom prst="rect">
            <a:avLst/>
          </a:prstGeom>
          <a:noFill/>
          <a:ln/>
        </p:spPr>
        <p:txBody>
          <a:bodyPr wrap="square" lIns="0" tIns="0" rIns="0" bIns="0" rtlCol="0" anchor="t">
            <a:spAutoFit/>
          </a:bodyPr>
          <a:lstStyle/>
          <a:p>
            <a:pPr algn="ctr" indent="0" marL="0">
              <a:lnSpc>
                <a:spcPct val="120000"/>
              </a:lnSpc>
              <a:buNone/>
            </a:pPr>
            <a:r>
              <a:rPr lang="en-US" sz="750" dirty="0">
                <a:solidFill>
                  <a:srgbClr val="334155"/>
                </a:solidFill>
                <a:latin typeface="Inter" pitchFamily="34" charset="0"/>
                <a:ea typeface="Inter" pitchFamily="34" charset="-122"/>
                <a:cs typeface="Inter" pitchFamily="34" charset="-120"/>
              </a:rPr>
              <a:t>Full AI control within a strictly defined and validated safe operational envelope.</a:t>
            </a:r>
            <a:endParaRPr lang="en-US" sz="750" dirty="0"/>
          </a:p>
        </p:txBody>
      </p:sp>
      <p:sp>
        <p:nvSpPr>
          <p:cNvPr id="25" name="Shape 22"/>
          <p:cNvSpPr/>
          <p:nvPr/>
        </p:nvSpPr>
        <p:spPr>
          <a:xfrm>
            <a:off x="571500" y="3310040"/>
            <a:ext cx="8001000" cy="578644"/>
          </a:xfrm>
          <a:prstGeom prst="rect">
            <a:avLst/>
          </a:prstGeom>
          <a:solidFill>
            <a:srgbClr val="E2E8F0"/>
          </a:solidFill>
          <a:ln/>
        </p:spPr>
      </p:sp>
      <p:sp>
        <p:nvSpPr>
          <p:cNvPr id="26" name="Text 23"/>
          <p:cNvSpPr/>
          <p:nvPr/>
        </p:nvSpPr>
        <p:spPr>
          <a:xfrm>
            <a:off x="800100" y="3530603"/>
            <a:ext cx="1457325" cy="137517"/>
          </a:xfrm>
          <a:prstGeom prst="rect">
            <a:avLst/>
          </a:prstGeom>
          <a:noFill/>
          <a:ln/>
        </p:spPr>
        <p:txBody>
          <a:bodyPr wrap="square" lIns="0" tIns="0" rIns="0" bIns="0" rtlCol="0" anchor="t">
            <a:spAutoFit/>
          </a:bodyPr>
          <a:lstStyle/>
          <a:p>
            <a:pPr algn="l" indent="0" marL="0">
              <a:buNone/>
            </a:pPr>
            <a:r>
              <a:rPr lang="en-US" sz="800" b="1" spc="1" kern="0" dirty="0">
                <a:solidFill>
                  <a:srgbClr val="0F172A"/>
                </a:solidFill>
                <a:latin typeface="Inter Bold" pitchFamily="34" charset="0"/>
                <a:ea typeface="Inter Bold" pitchFamily="34" charset="-122"/>
                <a:cs typeface="Inter Bold" pitchFamily="34" charset="-120"/>
              </a:rPr>
              <a:t>RECOMMENDED TOOLS</a:t>
            </a:r>
            <a:endParaRPr lang="en-US" sz="800" dirty="0"/>
          </a:p>
        </p:txBody>
      </p:sp>
      <p:sp>
        <p:nvSpPr>
          <p:cNvPr id="27" name="Shape 24"/>
          <p:cNvSpPr/>
          <p:nvPr/>
        </p:nvSpPr>
        <p:spPr>
          <a:xfrm>
            <a:off x="2428875" y="3481490"/>
            <a:ext cx="950119" cy="235744"/>
          </a:xfrm>
          <a:prstGeom prst="rect">
            <a:avLst/>
          </a:prstGeom>
          <a:solidFill>
            <a:srgbClr val="F8FAFC"/>
          </a:solidFill>
          <a:ln/>
        </p:spPr>
      </p:sp>
      <p:sp>
        <p:nvSpPr>
          <p:cNvPr id="28" name="Shape 25"/>
          <p:cNvSpPr/>
          <p:nvPr/>
        </p:nvSpPr>
        <p:spPr>
          <a:xfrm>
            <a:off x="2428875" y="3481490"/>
            <a:ext cx="28575" cy="235744"/>
          </a:xfrm>
          <a:prstGeom prst="rect">
            <a:avLst/>
          </a:prstGeom>
          <a:solidFill>
            <a:srgbClr val="991B1B"/>
          </a:solidFill>
          <a:ln/>
        </p:spPr>
      </p:sp>
      <p:sp>
        <p:nvSpPr>
          <p:cNvPr id="29" name="Text 26"/>
          <p:cNvSpPr/>
          <p:nvPr/>
        </p:nvSpPr>
        <p:spPr>
          <a:xfrm>
            <a:off x="2428875" y="3481490"/>
            <a:ext cx="950119" cy="235744"/>
          </a:xfrm>
          <a:prstGeom prst="rect">
            <a:avLst/>
          </a:prstGeom>
          <a:noFill/>
          <a:ln/>
        </p:spPr>
        <p:txBody>
          <a:bodyPr wrap="none" lIns="136017" tIns="68072" rIns="136017" bIns="68072" rtlCol="0" anchor="t">
            <a:spAutoFit/>
          </a:bodyPr>
          <a:lstStyle/>
          <a:p>
            <a:pPr algn="l" indent="0" marL="0">
              <a:buNone/>
            </a:pPr>
            <a:r>
              <a:rPr lang="en-US" sz="700" b="1" dirty="0">
                <a:solidFill>
                  <a:srgbClr val="334155"/>
                </a:solidFill>
                <a:latin typeface="Inter SemiBold" pitchFamily="34" charset="0"/>
                <a:ea typeface="Inter SemiBold" pitchFamily="34" charset="-122"/>
                <a:cs typeface="Inter SemiBold" pitchFamily="34" charset="-120"/>
              </a:rPr>
              <a:t>ROS 2 Humble</a:t>
            </a:r>
            <a:endParaRPr lang="en-US" sz="700" dirty="0"/>
          </a:p>
        </p:txBody>
      </p:sp>
      <p:sp>
        <p:nvSpPr>
          <p:cNvPr id="30" name="Shape 27"/>
          <p:cNvSpPr/>
          <p:nvPr/>
        </p:nvSpPr>
        <p:spPr>
          <a:xfrm>
            <a:off x="3464719" y="3481490"/>
            <a:ext cx="939403" cy="235744"/>
          </a:xfrm>
          <a:prstGeom prst="rect">
            <a:avLst/>
          </a:prstGeom>
          <a:solidFill>
            <a:srgbClr val="F8FAFC"/>
          </a:solidFill>
          <a:ln/>
        </p:spPr>
      </p:sp>
      <p:sp>
        <p:nvSpPr>
          <p:cNvPr id="31" name="Shape 28"/>
          <p:cNvSpPr/>
          <p:nvPr/>
        </p:nvSpPr>
        <p:spPr>
          <a:xfrm>
            <a:off x="3464719" y="3481490"/>
            <a:ext cx="28575" cy="235744"/>
          </a:xfrm>
          <a:prstGeom prst="rect">
            <a:avLst/>
          </a:prstGeom>
          <a:solidFill>
            <a:srgbClr val="991B1B"/>
          </a:solidFill>
          <a:ln/>
        </p:spPr>
      </p:sp>
      <p:sp>
        <p:nvSpPr>
          <p:cNvPr id="32" name="Text 29"/>
          <p:cNvSpPr/>
          <p:nvPr/>
        </p:nvSpPr>
        <p:spPr>
          <a:xfrm>
            <a:off x="3464719" y="3481490"/>
            <a:ext cx="939403" cy="235744"/>
          </a:xfrm>
          <a:prstGeom prst="rect">
            <a:avLst/>
          </a:prstGeom>
          <a:noFill/>
          <a:ln/>
        </p:spPr>
        <p:txBody>
          <a:bodyPr wrap="none" lIns="136017" tIns="68072" rIns="136017" bIns="68072" rtlCol="0" anchor="t">
            <a:spAutoFit/>
          </a:bodyPr>
          <a:lstStyle/>
          <a:p>
            <a:pPr algn="l" indent="0" marL="0">
              <a:buNone/>
            </a:pPr>
            <a:r>
              <a:rPr lang="en-US" sz="700" b="1" dirty="0">
                <a:solidFill>
                  <a:srgbClr val="334155"/>
                </a:solidFill>
                <a:latin typeface="Inter SemiBold" pitchFamily="34" charset="0"/>
                <a:ea typeface="Inter SemiBold" pitchFamily="34" charset="-122"/>
                <a:cs typeface="Inter SemiBold" pitchFamily="34" charset="-120"/>
              </a:rPr>
              <a:t>PX4-Autopilot</a:t>
            </a:r>
            <a:endParaRPr lang="en-US" sz="700" dirty="0"/>
          </a:p>
        </p:txBody>
      </p:sp>
      <p:sp>
        <p:nvSpPr>
          <p:cNvPr id="33" name="Shape 30"/>
          <p:cNvSpPr/>
          <p:nvPr/>
        </p:nvSpPr>
        <p:spPr>
          <a:xfrm>
            <a:off x="4489847" y="3481490"/>
            <a:ext cx="846534" cy="235744"/>
          </a:xfrm>
          <a:prstGeom prst="rect">
            <a:avLst/>
          </a:prstGeom>
          <a:solidFill>
            <a:srgbClr val="F8FAFC"/>
          </a:solidFill>
          <a:ln/>
        </p:spPr>
      </p:sp>
      <p:sp>
        <p:nvSpPr>
          <p:cNvPr id="34" name="Shape 31"/>
          <p:cNvSpPr/>
          <p:nvPr/>
        </p:nvSpPr>
        <p:spPr>
          <a:xfrm>
            <a:off x="4489847" y="3481490"/>
            <a:ext cx="28575" cy="235744"/>
          </a:xfrm>
          <a:prstGeom prst="rect">
            <a:avLst/>
          </a:prstGeom>
          <a:solidFill>
            <a:srgbClr val="991B1B"/>
          </a:solidFill>
          <a:ln/>
        </p:spPr>
      </p:sp>
      <p:sp>
        <p:nvSpPr>
          <p:cNvPr id="35" name="Text 32"/>
          <p:cNvSpPr/>
          <p:nvPr/>
        </p:nvSpPr>
        <p:spPr>
          <a:xfrm>
            <a:off x="4489847" y="3481490"/>
            <a:ext cx="846534" cy="235744"/>
          </a:xfrm>
          <a:prstGeom prst="rect">
            <a:avLst/>
          </a:prstGeom>
          <a:noFill/>
          <a:ln/>
        </p:spPr>
        <p:txBody>
          <a:bodyPr wrap="none" lIns="136017" tIns="68072" rIns="136017" bIns="68072" rtlCol="0" anchor="t">
            <a:spAutoFit/>
          </a:bodyPr>
          <a:lstStyle/>
          <a:p>
            <a:pPr algn="l" indent="0" marL="0">
              <a:buNone/>
            </a:pPr>
            <a:r>
              <a:rPr lang="en-US" sz="700" b="1" dirty="0">
                <a:solidFill>
                  <a:srgbClr val="334155"/>
                </a:solidFill>
                <a:latin typeface="Inter SemiBold" pitchFamily="34" charset="0"/>
                <a:ea typeface="Inter SemiBold" pitchFamily="34" charset="-122"/>
                <a:cs typeface="Inter SemiBold" pitchFamily="34" charset="-120"/>
              </a:rPr>
              <a:t>Gazebo / Gz</a:t>
            </a:r>
            <a:endParaRPr lang="en-US" sz="700" dirty="0"/>
          </a:p>
        </p:txBody>
      </p:sp>
      <p:sp>
        <p:nvSpPr>
          <p:cNvPr id="36" name="Shape 33"/>
          <p:cNvSpPr/>
          <p:nvPr/>
        </p:nvSpPr>
        <p:spPr>
          <a:xfrm>
            <a:off x="5422106" y="3481490"/>
            <a:ext cx="1157288" cy="235744"/>
          </a:xfrm>
          <a:prstGeom prst="rect">
            <a:avLst/>
          </a:prstGeom>
          <a:solidFill>
            <a:srgbClr val="F8FAFC"/>
          </a:solidFill>
          <a:ln/>
        </p:spPr>
      </p:sp>
      <p:sp>
        <p:nvSpPr>
          <p:cNvPr id="37" name="Shape 34"/>
          <p:cNvSpPr/>
          <p:nvPr/>
        </p:nvSpPr>
        <p:spPr>
          <a:xfrm>
            <a:off x="5422106" y="3481490"/>
            <a:ext cx="28575" cy="235744"/>
          </a:xfrm>
          <a:prstGeom prst="rect">
            <a:avLst/>
          </a:prstGeom>
          <a:solidFill>
            <a:srgbClr val="991B1B"/>
          </a:solidFill>
          <a:ln/>
        </p:spPr>
      </p:sp>
      <p:sp>
        <p:nvSpPr>
          <p:cNvPr id="38" name="Text 35"/>
          <p:cNvSpPr/>
          <p:nvPr/>
        </p:nvSpPr>
        <p:spPr>
          <a:xfrm>
            <a:off x="5422106" y="3481490"/>
            <a:ext cx="1157288" cy="235744"/>
          </a:xfrm>
          <a:prstGeom prst="rect">
            <a:avLst/>
          </a:prstGeom>
          <a:noFill/>
          <a:ln/>
        </p:spPr>
        <p:txBody>
          <a:bodyPr wrap="none" lIns="136017" tIns="68072" rIns="136017" bIns="68072" rtlCol="0" anchor="t">
            <a:spAutoFit/>
          </a:bodyPr>
          <a:lstStyle/>
          <a:p>
            <a:pPr algn="l" indent="0" marL="0">
              <a:buNone/>
            </a:pPr>
            <a:r>
              <a:rPr lang="en-US" sz="700" b="1" dirty="0">
                <a:solidFill>
                  <a:srgbClr val="334155"/>
                </a:solidFill>
                <a:latin typeface="Inter SemiBold" pitchFamily="34" charset="0"/>
                <a:ea typeface="Inter SemiBold" pitchFamily="34" charset="-122"/>
                <a:cs typeface="Inter SemiBold" pitchFamily="34" charset="-120"/>
              </a:rPr>
              <a:t>uXRCE-DDS Agent</a:t>
            </a:r>
            <a:endParaRPr lang="en-US" sz="700" dirty="0"/>
          </a:p>
        </p:txBody>
      </p:sp>
      <p:sp>
        <p:nvSpPr>
          <p:cNvPr id="39" name="Shape 36"/>
          <p:cNvSpPr/>
          <p:nvPr/>
        </p:nvSpPr>
        <p:spPr>
          <a:xfrm>
            <a:off x="6665119" y="3481490"/>
            <a:ext cx="473273" cy="235744"/>
          </a:xfrm>
          <a:prstGeom prst="rect">
            <a:avLst/>
          </a:prstGeom>
          <a:solidFill>
            <a:srgbClr val="F8FAFC"/>
          </a:solidFill>
          <a:ln/>
        </p:spPr>
      </p:sp>
      <p:sp>
        <p:nvSpPr>
          <p:cNvPr id="40" name="Shape 37"/>
          <p:cNvSpPr/>
          <p:nvPr/>
        </p:nvSpPr>
        <p:spPr>
          <a:xfrm>
            <a:off x="6665119" y="3481490"/>
            <a:ext cx="28575" cy="235744"/>
          </a:xfrm>
          <a:prstGeom prst="rect">
            <a:avLst/>
          </a:prstGeom>
          <a:solidFill>
            <a:srgbClr val="991B1B"/>
          </a:solidFill>
          <a:ln/>
        </p:spPr>
      </p:sp>
      <p:sp>
        <p:nvSpPr>
          <p:cNvPr id="41" name="Text 38"/>
          <p:cNvSpPr/>
          <p:nvPr/>
        </p:nvSpPr>
        <p:spPr>
          <a:xfrm>
            <a:off x="6665119" y="3481490"/>
            <a:ext cx="473273" cy="235744"/>
          </a:xfrm>
          <a:prstGeom prst="rect">
            <a:avLst/>
          </a:prstGeom>
          <a:noFill/>
          <a:ln/>
        </p:spPr>
        <p:txBody>
          <a:bodyPr wrap="none" lIns="136017" tIns="68072" rIns="136017" bIns="68072" rtlCol="0" anchor="t">
            <a:spAutoFit/>
          </a:bodyPr>
          <a:lstStyle/>
          <a:p>
            <a:pPr algn="l" indent="0" marL="0">
              <a:buNone/>
            </a:pPr>
            <a:r>
              <a:rPr lang="en-US" sz="700" b="1" dirty="0">
                <a:solidFill>
                  <a:srgbClr val="334155"/>
                </a:solidFill>
                <a:latin typeface="Inter SemiBold" pitchFamily="34" charset="0"/>
                <a:ea typeface="Inter SemiBold" pitchFamily="34" charset="-122"/>
                <a:cs typeface="Inter SemiBold" pitchFamily="34" charset="-120"/>
              </a:rPr>
              <a:t>SITL</a:t>
            </a:r>
            <a:endParaRPr lang="en-US" sz="7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571500" y="342900"/>
            <a:ext cx="8001000" cy="360759"/>
          </a:xfrm>
          <a:prstGeom prst="rect">
            <a:avLst/>
          </a:prstGeom>
          <a:noFill/>
          <a:ln/>
        </p:spPr>
        <p:txBody>
          <a:bodyPr wrap="square" lIns="0" tIns="0" rIns="0" bIns="0" rtlCol="0" anchor="t">
            <a:spAutoFit/>
          </a:bodyPr>
          <a:lstStyle/>
          <a:p>
            <a:pPr algn="l" indent="0" marL="0">
              <a:buNone/>
            </a:pPr>
            <a:r>
              <a:rPr lang="en-US" sz="1900" b="1" dirty="0">
                <a:solidFill>
                  <a:srgbClr val="0F172A"/>
                </a:solidFill>
                <a:latin typeface="Playfair Display ExtraBold" pitchFamily="34" charset="0"/>
                <a:ea typeface="Playfair Display ExtraBold" pitchFamily="34" charset="-122"/>
                <a:cs typeface="Playfair Display ExtraBold" pitchFamily="34" charset="-120"/>
              </a:rPr>
              <a:t>Recommended Hardware Architecture</a:t>
            </a:r>
            <a:endParaRPr lang="en-US" sz="1900" dirty="0"/>
          </a:p>
        </p:txBody>
      </p:sp>
      <p:sp>
        <p:nvSpPr>
          <p:cNvPr id="4" name="Text 1"/>
          <p:cNvSpPr/>
          <p:nvPr/>
        </p:nvSpPr>
        <p:spPr>
          <a:xfrm>
            <a:off x="571500" y="1103709"/>
            <a:ext cx="2680329" cy="731453"/>
          </a:xfrm>
          <a:prstGeom prst="rect">
            <a:avLst/>
          </a:prstGeom>
          <a:noFill/>
          <a:ln/>
        </p:spPr>
        <p:txBody>
          <a:bodyPr wrap="square" lIns="0" tIns="0" rIns="0" bIns="0" rtlCol="0" anchor="t">
            <a:spAutoFit/>
          </a:bodyPr>
          <a:lstStyle/>
          <a:p>
            <a:pPr algn="l" indent="0" marL="0">
              <a:lnSpc>
                <a:spcPct val="128000"/>
              </a:lnSpc>
              <a:buNone/>
            </a:pPr>
            <a:r>
              <a:rPr lang="en-US" sz="850" dirty="0">
                <a:solidFill>
                  <a:srgbClr val="334155"/>
                </a:solidFill>
                <a:latin typeface="Inter" pitchFamily="34" charset="0"/>
                <a:ea typeface="Inter" pitchFamily="34" charset="-122"/>
                <a:cs typeface="Inter" pitchFamily="34" charset="-120"/>
              </a:rPr>
              <a:t>The recommended hardware setup consists of three key components working in tandem to bridge AI reasoning with deterministic flight control.</a:t>
            </a:r>
            <a:endParaRPr lang="en-US" sz="850" dirty="0"/>
          </a:p>
        </p:txBody>
      </p:sp>
      <p:sp>
        <p:nvSpPr>
          <p:cNvPr id="5" name="Shape 2"/>
          <p:cNvSpPr/>
          <p:nvPr/>
        </p:nvSpPr>
        <p:spPr>
          <a:xfrm>
            <a:off x="571500" y="2063762"/>
            <a:ext cx="2680329" cy="1858156"/>
          </a:xfrm>
          <a:prstGeom prst="rect">
            <a:avLst/>
          </a:prstGeom>
          <a:solidFill>
            <a:srgbClr val="0F172A"/>
          </a:solidFill>
          <a:ln/>
        </p:spPr>
      </p:sp>
      <p:sp>
        <p:nvSpPr>
          <p:cNvPr id="6" name="Shape 3"/>
          <p:cNvSpPr/>
          <p:nvPr/>
        </p:nvSpPr>
        <p:spPr>
          <a:xfrm>
            <a:off x="571500" y="2063762"/>
            <a:ext cx="2680329" cy="28575"/>
          </a:xfrm>
          <a:prstGeom prst="rect">
            <a:avLst/>
          </a:prstGeom>
          <a:solidFill>
            <a:srgbClr val="991B1B"/>
          </a:solidFill>
          <a:ln/>
        </p:spPr>
      </p:sp>
      <p:sp>
        <p:nvSpPr>
          <p:cNvPr id="7" name="Text 4"/>
          <p:cNvSpPr/>
          <p:nvPr/>
        </p:nvSpPr>
        <p:spPr>
          <a:xfrm>
            <a:off x="742950" y="2235212"/>
            <a:ext cx="2337429" cy="155377"/>
          </a:xfrm>
          <a:prstGeom prst="rect">
            <a:avLst/>
          </a:prstGeom>
          <a:noFill/>
          <a:ln/>
        </p:spPr>
        <p:txBody>
          <a:bodyPr wrap="square" lIns="0" tIns="0" rIns="0" bIns="0" rtlCol="0" anchor="t">
            <a:spAutoFit/>
          </a:bodyPr>
          <a:lstStyle/>
          <a:p>
            <a:pPr algn="l" indent="0" marL="0">
              <a:buNone/>
            </a:pPr>
            <a:r>
              <a:rPr lang="en-US" sz="900" b="1" spc="1" kern="0" dirty="0">
                <a:solidFill>
                  <a:srgbClr val="F8FAFC"/>
                </a:solidFill>
                <a:latin typeface="Inter Bold" pitchFamily="34" charset="0"/>
                <a:ea typeface="Inter Bold" pitchFamily="34" charset="-122"/>
                <a:cs typeface="Inter Bold" pitchFamily="34" charset="-120"/>
              </a:rPr>
              <a:t>COMMUNICATION LINK</a:t>
            </a:r>
            <a:endParaRPr lang="en-US" sz="900" dirty="0"/>
          </a:p>
        </p:txBody>
      </p:sp>
      <p:sp>
        <p:nvSpPr>
          <p:cNvPr id="8" name="Text 5"/>
          <p:cNvSpPr/>
          <p:nvPr/>
        </p:nvSpPr>
        <p:spPr>
          <a:xfrm>
            <a:off x="742950" y="2476314"/>
            <a:ext cx="2337429" cy="320018"/>
          </a:xfrm>
          <a:prstGeom prst="rect">
            <a:avLst/>
          </a:prstGeom>
          <a:noFill/>
          <a:ln/>
        </p:spPr>
        <p:txBody>
          <a:bodyPr wrap="square" lIns="0" tIns="0" rIns="0" bIns="0" rtlCol="0" anchor="t">
            <a:spAutoFit/>
          </a:bodyPr>
          <a:lstStyle/>
          <a:p>
            <a:pPr algn="l" indent="0" marL="0">
              <a:lnSpc>
                <a:spcPct val="128000"/>
              </a:lnSpc>
              <a:buNone/>
            </a:pPr>
            <a:r>
              <a:rPr lang="en-US" sz="750" dirty="0">
                <a:solidFill>
                  <a:srgbClr val="CBD5E1"/>
                </a:solidFill>
                <a:latin typeface="Inter" pitchFamily="34" charset="0"/>
                <a:ea typeface="Inter" pitchFamily="34" charset="-122"/>
                <a:cs typeface="Inter" pitchFamily="34" charset="-120"/>
              </a:rPr>
              <a:t>The critical bridge between the companion computer and the flight controller.</a:t>
            </a:r>
            <a:endParaRPr lang="en-US" sz="750" dirty="0"/>
          </a:p>
        </p:txBody>
      </p:sp>
      <p:sp>
        <p:nvSpPr>
          <p:cNvPr id="9" name="Shape 6"/>
          <p:cNvSpPr/>
          <p:nvPr/>
        </p:nvSpPr>
        <p:spPr>
          <a:xfrm>
            <a:off x="742950" y="2910632"/>
            <a:ext cx="2337429" cy="282178"/>
          </a:xfrm>
          <a:prstGeom prst="rect">
            <a:avLst/>
          </a:prstGeom>
          <a:solidFill>
            <a:srgbClr val="991B1B">
              <a:alpha val="10000"/>
            </a:srgbClr>
          </a:solidFill>
          <a:ln/>
        </p:spPr>
      </p:sp>
      <p:sp>
        <p:nvSpPr>
          <p:cNvPr id="10" name="Text 7"/>
          <p:cNvSpPr/>
          <p:nvPr/>
        </p:nvSpPr>
        <p:spPr>
          <a:xfrm>
            <a:off x="742950" y="2910632"/>
            <a:ext cx="2337429" cy="282178"/>
          </a:xfrm>
          <a:prstGeom prst="rect">
            <a:avLst/>
          </a:prstGeom>
          <a:noFill/>
          <a:ln/>
        </p:spPr>
        <p:txBody>
          <a:bodyPr wrap="square" lIns="68072" tIns="34036" rIns="68072" bIns="34036" rtlCol="0" anchor="t">
            <a:spAutoFit/>
          </a:bodyPr>
          <a:lstStyle/>
          <a:p>
            <a:pPr algn="l" indent="0" marL="0">
              <a:buNone/>
            </a:pPr>
            <a:r>
              <a:rPr lang="en-US" sz="650" b="1" dirty="0">
                <a:solidFill>
                  <a:srgbClr val="991B1B"/>
                </a:solidFill>
                <a:latin typeface="Inter SemiBold" pitchFamily="34" charset="0"/>
                <a:ea typeface="Inter SemiBold" pitchFamily="34" charset="-122"/>
                <a:cs typeface="Inter SemiBold" pitchFamily="34" charset="-120"/>
              </a:rPr>
              <a:t>uXRCE-DDS bridge via USB/UART/Serial connection</a:t>
            </a:r>
            <a:endParaRPr lang="en-US" sz="650" dirty="0"/>
          </a:p>
        </p:txBody>
      </p:sp>
      <p:sp>
        <p:nvSpPr>
          <p:cNvPr id="11" name="Shape 8"/>
          <p:cNvSpPr/>
          <p:nvPr/>
        </p:nvSpPr>
        <p:spPr>
          <a:xfrm>
            <a:off x="3594729" y="1103709"/>
            <a:ext cx="4977771" cy="1294805"/>
          </a:xfrm>
          <a:prstGeom prst="rect">
            <a:avLst/>
          </a:prstGeom>
          <a:solidFill>
            <a:srgbClr val="FFFFFF"/>
          </a:solidFill>
          <a:ln/>
        </p:spPr>
      </p:sp>
      <p:sp>
        <p:nvSpPr>
          <p:cNvPr id="12" name="Shape 9"/>
          <p:cNvSpPr/>
          <p:nvPr/>
        </p:nvSpPr>
        <p:spPr>
          <a:xfrm>
            <a:off x="3594729" y="1103709"/>
            <a:ext cx="28575" cy="1294805"/>
          </a:xfrm>
          <a:prstGeom prst="rect">
            <a:avLst/>
          </a:prstGeom>
          <a:solidFill>
            <a:srgbClr val="0F172A"/>
          </a:solidFill>
          <a:ln/>
        </p:spPr>
      </p:sp>
      <p:sp>
        <p:nvSpPr>
          <p:cNvPr id="13" name="Shape 10"/>
          <p:cNvSpPr/>
          <p:nvPr/>
        </p:nvSpPr>
        <p:spPr>
          <a:xfrm>
            <a:off x="3766179" y="1275159"/>
            <a:ext cx="228600" cy="228600"/>
          </a:xfrm>
          <a:prstGeom prst="ellipse">
            <a:avLst/>
          </a:prstGeom>
          <a:solidFill>
            <a:srgbClr val="991B1B"/>
          </a:solidFill>
          <a:ln/>
        </p:spPr>
      </p:sp>
      <p:sp>
        <p:nvSpPr>
          <p:cNvPr id="14" name="Text 11"/>
          <p:cNvSpPr/>
          <p:nvPr/>
        </p:nvSpPr>
        <p:spPr>
          <a:xfrm>
            <a:off x="3766179" y="1275159"/>
            <a:ext cx="228600" cy="228600"/>
          </a:xfrm>
          <a:prstGeom prst="rect">
            <a:avLst/>
          </a:prstGeom>
          <a:noFill/>
          <a:ln/>
        </p:spPr>
        <p:txBody>
          <a:bodyPr wrap="none" lIns="0" tIns="0" rIns="0" bIns="0" rtlCol="0" anchor="ctr">
            <a:spAutoFit/>
          </a:bodyPr>
          <a:lstStyle/>
          <a:p>
            <a:pPr algn="ctr" indent="0" marL="0">
              <a:buNone/>
            </a:pPr>
            <a:r>
              <a:rPr lang="en-US" sz="800" b="1" dirty="0">
                <a:solidFill>
                  <a:srgbClr val="FFFFFF"/>
                </a:solidFill>
                <a:latin typeface="Inter Bold" pitchFamily="34" charset="0"/>
                <a:ea typeface="Inter Bold" pitchFamily="34" charset="-122"/>
                <a:cs typeface="Inter Bold" pitchFamily="34" charset="-120"/>
              </a:rPr>
              <a:t>1</a:t>
            </a:r>
            <a:endParaRPr lang="en-US" sz="800" dirty="0"/>
          </a:p>
        </p:txBody>
      </p:sp>
      <p:sp>
        <p:nvSpPr>
          <p:cNvPr id="15" name="Text 12"/>
          <p:cNvSpPr/>
          <p:nvPr/>
        </p:nvSpPr>
        <p:spPr>
          <a:xfrm>
            <a:off x="4166229" y="1275159"/>
            <a:ext cx="4234821" cy="173236"/>
          </a:xfrm>
          <a:prstGeom prst="rect">
            <a:avLst/>
          </a:prstGeom>
          <a:noFill/>
          <a:ln/>
        </p:spPr>
        <p:txBody>
          <a:bodyPr wrap="square" lIns="0" tIns="0" rIns="0" bIns="0" rtlCol="0" anchor="t">
            <a:spAutoFit/>
          </a:bodyPr>
          <a:lstStyle/>
          <a:p>
            <a:pPr algn="l" indent="0" marL="0">
              <a:buNone/>
            </a:pPr>
            <a:r>
              <a:rPr lang="en-US" sz="1000" b="1" dirty="0">
                <a:solidFill>
                  <a:srgbClr val="0F172A"/>
                </a:solidFill>
                <a:latin typeface="Inter Bold" pitchFamily="34" charset="0"/>
                <a:ea typeface="Inter Bold" pitchFamily="34" charset="-122"/>
                <a:cs typeface="Inter Bold" pitchFamily="34" charset="-120"/>
              </a:rPr>
              <a:t>Flight Controller</a:t>
            </a:r>
            <a:endParaRPr lang="en-US" sz="1000" dirty="0"/>
          </a:p>
        </p:txBody>
      </p:sp>
      <p:sp>
        <p:nvSpPr>
          <p:cNvPr id="16" name="Text 13"/>
          <p:cNvSpPr/>
          <p:nvPr/>
        </p:nvSpPr>
        <p:spPr>
          <a:xfrm>
            <a:off x="4166229" y="1505545"/>
            <a:ext cx="4234821" cy="121444"/>
          </a:xfrm>
          <a:prstGeom prst="rect">
            <a:avLst/>
          </a:prstGeom>
          <a:noFill/>
          <a:ln/>
        </p:spPr>
        <p:txBody>
          <a:bodyPr wrap="square" lIns="0" tIns="0" rIns="0" bIns="0" rtlCol="0" anchor="t">
            <a:spAutoFit/>
          </a:bodyPr>
          <a:lstStyle/>
          <a:p>
            <a:pPr algn="l" indent="0" marL="0">
              <a:buNone/>
            </a:pPr>
            <a:r>
              <a:rPr lang="en-US" sz="700" b="1" spc="1" kern="0" dirty="0">
                <a:solidFill>
                  <a:srgbClr val="991B1B"/>
                </a:solidFill>
                <a:latin typeface="Inter SemiBold" pitchFamily="34" charset="0"/>
                <a:ea typeface="Inter SemiBold" pitchFamily="34" charset="-122"/>
                <a:cs typeface="Inter SemiBold" pitchFamily="34" charset="-120"/>
              </a:rPr>
              <a:t>EXECUTION LAYER</a:t>
            </a:r>
            <a:endParaRPr lang="en-US" sz="700" dirty="0"/>
          </a:p>
        </p:txBody>
      </p:sp>
      <p:sp>
        <p:nvSpPr>
          <p:cNvPr id="17" name="Text 14"/>
          <p:cNvSpPr/>
          <p:nvPr/>
        </p:nvSpPr>
        <p:spPr>
          <a:xfrm>
            <a:off x="4166229" y="1712714"/>
            <a:ext cx="4234821" cy="514350"/>
          </a:xfrm>
          <a:prstGeom prst="rect">
            <a:avLst/>
          </a:prstGeom>
          <a:noFill/>
          <a:ln/>
        </p:spPr>
        <p:txBody>
          <a:bodyPr wrap="square" lIns="0" tIns="0" rIns="0" bIns="0" rtlCol="0" anchor="t">
            <a:spAutoFit/>
          </a:bodyPr>
          <a:lstStyle/>
          <a:p>
            <a:pPr algn="l" indent="0" marL="0">
              <a:lnSpc>
                <a:spcPct val="128000"/>
              </a:lnSpc>
              <a:buNone/>
            </a:pPr>
            <a:r>
              <a:rPr lang="en-US" sz="750" b="1" dirty="0">
                <a:solidFill>
                  <a:srgbClr val="0F172A"/>
                </a:solidFill>
                <a:latin typeface="Inter Bold" pitchFamily="34" charset="0"/>
                <a:ea typeface="Inter Bold" pitchFamily="34" charset="-122"/>
                <a:cs typeface="Inter Bold" pitchFamily="34" charset="-120"/>
              </a:rPr>
              <a:t>Hardware:</a:t>
            </a:r>
            <a:r>
              <a:rPr lang="en-US" sz="800" dirty="0">
                <a:solidFill>
                  <a:srgbClr val="334155"/>
                </a:solidFill>
                <a:latin typeface="Inter" pitchFamily="34" charset="0"/>
                <a:ea typeface="Inter" pitchFamily="34" charset="-122"/>
                <a:cs typeface="Inter" pitchFamily="34" charset="-120"/>
              </a:rPr>
              <a:t> Pixhawk, Holybro, CUAV</a:t>
            </a:r>
            <a:r>
              <a:rPr lang="en-US" sz="800" dirty="0">
                <a:solidFill>
                  <a:srgbClr val="334155"/>
                </a:solidFill>
                <a:latin typeface="Inter" pitchFamily="34" charset="0"/>
                <a:ea typeface="Inter" pitchFamily="34" charset="-122"/>
                <a:cs typeface="Inter" pitchFamily="34" charset="-120"/>
              </a:rPr>
              <a:t>
</a:t>
            </a:r>
            <a:r>
              <a:rPr lang="en-US" sz="750" b="1" dirty="0">
                <a:solidFill>
                  <a:srgbClr val="0F172A"/>
                </a:solidFill>
                <a:latin typeface="Inter Bold" pitchFamily="34" charset="0"/>
                <a:ea typeface="Inter Bold" pitchFamily="34" charset="-122"/>
                <a:cs typeface="Inter Bold" pitchFamily="34" charset="-120"/>
              </a:rPr>
              <a:t>Purpose:</a:t>
            </a:r>
            <a:r>
              <a:rPr lang="en-US" sz="800" dirty="0">
                <a:solidFill>
                  <a:srgbClr val="334155"/>
                </a:solidFill>
                <a:latin typeface="Inter" pitchFamily="34" charset="0"/>
                <a:ea typeface="Inter" pitchFamily="34" charset="-122"/>
                <a:cs typeface="Inter" pitchFamily="34" charset="-120"/>
              </a:rPr>
              <a:t> Runs the PX4 real-time stack, handling low-level stabilization, sensor </a:t>
            </a:r>
            <a:r>
              <a:rPr lang="en-US" sz="800" dirty="0">
                <a:solidFill>
                  <a:srgbClr val="334155"/>
                </a:solidFill>
                <a:latin typeface="Inter" pitchFamily="34" charset="0"/>
                <a:ea typeface="Inter" pitchFamily="34" charset="-122"/>
                <a:cs typeface="Inter" pitchFamily="34" charset="-120"/>
              </a:rPr>
              <a:t>fusion, and safety failsafes.</a:t>
            </a:r>
            <a:endParaRPr lang="en-US" sz="800" dirty="0"/>
          </a:p>
        </p:txBody>
      </p:sp>
      <p:sp>
        <p:nvSpPr>
          <p:cNvPr id="18" name="Shape 15"/>
          <p:cNvSpPr/>
          <p:nvPr/>
        </p:nvSpPr>
        <p:spPr>
          <a:xfrm>
            <a:off x="3594729" y="2627114"/>
            <a:ext cx="4977771" cy="1294805"/>
          </a:xfrm>
          <a:prstGeom prst="rect">
            <a:avLst/>
          </a:prstGeom>
          <a:solidFill>
            <a:srgbClr val="FFFFFF"/>
          </a:solidFill>
          <a:ln/>
        </p:spPr>
      </p:sp>
      <p:sp>
        <p:nvSpPr>
          <p:cNvPr id="19" name="Shape 16"/>
          <p:cNvSpPr/>
          <p:nvPr/>
        </p:nvSpPr>
        <p:spPr>
          <a:xfrm>
            <a:off x="3594729" y="2627114"/>
            <a:ext cx="28575" cy="1294805"/>
          </a:xfrm>
          <a:prstGeom prst="rect">
            <a:avLst/>
          </a:prstGeom>
          <a:solidFill>
            <a:srgbClr val="0F172A"/>
          </a:solidFill>
          <a:ln/>
        </p:spPr>
      </p:sp>
      <p:sp>
        <p:nvSpPr>
          <p:cNvPr id="20" name="Shape 17"/>
          <p:cNvSpPr/>
          <p:nvPr/>
        </p:nvSpPr>
        <p:spPr>
          <a:xfrm>
            <a:off x="3766179" y="2798564"/>
            <a:ext cx="228600" cy="228600"/>
          </a:xfrm>
          <a:prstGeom prst="ellipse">
            <a:avLst/>
          </a:prstGeom>
          <a:solidFill>
            <a:srgbClr val="991B1B"/>
          </a:solidFill>
          <a:ln/>
        </p:spPr>
      </p:sp>
      <p:sp>
        <p:nvSpPr>
          <p:cNvPr id="21" name="Text 18"/>
          <p:cNvSpPr/>
          <p:nvPr/>
        </p:nvSpPr>
        <p:spPr>
          <a:xfrm>
            <a:off x="3766179" y="2798564"/>
            <a:ext cx="228600" cy="228600"/>
          </a:xfrm>
          <a:prstGeom prst="rect">
            <a:avLst/>
          </a:prstGeom>
          <a:noFill/>
          <a:ln/>
        </p:spPr>
        <p:txBody>
          <a:bodyPr wrap="none" lIns="0" tIns="0" rIns="0" bIns="0" rtlCol="0" anchor="ctr">
            <a:spAutoFit/>
          </a:bodyPr>
          <a:lstStyle/>
          <a:p>
            <a:pPr algn="ctr" indent="0" marL="0">
              <a:buNone/>
            </a:pPr>
            <a:r>
              <a:rPr lang="en-US" sz="800" b="1" dirty="0">
                <a:solidFill>
                  <a:srgbClr val="FFFFFF"/>
                </a:solidFill>
                <a:latin typeface="Inter Bold" pitchFamily="34" charset="0"/>
                <a:ea typeface="Inter Bold" pitchFamily="34" charset="-122"/>
                <a:cs typeface="Inter Bold" pitchFamily="34" charset="-120"/>
              </a:rPr>
              <a:t>2</a:t>
            </a:r>
            <a:endParaRPr lang="en-US" sz="800" dirty="0"/>
          </a:p>
        </p:txBody>
      </p:sp>
      <p:sp>
        <p:nvSpPr>
          <p:cNvPr id="22" name="Text 19"/>
          <p:cNvSpPr/>
          <p:nvPr/>
        </p:nvSpPr>
        <p:spPr>
          <a:xfrm>
            <a:off x="4166229" y="2798564"/>
            <a:ext cx="4234821" cy="173236"/>
          </a:xfrm>
          <a:prstGeom prst="rect">
            <a:avLst/>
          </a:prstGeom>
          <a:noFill/>
          <a:ln/>
        </p:spPr>
        <p:txBody>
          <a:bodyPr wrap="square" lIns="0" tIns="0" rIns="0" bIns="0" rtlCol="0" anchor="t">
            <a:spAutoFit/>
          </a:bodyPr>
          <a:lstStyle/>
          <a:p>
            <a:pPr algn="l" indent="0" marL="0">
              <a:buNone/>
            </a:pPr>
            <a:r>
              <a:rPr lang="en-US" sz="1000" b="1" dirty="0">
                <a:solidFill>
                  <a:srgbClr val="0F172A"/>
                </a:solidFill>
                <a:latin typeface="Inter Bold" pitchFamily="34" charset="0"/>
                <a:ea typeface="Inter Bold" pitchFamily="34" charset="-122"/>
                <a:cs typeface="Inter Bold" pitchFamily="34" charset="-120"/>
              </a:rPr>
              <a:t>Companion Computer</a:t>
            </a:r>
            <a:endParaRPr lang="en-US" sz="1000" dirty="0"/>
          </a:p>
        </p:txBody>
      </p:sp>
      <p:sp>
        <p:nvSpPr>
          <p:cNvPr id="23" name="Text 20"/>
          <p:cNvSpPr/>
          <p:nvPr/>
        </p:nvSpPr>
        <p:spPr>
          <a:xfrm>
            <a:off x="4166229" y="3028950"/>
            <a:ext cx="4234821" cy="121444"/>
          </a:xfrm>
          <a:prstGeom prst="rect">
            <a:avLst/>
          </a:prstGeom>
          <a:noFill/>
          <a:ln/>
        </p:spPr>
        <p:txBody>
          <a:bodyPr wrap="square" lIns="0" tIns="0" rIns="0" bIns="0" rtlCol="0" anchor="t">
            <a:spAutoFit/>
          </a:bodyPr>
          <a:lstStyle/>
          <a:p>
            <a:pPr algn="l" indent="0" marL="0">
              <a:buNone/>
            </a:pPr>
            <a:r>
              <a:rPr lang="en-US" sz="700" b="1" spc="1" kern="0" dirty="0">
                <a:solidFill>
                  <a:srgbClr val="991B1B"/>
                </a:solidFill>
                <a:latin typeface="Inter SemiBold" pitchFamily="34" charset="0"/>
                <a:ea typeface="Inter SemiBold" pitchFamily="34" charset="-122"/>
                <a:cs typeface="Inter SemiBold" pitchFamily="34" charset="-120"/>
              </a:rPr>
              <a:t>STRATEGIC &amp; TACTICAL LAYERS</a:t>
            </a:r>
            <a:endParaRPr lang="en-US" sz="700" dirty="0"/>
          </a:p>
        </p:txBody>
      </p:sp>
      <p:sp>
        <p:nvSpPr>
          <p:cNvPr id="24" name="Text 21"/>
          <p:cNvSpPr/>
          <p:nvPr/>
        </p:nvSpPr>
        <p:spPr>
          <a:xfrm>
            <a:off x="4166229" y="3236119"/>
            <a:ext cx="4234821" cy="514350"/>
          </a:xfrm>
          <a:prstGeom prst="rect">
            <a:avLst/>
          </a:prstGeom>
          <a:noFill/>
          <a:ln/>
        </p:spPr>
        <p:txBody>
          <a:bodyPr wrap="square" lIns="0" tIns="0" rIns="0" bIns="0" rtlCol="0" anchor="t">
            <a:spAutoFit/>
          </a:bodyPr>
          <a:lstStyle/>
          <a:p>
            <a:pPr algn="l" indent="0" marL="0">
              <a:lnSpc>
                <a:spcPct val="128000"/>
              </a:lnSpc>
              <a:buNone/>
            </a:pPr>
            <a:r>
              <a:rPr lang="en-US" sz="750" b="1" dirty="0">
                <a:solidFill>
                  <a:srgbClr val="0F172A"/>
                </a:solidFill>
                <a:latin typeface="Inter Bold" pitchFamily="34" charset="0"/>
                <a:ea typeface="Inter Bold" pitchFamily="34" charset="-122"/>
                <a:cs typeface="Inter Bold" pitchFamily="34" charset="-120"/>
              </a:rPr>
              <a:t>Hardware:</a:t>
            </a:r>
            <a:r>
              <a:rPr lang="en-US" sz="800" dirty="0">
                <a:solidFill>
                  <a:srgbClr val="334155"/>
                </a:solidFill>
                <a:latin typeface="Inter" pitchFamily="34" charset="0"/>
                <a:ea typeface="Inter" pitchFamily="34" charset="-122"/>
                <a:cs typeface="Inter" pitchFamily="34" charset="-120"/>
              </a:rPr>
              <a:t> NVIDIA Jetson, Raspberry Pi 4, VOXL</a:t>
            </a:r>
            <a:r>
              <a:rPr lang="en-US" sz="800" dirty="0">
                <a:solidFill>
                  <a:srgbClr val="334155"/>
                </a:solidFill>
                <a:latin typeface="Inter" pitchFamily="34" charset="0"/>
                <a:ea typeface="Inter" pitchFamily="34" charset="-122"/>
                <a:cs typeface="Inter" pitchFamily="34" charset="-120"/>
              </a:rPr>
              <a:t>
</a:t>
            </a:r>
            <a:r>
              <a:rPr lang="en-US" sz="750" b="1" dirty="0">
                <a:solidFill>
                  <a:srgbClr val="0F172A"/>
                </a:solidFill>
                <a:latin typeface="Inter Bold" pitchFamily="34" charset="0"/>
                <a:ea typeface="Inter Bold" pitchFamily="34" charset="-122"/>
                <a:cs typeface="Inter Bold" pitchFamily="34" charset="-120"/>
              </a:rPr>
              <a:t>Purpose:</a:t>
            </a:r>
            <a:r>
              <a:rPr lang="en-US" sz="800" dirty="0">
                <a:solidFill>
                  <a:srgbClr val="334155"/>
                </a:solidFill>
                <a:latin typeface="Inter" pitchFamily="34" charset="0"/>
                <a:ea typeface="Inter" pitchFamily="34" charset="-122"/>
                <a:cs typeface="Inter" pitchFamily="34" charset="-120"/>
              </a:rPr>
              <a:t> Runs ROS 2, AI models, perception pipelines, and middleware decision </a:t>
            </a:r>
            <a:r>
              <a:rPr lang="en-US" sz="800" dirty="0">
                <a:solidFill>
                  <a:srgbClr val="334155"/>
                </a:solidFill>
                <a:latin typeface="Inter" pitchFamily="34" charset="0"/>
                <a:ea typeface="Inter" pitchFamily="34" charset="-122"/>
                <a:cs typeface="Inter" pitchFamily="34" charset="-120"/>
              </a:rPr>
              <a:t>logic (ground-link-loss and energy-margin frameworks).</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393141"/>
          </a:xfrm>
          <a:prstGeom prst="rect">
            <a:avLst/>
          </a:prstGeom>
        </p:spPr>
      </p:pic>
      <p:sp>
        <p:nvSpPr>
          <p:cNvPr id="3" name="Text 0"/>
          <p:cNvSpPr/>
          <p:nvPr/>
        </p:nvSpPr>
        <p:spPr>
          <a:xfrm>
            <a:off x="571500" y="342900"/>
            <a:ext cx="8001000" cy="360759"/>
          </a:xfrm>
          <a:prstGeom prst="rect">
            <a:avLst/>
          </a:prstGeom>
          <a:noFill/>
          <a:ln/>
        </p:spPr>
        <p:txBody>
          <a:bodyPr wrap="square" lIns="0" tIns="0" rIns="0" bIns="0" rtlCol="0" anchor="t">
            <a:spAutoFit/>
          </a:bodyPr>
          <a:lstStyle/>
          <a:p>
            <a:pPr algn="l" indent="0" marL="0">
              <a:buNone/>
            </a:pPr>
            <a:r>
              <a:rPr lang="en-US" sz="1900" b="1" dirty="0">
                <a:solidFill>
                  <a:srgbClr val="0F172A"/>
                </a:solidFill>
                <a:latin typeface="Playfair Display ExtraBold" pitchFamily="34" charset="0"/>
                <a:ea typeface="Playfair Display ExtraBold" pitchFamily="34" charset="-122"/>
                <a:cs typeface="Playfair Display ExtraBold" pitchFamily="34" charset="-120"/>
              </a:rPr>
              <a:t>Research vs. Production Considerations</a:t>
            </a:r>
            <a:endParaRPr lang="en-US" sz="1900" dirty="0"/>
          </a:p>
        </p:txBody>
      </p:sp>
      <p:sp>
        <p:nvSpPr>
          <p:cNvPr id="4" name="Text 1"/>
          <p:cNvSpPr/>
          <p:nvPr/>
        </p:nvSpPr>
        <p:spPr>
          <a:xfrm>
            <a:off x="571500" y="1303734"/>
            <a:ext cx="3829050" cy="266105"/>
          </a:xfrm>
          <a:prstGeom prst="rect">
            <a:avLst/>
          </a:prstGeom>
          <a:noFill/>
          <a:ln/>
        </p:spPr>
        <p:txBody>
          <a:bodyPr wrap="square" lIns="0" tIns="0" rIns="0" bIns="0" rtlCol="0" anchor="t">
            <a:spAutoFit/>
          </a:bodyPr>
          <a:lstStyle/>
          <a:p>
            <a:pPr algn="l" indent="0" marL="0">
              <a:buNone/>
            </a:pPr>
            <a:r>
              <a:rPr lang="en-US" sz="1400" b="1" dirty="0">
                <a:solidFill>
                  <a:srgbClr val="0F172A"/>
                </a:solidFill>
                <a:latin typeface="Playfair Display ExtraBold" pitchFamily="34" charset="0"/>
                <a:ea typeface="Playfair Display ExtraBold" pitchFamily="34" charset="-122"/>
                <a:cs typeface="Playfair Display ExtraBold" pitchFamily="34" charset="-120"/>
              </a:rPr>
              <a:t>Research Phase</a:t>
            </a:r>
            <a:endParaRPr lang="en-US" sz="1400" dirty="0"/>
          </a:p>
        </p:txBody>
      </p:sp>
      <p:sp>
        <p:nvSpPr>
          <p:cNvPr id="5" name="Text 2"/>
          <p:cNvSpPr/>
          <p:nvPr/>
        </p:nvSpPr>
        <p:spPr>
          <a:xfrm>
            <a:off x="571500" y="1798439"/>
            <a:ext cx="3829050" cy="121444"/>
          </a:xfrm>
          <a:prstGeom prst="rect">
            <a:avLst/>
          </a:prstGeom>
          <a:noFill/>
          <a:ln/>
        </p:spPr>
        <p:txBody>
          <a:bodyPr wrap="square" lIns="0" tIns="0" rIns="0" bIns="0" rtlCol="0" anchor="t">
            <a:spAutoFit/>
          </a:bodyPr>
          <a:lstStyle/>
          <a:p>
            <a:pPr algn="l" indent="0" marL="0">
              <a:buNone/>
            </a:pPr>
            <a:r>
              <a:rPr lang="en-US" sz="700" b="1" spc="1" kern="0" dirty="0">
                <a:solidFill>
                  <a:srgbClr val="64748B"/>
                </a:solidFill>
                <a:latin typeface="Inter Bold" pitchFamily="34" charset="0"/>
                <a:ea typeface="Inter Bold" pitchFamily="34" charset="-122"/>
                <a:cs typeface="Inter Bold" pitchFamily="34" charset="-120"/>
              </a:rPr>
              <a:t>AI INTEGRATION</a:t>
            </a:r>
            <a:endParaRPr lang="en-US" sz="700" dirty="0"/>
          </a:p>
        </p:txBody>
      </p:sp>
      <p:sp>
        <p:nvSpPr>
          <p:cNvPr id="6" name="Text 3"/>
          <p:cNvSpPr/>
          <p:nvPr/>
        </p:nvSpPr>
        <p:spPr>
          <a:xfrm>
            <a:off x="571500" y="1977033"/>
            <a:ext cx="3829050" cy="342900"/>
          </a:xfrm>
          <a:prstGeom prst="rect">
            <a:avLst/>
          </a:prstGeom>
          <a:noFill/>
          <a:ln/>
        </p:spPr>
        <p:txBody>
          <a:bodyPr wrap="square" lIns="136017" tIns="0" rIns="0" bIns="0" rtlCol="0" anchor="t">
            <a:spAutoFit/>
          </a:bodyPr>
          <a:lstStyle/>
          <a:p>
            <a:pPr algn="l" indent="0" marL="0">
              <a:lnSpc>
                <a:spcPct val="120000"/>
              </a:lnSpc>
              <a:buNone/>
            </a:pPr>
            <a:r>
              <a:rPr lang="en-US" sz="850" dirty="0">
                <a:solidFill>
                  <a:srgbClr val="334155"/>
                </a:solidFill>
                <a:latin typeface="Inter" pitchFamily="34" charset="0"/>
                <a:ea typeface="Inter" pitchFamily="34" charset="-122"/>
                <a:cs typeface="Inter" pitchFamily="34" charset="-120"/>
              </a:rPr>
              <a:t>Can experiment with replacing core control logic to test AI capabilities.</a:t>
            </a:r>
            <a:endParaRPr lang="en-US" sz="850" dirty="0"/>
          </a:p>
        </p:txBody>
      </p:sp>
      <p:sp>
        <p:nvSpPr>
          <p:cNvPr id="7" name="Text 4"/>
          <p:cNvSpPr/>
          <p:nvPr/>
        </p:nvSpPr>
        <p:spPr>
          <a:xfrm>
            <a:off x="571500" y="2491383"/>
            <a:ext cx="3829050" cy="121444"/>
          </a:xfrm>
          <a:prstGeom prst="rect">
            <a:avLst/>
          </a:prstGeom>
          <a:noFill/>
          <a:ln/>
        </p:spPr>
        <p:txBody>
          <a:bodyPr wrap="square" lIns="0" tIns="0" rIns="0" bIns="0" rtlCol="0" anchor="t">
            <a:spAutoFit/>
          </a:bodyPr>
          <a:lstStyle/>
          <a:p>
            <a:pPr algn="l" indent="0" marL="0">
              <a:buNone/>
            </a:pPr>
            <a:r>
              <a:rPr lang="en-US" sz="700" b="1" spc="1" kern="0" dirty="0">
                <a:solidFill>
                  <a:srgbClr val="64748B"/>
                </a:solidFill>
                <a:latin typeface="Inter Bold" pitchFamily="34" charset="0"/>
                <a:ea typeface="Inter Bold" pitchFamily="34" charset="-122"/>
                <a:cs typeface="Inter Bold" pitchFamily="34" charset="-120"/>
              </a:rPr>
              <a:t>SAFETY MARGIN</a:t>
            </a:r>
            <a:endParaRPr lang="en-US" sz="700" dirty="0"/>
          </a:p>
        </p:txBody>
      </p:sp>
      <p:sp>
        <p:nvSpPr>
          <p:cNvPr id="8" name="Text 5"/>
          <p:cNvSpPr/>
          <p:nvPr/>
        </p:nvSpPr>
        <p:spPr>
          <a:xfrm>
            <a:off x="571500" y="2669977"/>
            <a:ext cx="3829050" cy="171450"/>
          </a:xfrm>
          <a:prstGeom prst="rect">
            <a:avLst/>
          </a:prstGeom>
          <a:noFill/>
          <a:ln/>
        </p:spPr>
        <p:txBody>
          <a:bodyPr wrap="none" lIns="136017" tIns="0" rIns="0" bIns="0" rtlCol="0" anchor="t">
            <a:spAutoFit/>
          </a:bodyPr>
          <a:lstStyle/>
          <a:p>
            <a:pPr algn="l" indent="0" marL="0">
              <a:lnSpc>
                <a:spcPct val="120000"/>
              </a:lnSpc>
              <a:buNone/>
            </a:pPr>
            <a:r>
              <a:rPr lang="en-US" sz="850" dirty="0">
                <a:solidFill>
                  <a:srgbClr val="334155"/>
                </a:solidFill>
                <a:latin typeface="Inter" pitchFamily="34" charset="0"/>
                <a:ea typeface="Inter" pitchFamily="34" charset="-122"/>
                <a:cs typeface="Inter" pitchFamily="34" charset="-120"/>
              </a:rPr>
              <a:t>Accept some calculated risk during controlled, tethered tests.</a:t>
            </a:r>
            <a:endParaRPr lang="en-US" sz="850" dirty="0"/>
          </a:p>
        </p:txBody>
      </p:sp>
      <p:sp>
        <p:nvSpPr>
          <p:cNvPr id="9" name="Text 6"/>
          <p:cNvSpPr/>
          <p:nvPr/>
        </p:nvSpPr>
        <p:spPr>
          <a:xfrm>
            <a:off x="571500" y="3012877"/>
            <a:ext cx="3829050" cy="121444"/>
          </a:xfrm>
          <a:prstGeom prst="rect">
            <a:avLst/>
          </a:prstGeom>
          <a:noFill/>
          <a:ln/>
        </p:spPr>
        <p:txBody>
          <a:bodyPr wrap="square" lIns="0" tIns="0" rIns="0" bIns="0" rtlCol="0" anchor="t">
            <a:spAutoFit/>
          </a:bodyPr>
          <a:lstStyle/>
          <a:p>
            <a:pPr algn="l" indent="0" marL="0">
              <a:buNone/>
            </a:pPr>
            <a:r>
              <a:rPr lang="en-US" sz="700" b="1" spc="1" kern="0" dirty="0">
                <a:solidFill>
                  <a:srgbClr val="64748B"/>
                </a:solidFill>
                <a:latin typeface="Inter Bold" pitchFamily="34" charset="0"/>
                <a:ea typeface="Inter Bold" pitchFamily="34" charset="-122"/>
                <a:cs typeface="Inter Bold" pitchFamily="34" charset="-120"/>
              </a:rPr>
              <a:t>CODE QUALITY</a:t>
            </a:r>
            <a:endParaRPr lang="en-US" sz="700" dirty="0"/>
          </a:p>
        </p:txBody>
      </p:sp>
      <p:sp>
        <p:nvSpPr>
          <p:cNvPr id="10" name="Text 7"/>
          <p:cNvSpPr/>
          <p:nvPr/>
        </p:nvSpPr>
        <p:spPr>
          <a:xfrm>
            <a:off x="571500" y="3191470"/>
            <a:ext cx="3829050" cy="171450"/>
          </a:xfrm>
          <a:prstGeom prst="rect">
            <a:avLst/>
          </a:prstGeom>
          <a:noFill/>
          <a:ln/>
        </p:spPr>
        <p:txBody>
          <a:bodyPr wrap="none" lIns="136017" tIns="0" rIns="0" bIns="0" rtlCol="0" anchor="t">
            <a:spAutoFit/>
          </a:bodyPr>
          <a:lstStyle/>
          <a:p>
            <a:pPr algn="l" indent="0" marL="0">
              <a:lnSpc>
                <a:spcPct val="120000"/>
              </a:lnSpc>
              <a:buNone/>
            </a:pPr>
            <a:r>
              <a:rPr lang="en-US" sz="850" dirty="0">
                <a:solidFill>
                  <a:srgbClr val="334155"/>
                </a:solidFill>
                <a:latin typeface="Inter" pitchFamily="34" charset="0"/>
                <a:ea typeface="Inter" pitchFamily="34" charset="-122"/>
                <a:cs typeface="Inter" pitchFamily="34" charset="-120"/>
              </a:rPr>
              <a:t>Focus on rapid iteration, prototyping, and validating new algorithms.</a:t>
            </a:r>
            <a:endParaRPr lang="en-US" sz="850" dirty="0"/>
          </a:p>
        </p:txBody>
      </p:sp>
      <p:sp>
        <p:nvSpPr>
          <p:cNvPr id="11" name="Text 8"/>
          <p:cNvSpPr/>
          <p:nvPr/>
        </p:nvSpPr>
        <p:spPr>
          <a:xfrm>
            <a:off x="571500" y="3534370"/>
            <a:ext cx="3829050" cy="121444"/>
          </a:xfrm>
          <a:prstGeom prst="rect">
            <a:avLst/>
          </a:prstGeom>
          <a:noFill/>
          <a:ln/>
        </p:spPr>
        <p:txBody>
          <a:bodyPr wrap="square" lIns="0" tIns="0" rIns="0" bIns="0" rtlCol="0" anchor="t">
            <a:spAutoFit/>
          </a:bodyPr>
          <a:lstStyle/>
          <a:p>
            <a:pPr algn="l" indent="0" marL="0">
              <a:buNone/>
            </a:pPr>
            <a:r>
              <a:rPr lang="en-US" sz="700" b="1" spc="1" kern="0" dirty="0">
                <a:solidFill>
                  <a:srgbClr val="64748B"/>
                </a:solidFill>
                <a:latin typeface="Inter Bold" pitchFamily="34" charset="0"/>
                <a:ea typeface="Inter Bold" pitchFamily="34" charset="-122"/>
                <a:cs typeface="Inter Bold" pitchFamily="34" charset="-120"/>
              </a:rPr>
              <a:t>TESTING</a:t>
            </a:r>
            <a:endParaRPr lang="en-US" sz="700" dirty="0"/>
          </a:p>
        </p:txBody>
      </p:sp>
      <p:sp>
        <p:nvSpPr>
          <p:cNvPr id="12" name="Text 9"/>
          <p:cNvSpPr/>
          <p:nvPr/>
        </p:nvSpPr>
        <p:spPr>
          <a:xfrm>
            <a:off x="571500" y="3712964"/>
            <a:ext cx="3829050" cy="342900"/>
          </a:xfrm>
          <a:prstGeom prst="rect">
            <a:avLst/>
          </a:prstGeom>
          <a:noFill/>
          <a:ln/>
        </p:spPr>
        <p:txBody>
          <a:bodyPr wrap="square" lIns="136017" tIns="0" rIns="0" bIns="0" rtlCol="0" anchor="t">
            <a:spAutoFit/>
          </a:bodyPr>
          <a:lstStyle/>
          <a:p>
            <a:pPr algn="l" indent="0" marL="0">
              <a:lnSpc>
                <a:spcPct val="120000"/>
              </a:lnSpc>
              <a:buNone/>
            </a:pPr>
            <a:r>
              <a:rPr lang="en-US" sz="850" dirty="0">
                <a:solidFill>
                  <a:srgbClr val="334155"/>
                </a:solidFill>
                <a:latin typeface="Inter" pitchFamily="34" charset="0"/>
                <a:ea typeface="Inter" pitchFamily="34" charset="-122"/>
                <a:cs typeface="Inter" pitchFamily="34" charset="-120"/>
              </a:rPr>
              <a:t>Primarily relies on simulation (SITL) and constrained physical environments.</a:t>
            </a:r>
            <a:endParaRPr lang="en-US" sz="850" dirty="0"/>
          </a:p>
        </p:txBody>
      </p:sp>
      <p:sp>
        <p:nvSpPr>
          <p:cNvPr id="13" name="Text 10"/>
          <p:cNvSpPr/>
          <p:nvPr/>
        </p:nvSpPr>
        <p:spPr>
          <a:xfrm>
            <a:off x="4743450" y="1303734"/>
            <a:ext cx="3829050" cy="266105"/>
          </a:xfrm>
          <a:prstGeom prst="rect">
            <a:avLst/>
          </a:prstGeom>
          <a:noFill/>
          <a:ln/>
        </p:spPr>
        <p:txBody>
          <a:bodyPr wrap="square" lIns="0" tIns="0" rIns="0" bIns="0" rtlCol="0" anchor="t">
            <a:spAutoFit/>
          </a:bodyPr>
          <a:lstStyle/>
          <a:p>
            <a:pPr algn="l" indent="0" marL="0">
              <a:buNone/>
            </a:pPr>
            <a:r>
              <a:rPr lang="en-US" sz="1400" b="1" dirty="0">
                <a:solidFill>
                  <a:srgbClr val="991B1B"/>
                </a:solidFill>
                <a:latin typeface="Playfair Display ExtraBold" pitchFamily="34" charset="0"/>
                <a:ea typeface="Playfair Display ExtraBold" pitchFamily="34" charset="-122"/>
                <a:cs typeface="Playfair Display ExtraBold" pitchFamily="34" charset="-120"/>
              </a:rPr>
              <a:t>Production Phase</a:t>
            </a:r>
            <a:endParaRPr lang="en-US" sz="1400" dirty="0"/>
          </a:p>
        </p:txBody>
      </p:sp>
      <p:sp>
        <p:nvSpPr>
          <p:cNvPr id="14" name="Text 11"/>
          <p:cNvSpPr/>
          <p:nvPr/>
        </p:nvSpPr>
        <p:spPr>
          <a:xfrm>
            <a:off x="4743450" y="1798439"/>
            <a:ext cx="3829050" cy="121444"/>
          </a:xfrm>
          <a:prstGeom prst="rect">
            <a:avLst/>
          </a:prstGeom>
          <a:noFill/>
          <a:ln/>
        </p:spPr>
        <p:txBody>
          <a:bodyPr wrap="square" lIns="0" tIns="0" rIns="0" bIns="0" rtlCol="0" anchor="t">
            <a:spAutoFit/>
          </a:bodyPr>
          <a:lstStyle/>
          <a:p>
            <a:pPr algn="l" indent="0" marL="0">
              <a:buNone/>
            </a:pPr>
            <a:r>
              <a:rPr lang="en-US" sz="700" b="1" spc="1" kern="0" dirty="0">
                <a:solidFill>
                  <a:srgbClr val="64748B"/>
                </a:solidFill>
                <a:latin typeface="Inter Bold" pitchFamily="34" charset="0"/>
                <a:ea typeface="Inter Bold" pitchFamily="34" charset="-122"/>
                <a:cs typeface="Inter Bold" pitchFamily="34" charset="-120"/>
              </a:rPr>
              <a:t>AI INTEGRATION</a:t>
            </a:r>
            <a:endParaRPr lang="en-US" sz="700" dirty="0"/>
          </a:p>
        </p:txBody>
      </p:sp>
      <p:sp>
        <p:nvSpPr>
          <p:cNvPr id="15" name="Text 12"/>
          <p:cNvSpPr/>
          <p:nvPr/>
        </p:nvSpPr>
        <p:spPr>
          <a:xfrm>
            <a:off x="4743450" y="1977033"/>
            <a:ext cx="3829050" cy="342900"/>
          </a:xfrm>
          <a:prstGeom prst="rect">
            <a:avLst/>
          </a:prstGeom>
          <a:noFill/>
          <a:ln/>
        </p:spPr>
        <p:txBody>
          <a:bodyPr wrap="square" lIns="136017" tIns="0" rIns="0" bIns="0" rtlCol="0" anchor="t">
            <a:spAutoFit/>
          </a:bodyPr>
          <a:lstStyle/>
          <a:p>
            <a:pPr algn="l" indent="0" marL="0">
              <a:lnSpc>
                <a:spcPct val="120000"/>
              </a:lnSpc>
              <a:buNone/>
            </a:pPr>
            <a:r>
              <a:rPr lang="en-US" sz="850" dirty="0">
                <a:solidFill>
                  <a:srgbClr val="334155"/>
                </a:solidFill>
                <a:latin typeface="Inter" pitchFamily="34" charset="0"/>
                <a:ea typeface="Inter" pitchFamily="34" charset="-122"/>
                <a:cs typeface="Inter" pitchFamily="34" charset="-120"/>
              </a:rPr>
              <a:t>Must keep AI strictly on top as an advisor; never bypass the PX4 failsafes.</a:t>
            </a:r>
            <a:endParaRPr lang="en-US" sz="850" dirty="0"/>
          </a:p>
        </p:txBody>
      </p:sp>
      <p:sp>
        <p:nvSpPr>
          <p:cNvPr id="16" name="Text 13"/>
          <p:cNvSpPr/>
          <p:nvPr/>
        </p:nvSpPr>
        <p:spPr>
          <a:xfrm>
            <a:off x="4743450" y="2491383"/>
            <a:ext cx="3829050" cy="121444"/>
          </a:xfrm>
          <a:prstGeom prst="rect">
            <a:avLst/>
          </a:prstGeom>
          <a:noFill/>
          <a:ln/>
        </p:spPr>
        <p:txBody>
          <a:bodyPr wrap="square" lIns="0" tIns="0" rIns="0" bIns="0" rtlCol="0" anchor="t">
            <a:spAutoFit/>
          </a:bodyPr>
          <a:lstStyle/>
          <a:p>
            <a:pPr algn="l" indent="0" marL="0">
              <a:buNone/>
            </a:pPr>
            <a:r>
              <a:rPr lang="en-US" sz="700" b="1" spc="1" kern="0" dirty="0">
                <a:solidFill>
                  <a:srgbClr val="64748B"/>
                </a:solidFill>
                <a:latin typeface="Inter Bold" pitchFamily="34" charset="0"/>
                <a:ea typeface="Inter Bold" pitchFamily="34" charset="-122"/>
                <a:cs typeface="Inter Bold" pitchFamily="34" charset="-120"/>
              </a:rPr>
              <a:t>SAFETY MARGIN</a:t>
            </a:r>
            <a:endParaRPr lang="en-US" sz="700" dirty="0"/>
          </a:p>
        </p:txBody>
      </p:sp>
      <p:sp>
        <p:nvSpPr>
          <p:cNvPr id="17" name="Text 14"/>
          <p:cNvSpPr/>
          <p:nvPr/>
        </p:nvSpPr>
        <p:spPr>
          <a:xfrm>
            <a:off x="4743450" y="2669977"/>
            <a:ext cx="3829050" cy="342900"/>
          </a:xfrm>
          <a:prstGeom prst="rect">
            <a:avLst/>
          </a:prstGeom>
          <a:noFill/>
          <a:ln/>
        </p:spPr>
        <p:txBody>
          <a:bodyPr wrap="square" lIns="136017" tIns="0" rIns="0" bIns="0" rtlCol="0" anchor="t">
            <a:spAutoFit/>
          </a:bodyPr>
          <a:lstStyle/>
          <a:p>
            <a:pPr algn="l" indent="0" marL="0">
              <a:lnSpc>
                <a:spcPct val="120000"/>
              </a:lnSpc>
              <a:buNone/>
            </a:pPr>
            <a:r>
              <a:rPr lang="en-US" sz="850" dirty="0">
                <a:solidFill>
                  <a:srgbClr val="334155"/>
                </a:solidFill>
                <a:latin typeface="Inter" pitchFamily="34" charset="0"/>
                <a:ea typeface="Inter" pitchFamily="34" charset="-122"/>
                <a:cs typeface="Inter" pitchFamily="34" charset="-120"/>
              </a:rPr>
              <a:t>Must be rigorously safety-certified and verified against all failure modes.</a:t>
            </a:r>
            <a:endParaRPr lang="en-US" sz="850" dirty="0"/>
          </a:p>
        </p:txBody>
      </p:sp>
      <p:sp>
        <p:nvSpPr>
          <p:cNvPr id="18" name="Text 15"/>
          <p:cNvSpPr/>
          <p:nvPr/>
        </p:nvSpPr>
        <p:spPr>
          <a:xfrm>
            <a:off x="4743450" y="3184327"/>
            <a:ext cx="3829050" cy="121444"/>
          </a:xfrm>
          <a:prstGeom prst="rect">
            <a:avLst/>
          </a:prstGeom>
          <a:noFill/>
          <a:ln/>
        </p:spPr>
        <p:txBody>
          <a:bodyPr wrap="square" lIns="0" tIns="0" rIns="0" bIns="0" rtlCol="0" anchor="t">
            <a:spAutoFit/>
          </a:bodyPr>
          <a:lstStyle/>
          <a:p>
            <a:pPr algn="l" indent="0" marL="0">
              <a:buNone/>
            </a:pPr>
            <a:r>
              <a:rPr lang="en-US" sz="700" b="1" spc="1" kern="0" dirty="0">
                <a:solidFill>
                  <a:srgbClr val="64748B"/>
                </a:solidFill>
                <a:latin typeface="Inter Bold" pitchFamily="34" charset="0"/>
                <a:ea typeface="Inter Bold" pitchFamily="34" charset="-122"/>
                <a:cs typeface="Inter Bold" pitchFamily="34" charset="-120"/>
              </a:rPr>
              <a:t>CODE QUALITY</a:t>
            </a:r>
            <a:endParaRPr lang="en-US" sz="700" dirty="0"/>
          </a:p>
        </p:txBody>
      </p:sp>
      <p:sp>
        <p:nvSpPr>
          <p:cNvPr id="19" name="Text 16"/>
          <p:cNvSpPr/>
          <p:nvPr/>
        </p:nvSpPr>
        <p:spPr>
          <a:xfrm>
            <a:off x="4743450" y="3362920"/>
            <a:ext cx="3829050" cy="342900"/>
          </a:xfrm>
          <a:prstGeom prst="rect">
            <a:avLst/>
          </a:prstGeom>
          <a:noFill/>
          <a:ln/>
        </p:spPr>
        <p:txBody>
          <a:bodyPr wrap="square" lIns="136017" tIns="0" rIns="0" bIns="0" rtlCol="0" anchor="t">
            <a:spAutoFit/>
          </a:bodyPr>
          <a:lstStyle/>
          <a:p>
            <a:pPr algn="l" indent="0" marL="0">
              <a:lnSpc>
                <a:spcPct val="120000"/>
              </a:lnSpc>
              <a:buNone/>
            </a:pPr>
            <a:r>
              <a:rPr lang="en-US" sz="850" dirty="0">
                <a:solidFill>
                  <a:srgbClr val="334155"/>
                </a:solidFill>
                <a:latin typeface="Inter" pitchFamily="34" charset="0"/>
                <a:ea typeface="Inter" pitchFamily="34" charset="-122"/>
                <a:cs typeface="Inter" pitchFamily="34" charset="-120"/>
              </a:rPr>
              <a:t>Focus on robustness, redundancy, and deterministic real-time performance.</a:t>
            </a:r>
            <a:endParaRPr lang="en-US" sz="850" dirty="0"/>
          </a:p>
        </p:txBody>
      </p:sp>
      <p:sp>
        <p:nvSpPr>
          <p:cNvPr id="20" name="Text 17"/>
          <p:cNvSpPr/>
          <p:nvPr/>
        </p:nvSpPr>
        <p:spPr>
          <a:xfrm>
            <a:off x="4743450" y="3877270"/>
            <a:ext cx="3829050" cy="121444"/>
          </a:xfrm>
          <a:prstGeom prst="rect">
            <a:avLst/>
          </a:prstGeom>
          <a:noFill/>
          <a:ln/>
        </p:spPr>
        <p:txBody>
          <a:bodyPr wrap="square" lIns="0" tIns="0" rIns="0" bIns="0" rtlCol="0" anchor="t">
            <a:spAutoFit/>
          </a:bodyPr>
          <a:lstStyle/>
          <a:p>
            <a:pPr algn="l" indent="0" marL="0">
              <a:buNone/>
            </a:pPr>
            <a:r>
              <a:rPr lang="en-US" sz="700" b="1" spc="1" kern="0" dirty="0">
                <a:solidFill>
                  <a:srgbClr val="64748B"/>
                </a:solidFill>
                <a:latin typeface="Inter Bold" pitchFamily="34" charset="0"/>
                <a:ea typeface="Inter Bold" pitchFamily="34" charset="-122"/>
                <a:cs typeface="Inter Bold" pitchFamily="34" charset="-120"/>
              </a:rPr>
              <a:t>TESTING</a:t>
            </a:r>
            <a:endParaRPr lang="en-US" sz="700" dirty="0"/>
          </a:p>
        </p:txBody>
      </p:sp>
      <p:sp>
        <p:nvSpPr>
          <p:cNvPr id="21" name="Text 18"/>
          <p:cNvSpPr/>
          <p:nvPr/>
        </p:nvSpPr>
        <p:spPr>
          <a:xfrm>
            <a:off x="4743450" y="4055864"/>
            <a:ext cx="3829050" cy="342900"/>
          </a:xfrm>
          <a:prstGeom prst="rect">
            <a:avLst/>
          </a:prstGeom>
          <a:noFill/>
          <a:ln/>
        </p:spPr>
        <p:txBody>
          <a:bodyPr wrap="square" lIns="136017" tIns="0" rIns="0" bIns="0" rtlCol="0" anchor="t">
            <a:spAutoFit/>
          </a:bodyPr>
          <a:lstStyle/>
          <a:p>
            <a:pPr algn="l" indent="0" marL="0">
              <a:lnSpc>
                <a:spcPct val="120000"/>
              </a:lnSpc>
              <a:buNone/>
            </a:pPr>
            <a:r>
              <a:rPr lang="en-US" sz="850" dirty="0">
                <a:solidFill>
                  <a:srgbClr val="334155"/>
                </a:solidFill>
                <a:latin typeface="Inter" pitchFamily="34" charset="0"/>
                <a:ea typeface="Inter" pitchFamily="34" charset="-122"/>
                <a:cs typeface="Inter" pitchFamily="34" charset="-120"/>
              </a:rPr>
              <a:t>Requires extensive real-world validation, including HIL and supervised flight.</a:t>
            </a:r>
            <a:endParaRPr lang="en-US" sz="850" dirty="0"/>
          </a:p>
        </p:txBody>
      </p:sp>
      <p:sp>
        <p:nvSpPr>
          <p:cNvPr id="22" name="Shape 19"/>
          <p:cNvSpPr/>
          <p:nvPr/>
        </p:nvSpPr>
        <p:spPr>
          <a:xfrm>
            <a:off x="571500" y="4684514"/>
            <a:ext cx="8001000" cy="708627"/>
          </a:xfrm>
          <a:prstGeom prst="rect">
            <a:avLst/>
          </a:prstGeom>
          <a:solidFill>
            <a:srgbClr val="0F172A"/>
          </a:solidFill>
          <a:ln/>
        </p:spPr>
      </p:sp>
      <p:sp>
        <p:nvSpPr>
          <p:cNvPr id="23" name="Shape 20"/>
          <p:cNvSpPr/>
          <p:nvPr/>
        </p:nvSpPr>
        <p:spPr>
          <a:xfrm>
            <a:off x="571500" y="4684514"/>
            <a:ext cx="42863" cy="708627"/>
          </a:xfrm>
          <a:prstGeom prst="rect">
            <a:avLst/>
          </a:prstGeom>
          <a:solidFill>
            <a:srgbClr val="991B1B"/>
          </a:solidFill>
          <a:ln/>
        </p:spPr>
      </p:sp>
      <p:sp>
        <p:nvSpPr>
          <p:cNvPr id="24" name="Text 21"/>
          <p:cNvSpPr/>
          <p:nvPr/>
        </p:nvSpPr>
        <p:spPr>
          <a:xfrm>
            <a:off x="800100" y="4855964"/>
            <a:ext cx="7543800" cy="365727"/>
          </a:xfrm>
          <a:prstGeom prst="rect">
            <a:avLst/>
          </a:prstGeom>
          <a:noFill/>
          <a:ln/>
        </p:spPr>
        <p:txBody>
          <a:bodyPr wrap="square" lIns="0" tIns="0" rIns="0" bIns="0" rtlCol="0" anchor="t">
            <a:spAutoFit/>
          </a:bodyPr>
          <a:lstStyle/>
          <a:p>
            <a:pPr algn="l" indent="0" marL="0">
              <a:lnSpc>
                <a:spcPct val="128000"/>
              </a:lnSpc>
              <a:buNone/>
            </a:pPr>
            <a:r>
              <a:rPr lang="en-US" sz="850" dirty="0">
                <a:solidFill>
                  <a:srgbClr val="F8FAFC"/>
                </a:solidFill>
                <a:latin typeface="Inter" pitchFamily="34" charset="0"/>
                <a:ea typeface="Inter" pitchFamily="34" charset="-122"/>
                <a:cs typeface="Inter" pitchFamily="34" charset="-120"/>
              </a:rPr>
              <a:t>The Backseat Driver architecture provides a clear, structured path from research experimentation to production deployment, ensuring that </a:t>
            </a:r>
            <a:r>
              <a:rPr lang="en-US" sz="800" b="1" dirty="0">
                <a:solidFill>
                  <a:srgbClr val="991B1B"/>
                </a:solidFill>
                <a:latin typeface="Inter Bold" pitchFamily="34" charset="0"/>
                <a:ea typeface="Inter Bold" pitchFamily="34" charset="-122"/>
                <a:cs typeface="Inter Bold" pitchFamily="34" charset="-120"/>
              </a:rPr>
              <a:t>safety boundaries are never compromised</a:t>
            </a:r>
            <a:r>
              <a:rPr lang="en-US" sz="850" dirty="0">
                <a:solidFill>
                  <a:srgbClr val="F8FAFC"/>
                </a:solidFill>
                <a:latin typeface="Inter" pitchFamily="34" charset="0"/>
                <a:ea typeface="Inter" pitchFamily="34" charset="-122"/>
                <a:cs typeface="Inter" pitchFamily="34" charset="-120"/>
              </a:rPr>
              <a:t> regardless of the development phase or AI maturity.</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571500" y="342900"/>
            <a:ext cx="8001000" cy="360759"/>
          </a:xfrm>
          <a:prstGeom prst="rect">
            <a:avLst/>
          </a:prstGeom>
          <a:noFill/>
          <a:ln/>
        </p:spPr>
        <p:txBody>
          <a:bodyPr wrap="square" lIns="0" tIns="0" rIns="0" bIns="0" rtlCol="0" anchor="t">
            <a:spAutoFit/>
          </a:bodyPr>
          <a:lstStyle/>
          <a:p>
            <a:pPr algn="l" indent="0" marL="0">
              <a:buNone/>
            </a:pPr>
            <a:r>
              <a:rPr lang="en-US" sz="1900" b="1" dirty="0">
                <a:solidFill>
                  <a:srgbClr val="0F172A"/>
                </a:solidFill>
                <a:latin typeface="Playfair Display ExtraBold" pitchFamily="34" charset="0"/>
                <a:ea typeface="Playfair Display ExtraBold" pitchFamily="34" charset="-122"/>
                <a:cs typeface="Playfair Display ExtraBold" pitchFamily="34" charset="-120"/>
              </a:rPr>
              <a:t>Next Steps and Project Roadmap</a:t>
            </a:r>
            <a:endParaRPr lang="en-US" sz="1900" dirty="0"/>
          </a:p>
        </p:txBody>
      </p:sp>
      <p:sp>
        <p:nvSpPr>
          <p:cNvPr id="4" name="Text 1"/>
          <p:cNvSpPr/>
          <p:nvPr/>
        </p:nvSpPr>
        <p:spPr>
          <a:xfrm>
            <a:off x="571500" y="1103709"/>
            <a:ext cx="6429375" cy="365727"/>
          </a:xfrm>
          <a:prstGeom prst="rect">
            <a:avLst/>
          </a:prstGeom>
          <a:noFill/>
          <a:ln/>
        </p:spPr>
        <p:txBody>
          <a:bodyPr wrap="square" lIns="0" tIns="0" rIns="0" bIns="0" rtlCol="0" anchor="t">
            <a:spAutoFit/>
          </a:bodyPr>
          <a:lstStyle/>
          <a:p>
            <a:pPr algn="l" indent="0" marL="0">
              <a:lnSpc>
                <a:spcPct val="128000"/>
              </a:lnSpc>
              <a:buNone/>
            </a:pPr>
            <a:r>
              <a:rPr lang="en-US" sz="850" dirty="0">
                <a:solidFill>
                  <a:srgbClr val="334155"/>
                </a:solidFill>
                <a:latin typeface="Inter" pitchFamily="34" charset="0"/>
                <a:ea typeface="Inter" pitchFamily="34" charset="-122"/>
                <a:cs typeface="Inter" pitchFamily="34" charset="-120"/>
              </a:rPr>
              <a:t>The immediate next steps for the Agere project focus on establishing a robust baseline, formalizing decision logic, and validating safety mechanisms before full AI deployment.</a:t>
            </a:r>
            <a:endParaRPr lang="en-US" sz="850" dirty="0"/>
          </a:p>
        </p:txBody>
      </p:sp>
      <p:sp>
        <p:nvSpPr>
          <p:cNvPr id="5" name="Shape 2"/>
          <p:cNvSpPr/>
          <p:nvPr/>
        </p:nvSpPr>
        <p:spPr>
          <a:xfrm>
            <a:off x="571500" y="1726611"/>
            <a:ext cx="285750" cy="285750"/>
          </a:xfrm>
          <a:prstGeom prst="ellipse">
            <a:avLst/>
          </a:prstGeom>
          <a:solidFill>
            <a:srgbClr val="0F172A"/>
          </a:solidFill>
          <a:ln/>
        </p:spPr>
      </p:sp>
      <p:sp>
        <p:nvSpPr>
          <p:cNvPr id="6" name="Text 3"/>
          <p:cNvSpPr/>
          <p:nvPr/>
        </p:nvSpPr>
        <p:spPr>
          <a:xfrm>
            <a:off x="571500" y="1726611"/>
            <a:ext cx="285750" cy="285750"/>
          </a:xfrm>
          <a:prstGeom prst="rect">
            <a:avLst/>
          </a:prstGeom>
          <a:noFill/>
          <a:ln/>
        </p:spPr>
        <p:txBody>
          <a:bodyPr wrap="none" lIns="0" tIns="0" rIns="0" bIns="0" rtlCol="0" anchor="ctr">
            <a:spAutoFit/>
          </a:bodyPr>
          <a:lstStyle/>
          <a:p>
            <a:pPr algn="ctr" indent="0" marL="0">
              <a:buNone/>
            </a:pPr>
            <a:r>
              <a:rPr lang="en-US" sz="900" b="1" dirty="0">
                <a:solidFill>
                  <a:srgbClr val="F8FAFC"/>
                </a:solidFill>
                <a:latin typeface="Playfair Display ExtraBold" pitchFamily="34" charset="0"/>
                <a:ea typeface="Playfair Display ExtraBold" pitchFamily="34" charset="-122"/>
                <a:cs typeface="Playfair Display ExtraBold" pitchFamily="34" charset="-120"/>
              </a:rPr>
              <a:t>1</a:t>
            </a:r>
            <a:endParaRPr lang="en-US" sz="900" dirty="0"/>
          </a:p>
        </p:txBody>
      </p:sp>
      <p:sp>
        <p:nvSpPr>
          <p:cNvPr id="7" name="Text 4"/>
          <p:cNvSpPr/>
          <p:nvPr/>
        </p:nvSpPr>
        <p:spPr>
          <a:xfrm>
            <a:off x="1000125" y="1755186"/>
            <a:ext cx="3400425" cy="155377"/>
          </a:xfrm>
          <a:prstGeom prst="rect">
            <a:avLst/>
          </a:prstGeom>
          <a:noFill/>
          <a:ln/>
        </p:spPr>
        <p:txBody>
          <a:bodyPr wrap="square" lIns="0" tIns="0" rIns="0" bIns="0" rtlCol="0" anchor="t">
            <a:spAutoFit/>
          </a:bodyPr>
          <a:lstStyle/>
          <a:p>
            <a:pPr algn="l" indent="0" marL="0">
              <a:buNone/>
            </a:pPr>
            <a:r>
              <a:rPr lang="en-US" sz="900" b="1" spc="1" kern="0" dirty="0">
                <a:solidFill>
                  <a:srgbClr val="0F172A"/>
                </a:solidFill>
                <a:latin typeface="Inter Bold" pitchFamily="34" charset="0"/>
                <a:ea typeface="Inter Bold" pitchFamily="34" charset="-122"/>
                <a:cs typeface="Inter Bold" pitchFamily="34" charset="-120"/>
              </a:rPr>
              <a:t>ESTABLISH BASELINE</a:t>
            </a:r>
            <a:endParaRPr lang="en-US" sz="900" dirty="0"/>
          </a:p>
        </p:txBody>
      </p:sp>
      <p:sp>
        <p:nvSpPr>
          <p:cNvPr id="8" name="Text 5"/>
          <p:cNvSpPr/>
          <p:nvPr/>
        </p:nvSpPr>
        <p:spPr>
          <a:xfrm>
            <a:off x="1000125" y="1953425"/>
            <a:ext cx="3400425" cy="320018"/>
          </a:xfrm>
          <a:prstGeom prst="rect">
            <a:avLst/>
          </a:prstGeom>
          <a:noFill/>
          <a:ln/>
        </p:spPr>
        <p:txBody>
          <a:bodyPr wrap="square" lIns="0" tIns="0" rIns="0" bIns="0" rtlCol="0" anchor="t">
            <a:spAutoFit/>
          </a:bodyPr>
          <a:lstStyle/>
          <a:p>
            <a:pPr algn="l" indent="0" marL="0">
              <a:lnSpc>
                <a:spcPct val="128000"/>
              </a:lnSpc>
              <a:buNone/>
            </a:pPr>
            <a:r>
              <a:rPr lang="en-US" sz="750" dirty="0">
                <a:solidFill>
                  <a:srgbClr val="334155"/>
                </a:solidFill>
                <a:latin typeface="Inter" pitchFamily="34" charset="0"/>
                <a:ea typeface="Inter" pitchFamily="34" charset="-122"/>
                <a:cs typeface="Inter" pitchFamily="34" charset="-120"/>
              </a:rPr>
              <a:t>Run PX4 SITL with ROS 2 communication working to ensure the foundational bridge is stable.</a:t>
            </a:r>
            <a:endParaRPr lang="en-US" sz="750" dirty="0"/>
          </a:p>
        </p:txBody>
      </p:sp>
      <p:sp>
        <p:nvSpPr>
          <p:cNvPr id="9" name="Shape 6"/>
          <p:cNvSpPr/>
          <p:nvPr/>
        </p:nvSpPr>
        <p:spPr>
          <a:xfrm>
            <a:off x="4743450" y="1726611"/>
            <a:ext cx="285750" cy="285750"/>
          </a:xfrm>
          <a:prstGeom prst="ellipse">
            <a:avLst/>
          </a:prstGeom>
          <a:solidFill>
            <a:srgbClr val="991B1B"/>
          </a:solidFill>
          <a:ln/>
        </p:spPr>
      </p:sp>
      <p:sp>
        <p:nvSpPr>
          <p:cNvPr id="10" name="Text 7"/>
          <p:cNvSpPr/>
          <p:nvPr/>
        </p:nvSpPr>
        <p:spPr>
          <a:xfrm>
            <a:off x="4743450" y="1726611"/>
            <a:ext cx="285750" cy="285750"/>
          </a:xfrm>
          <a:prstGeom prst="rect">
            <a:avLst/>
          </a:prstGeom>
          <a:noFill/>
          <a:ln/>
        </p:spPr>
        <p:txBody>
          <a:bodyPr wrap="none" lIns="0" tIns="0" rIns="0" bIns="0" rtlCol="0" anchor="ctr">
            <a:spAutoFit/>
          </a:bodyPr>
          <a:lstStyle/>
          <a:p>
            <a:pPr algn="ctr" indent="0" marL="0">
              <a:buNone/>
            </a:pPr>
            <a:r>
              <a:rPr lang="en-US" sz="900" b="1" dirty="0">
                <a:solidFill>
                  <a:srgbClr val="F8FAFC"/>
                </a:solidFill>
                <a:latin typeface="Playfair Display ExtraBold" pitchFamily="34" charset="0"/>
                <a:ea typeface="Playfair Display ExtraBold" pitchFamily="34" charset="-122"/>
                <a:cs typeface="Playfair Display ExtraBold" pitchFamily="34" charset="-120"/>
              </a:rPr>
              <a:t>2</a:t>
            </a:r>
            <a:endParaRPr lang="en-US" sz="900" dirty="0"/>
          </a:p>
        </p:txBody>
      </p:sp>
      <p:sp>
        <p:nvSpPr>
          <p:cNvPr id="11" name="Text 8"/>
          <p:cNvSpPr/>
          <p:nvPr/>
        </p:nvSpPr>
        <p:spPr>
          <a:xfrm>
            <a:off x="5172075" y="1755186"/>
            <a:ext cx="3400425" cy="155377"/>
          </a:xfrm>
          <a:prstGeom prst="rect">
            <a:avLst/>
          </a:prstGeom>
          <a:noFill/>
          <a:ln/>
        </p:spPr>
        <p:txBody>
          <a:bodyPr wrap="square" lIns="0" tIns="0" rIns="0" bIns="0" rtlCol="0" anchor="t">
            <a:spAutoFit/>
          </a:bodyPr>
          <a:lstStyle/>
          <a:p>
            <a:pPr algn="l" indent="0" marL="0">
              <a:buNone/>
            </a:pPr>
            <a:r>
              <a:rPr lang="en-US" sz="900" b="1" spc="1" kern="0" dirty="0">
                <a:solidFill>
                  <a:srgbClr val="0F172A"/>
                </a:solidFill>
                <a:latin typeface="Inter Bold" pitchFamily="34" charset="0"/>
                <a:ea typeface="Inter Bold" pitchFamily="34" charset="-122"/>
                <a:cs typeface="Inter Bold" pitchFamily="34" charset="-120"/>
              </a:rPr>
              <a:t>DATA UNDERSTANDING</a:t>
            </a:r>
            <a:endParaRPr lang="en-US" sz="900" dirty="0"/>
          </a:p>
        </p:txBody>
      </p:sp>
      <p:sp>
        <p:nvSpPr>
          <p:cNvPr id="12" name="Text 9"/>
          <p:cNvSpPr/>
          <p:nvPr/>
        </p:nvSpPr>
        <p:spPr>
          <a:xfrm>
            <a:off x="5172075" y="1953425"/>
            <a:ext cx="3400425" cy="320018"/>
          </a:xfrm>
          <a:prstGeom prst="rect">
            <a:avLst/>
          </a:prstGeom>
          <a:noFill/>
          <a:ln/>
        </p:spPr>
        <p:txBody>
          <a:bodyPr wrap="square" lIns="0" tIns="0" rIns="0" bIns="0" rtlCol="0" anchor="t">
            <a:spAutoFit/>
          </a:bodyPr>
          <a:lstStyle/>
          <a:p>
            <a:pPr algn="l" indent="0" marL="0">
              <a:lnSpc>
                <a:spcPct val="128000"/>
              </a:lnSpc>
              <a:buNone/>
            </a:pPr>
            <a:r>
              <a:rPr lang="en-US" sz="750" dirty="0">
                <a:solidFill>
                  <a:srgbClr val="334155"/>
                </a:solidFill>
                <a:latin typeface="Inter" pitchFamily="34" charset="0"/>
                <a:ea typeface="Inter" pitchFamily="34" charset="-122"/>
                <a:cs typeface="Inter" pitchFamily="34" charset="-120"/>
              </a:rPr>
              <a:t>Document and verify all PX4 ↔ ROS 2 topics to map the available telemetry and control interfaces.</a:t>
            </a:r>
            <a:endParaRPr lang="en-US" sz="750" dirty="0"/>
          </a:p>
        </p:txBody>
      </p:sp>
      <p:sp>
        <p:nvSpPr>
          <p:cNvPr id="13" name="Shape 10"/>
          <p:cNvSpPr/>
          <p:nvPr/>
        </p:nvSpPr>
        <p:spPr>
          <a:xfrm>
            <a:off x="571500" y="2502043"/>
            <a:ext cx="285750" cy="285750"/>
          </a:xfrm>
          <a:prstGeom prst="ellipse">
            <a:avLst/>
          </a:prstGeom>
          <a:solidFill>
            <a:srgbClr val="0F172A"/>
          </a:solidFill>
          <a:ln/>
        </p:spPr>
      </p:sp>
      <p:sp>
        <p:nvSpPr>
          <p:cNvPr id="14" name="Text 11"/>
          <p:cNvSpPr/>
          <p:nvPr/>
        </p:nvSpPr>
        <p:spPr>
          <a:xfrm>
            <a:off x="571500" y="2502043"/>
            <a:ext cx="285750" cy="285750"/>
          </a:xfrm>
          <a:prstGeom prst="rect">
            <a:avLst/>
          </a:prstGeom>
          <a:noFill/>
          <a:ln/>
        </p:spPr>
        <p:txBody>
          <a:bodyPr wrap="none" lIns="0" tIns="0" rIns="0" bIns="0" rtlCol="0" anchor="ctr">
            <a:spAutoFit/>
          </a:bodyPr>
          <a:lstStyle/>
          <a:p>
            <a:pPr algn="ctr" indent="0" marL="0">
              <a:buNone/>
            </a:pPr>
            <a:r>
              <a:rPr lang="en-US" sz="900" b="1" dirty="0">
                <a:solidFill>
                  <a:srgbClr val="F8FAFC"/>
                </a:solidFill>
                <a:latin typeface="Playfair Display ExtraBold" pitchFamily="34" charset="0"/>
                <a:ea typeface="Playfair Display ExtraBold" pitchFamily="34" charset="-122"/>
                <a:cs typeface="Playfair Display ExtraBold" pitchFamily="34" charset="-120"/>
              </a:rPr>
              <a:t>3</a:t>
            </a:r>
            <a:endParaRPr lang="en-US" sz="900" dirty="0"/>
          </a:p>
        </p:txBody>
      </p:sp>
      <p:sp>
        <p:nvSpPr>
          <p:cNvPr id="15" name="Text 12"/>
          <p:cNvSpPr/>
          <p:nvPr/>
        </p:nvSpPr>
        <p:spPr>
          <a:xfrm>
            <a:off x="1000125" y="2530618"/>
            <a:ext cx="3400425" cy="155377"/>
          </a:xfrm>
          <a:prstGeom prst="rect">
            <a:avLst/>
          </a:prstGeom>
          <a:noFill/>
          <a:ln/>
        </p:spPr>
        <p:txBody>
          <a:bodyPr wrap="square" lIns="0" tIns="0" rIns="0" bIns="0" rtlCol="0" anchor="t">
            <a:spAutoFit/>
          </a:bodyPr>
          <a:lstStyle/>
          <a:p>
            <a:pPr algn="l" indent="0" marL="0">
              <a:buNone/>
            </a:pPr>
            <a:r>
              <a:rPr lang="en-US" sz="900" b="1" spc="1" kern="0" dirty="0">
                <a:solidFill>
                  <a:srgbClr val="0F172A"/>
                </a:solidFill>
                <a:latin typeface="Inter Bold" pitchFamily="34" charset="0"/>
                <a:ea typeface="Inter Bold" pitchFamily="34" charset="-122"/>
                <a:cs typeface="Inter Bold" pitchFamily="34" charset="-120"/>
              </a:rPr>
              <a:t>MVP INTEGRATION</a:t>
            </a:r>
            <a:endParaRPr lang="en-US" sz="900" dirty="0"/>
          </a:p>
        </p:txBody>
      </p:sp>
      <p:sp>
        <p:nvSpPr>
          <p:cNvPr id="16" name="Text 13"/>
          <p:cNvSpPr/>
          <p:nvPr/>
        </p:nvSpPr>
        <p:spPr>
          <a:xfrm>
            <a:off x="1000125" y="2728857"/>
            <a:ext cx="3400425" cy="320018"/>
          </a:xfrm>
          <a:prstGeom prst="rect">
            <a:avLst/>
          </a:prstGeom>
          <a:noFill/>
          <a:ln/>
        </p:spPr>
        <p:txBody>
          <a:bodyPr wrap="square" lIns="0" tIns="0" rIns="0" bIns="0" rtlCol="0" anchor="t">
            <a:spAutoFit/>
          </a:bodyPr>
          <a:lstStyle/>
          <a:p>
            <a:pPr algn="l" indent="0" marL="0">
              <a:lnSpc>
                <a:spcPct val="128000"/>
              </a:lnSpc>
              <a:buNone/>
            </a:pPr>
            <a:r>
              <a:rPr lang="en-US" sz="750" dirty="0">
                <a:solidFill>
                  <a:srgbClr val="334155"/>
                </a:solidFill>
                <a:latin typeface="Inter" pitchFamily="34" charset="0"/>
                <a:ea typeface="Inter" pitchFamily="34" charset="-122"/>
                <a:cs typeface="Inter" pitchFamily="34" charset="-120"/>
              </a:rPr>
              <a:t>Implement a simple "advisor" that sends basic setpoints to PX4 in Offboard mode.</a:t>
            </a:r>
            <a:endParaRPr lang="en-US" sz="750" dirty="0"/>
          </a:p>
        </p:txBody>
      </p:sp>
      <p:sp>
        <p:nvSpPr>
          <p:cNvPr id="17" name="Shape 14"/>
          <p:cNvSpPr/>
          <p:nvPr/>
        </p:nvSpPr>
        <p:spPr>
          <a:xfrm>
            <a:off x="4743450" y="2502043"/>
            <a:ext cx="285750" cy="285750"/>
          </a:xfrm>
          <a:prstGeom prst="ellipse">
            <a:avLst/>
          </a:prstGeom>
          <a:solidFill>
            <a:srgbClr val="991B1B"/>
          </a:solidFill>
          <a:ln/>
        </p:spPr>
      </p:sp>
      <p:sp>
        <p:nvSpPr>
          <p:cNvPr id="18" name="Text 15"/>
          <p:cNvSpPr/>
          <p:nvPr/>
        </p:nvSpPr>
        <p:spPr>
          <a:xfrm>
            <a:off x="4743450" y="2502043"/>
            <a:ext cx="285750" cy="285750"/>
          </a:xfrm>
          <a:prstGeom prst="rect">
            <a:avLst/>
          </a:prstGeom>
          <a:noFill/>
          <a:ln/>
        </p:spPr>
        <p:txBody>
          <a:bodyPr wrap="none" lIns="0" tIns="0" rIns="0" bIns="0" rtlCol="0" anchor="ctr">
            <a:spAutoFit/>
          </a:bodyPr>
          <a:lstStyle/>
          <a:p>
            <a:pPr algn="ctr" indent="0" marL="0">
              <a:buNone/>
            </a:pPr>
            <a:r>
              <a:rPr lang="en-US" sz="900" b="1" dirty="0">
                <a:solidFill>
                  <a:srgbClr val="F8FAFC"/>
                </a:solidFill>
                <a:latin typeface="Playfair Display ExtraBold" pitchFamily="34" charset="0"/>
                <a:ea typeface="Playfair Display ExtraBold" pitchFamily="34" charset="-122"/>
                <a:cs typeface="Playfair Display ExtraBold" pitchFamily="34" charset="-120"/>
              </a:rPr>
              <a:t>4</a:t>
            </a:r>
            <a:endParaRPr lang="en-US" sz="900" dirty="0"/>
          </a:p>
        </p:txBody>
      </p:sp>
      <p:sp>
        <p:nvSpPr>
          <p:cNvPr id="19" name="Text 16"/>
          <p:cNvSpPr/>
          <p:nvPr/>
        </p:nvSpPr>
        <p:spPr>
          <a:xfrm>
            <a:off x="5172075" y="2530618"/>
            <a:ext cx="3400425" cy="155377"/>
          </a:xfrm>
          <a:prstGeom prst="rect">
            <a:avLst/>
          </a:prstGeom>
          <a:noFill/>
          <a:ln/>
        </p:spPr>
        <p:txBody>
          <a:bodyPr wrap="square" lIns="0" tIns="0" rIns="0" bIns="0" rtlCol="0" anchor="t">
            <a:spAutoFit/>
          </a:bodyPr>
          <a:lstStyle/>
          <a:p>
            <a:pPr algn="l" indent="0" marL="0">
              <a:buNone/>
            </a:pPr>
            <a:r>
              <a:rPr lang="en-US" sz="900" b="1" spc="1" kern="0" dirty="0">
                <a:solidFill>
                  <a:srgbClr val="0F172A"/>
                </a:solidFill>
                <a:latin typeface="Inter Bold" pitchFamily="34" charset="0"/>
                <a:ea typeface="Inter Bold" pitchFamily="34" charset="-122"/>
                <a:cs typeface="Inter Bold" pitchFamily="34" charset="-120"/>
              </a:rPr>
              <a:t>FORMALIZE DECISION LOGIC</a:t>
            </a:r>
            <a:endParaRPr lang="en-US" sz="900" dirty="0"/>
          </a:p>
        </p:txBody>
      </p:sp>
      <p:sp>
        <p:nvSpPr>
          <p:cNvPr id="20" name="Text 17"/>
          <p:cNvSpPr/>
          <p:nvPr/>
        </p:nvSpPr>
        <p:spPr>
          <a:xfrm>
            <a:off x="5172075" y="2728857"/>
            <a:ext cx="3400425" cy="320018"/>
          </a:xfrm>
          <a:prstGeom prst="rect">
            <a:avLst/>
          </a:prstGeom>
          <a:noFill/>
          <a:ln/>
        </p:spPr>
        <p:txBody>
          <a:bodyPr wrap="square" lIns="0" tIns="0" rIns="0" bIns="0" rtlCol="0" anchor="t">
            <a:spAutoFit/>
          </a:bodyPr>
          <a:lstStyle/>
          <a:p>
            <a:pPr algn="l" indent="0" marL="0">
              <a:lnSpc>
                <a:spcPct val="128000"/>
              </a:lnSpc>
              <a:buNone/>
            </a:pPr>
            <a:r>
              <a:rPr lang="en-US" sz="750" dirty="0">
                <a:solidFill>
                  <a:srgbClr val="334155"/>
                </a:solidFill>
                <a:latin typeface="Inter" pitchFamily="34" charset="0"/>
                <a:ea typeface="Inter" pitchFamily="34" charset="-122"/>
                <a:cs typeface="Inter" pitchFamily="34" charset="-120"/>
              </a:rPr>
              <a:t>Turn ground-link-loss and energy-margin frameworks into an explicit FSM/behavior tree with tuned constants.</a:t>
            </a:r>
            <a:endParaRPr lang="en-US" sz="750" dirty="0"/>
          </a:p>
        </p:txBody>
      </p:sp>
      <p:sp>
        <p:nvSpPr>
          <p:cNvPr id="21" name="Shape 18"/>
          <p:cNvSpPr/>
          <p:nvPr/>
        </p:nvSpPr>
        <p:spPr>
          <a:xfrm>
            <a:off x="571500" y="3277474"/>
            <a:ext cx="285750" cy="285750"/>
          </a:xfrm>
          <a:prstGeom prst="ellipse">
            <a:avLst/>
          </a:prstGeom>
          <a:solidFill>
            <a:srgbClr val="0F172A"/>
          </a:solidFill>
          <a:ln/>
        </p:spPr>
      </p:sp>
      <p:sp>
        <p:nvSpPr>
          <p:cNvPr id="22" name="Text 19"/>
          <p:cNvSpPr/>
          <p:nvPr/>
        </p:nvSpPr>
        <p:spPr>
          <a:xfrm>
            <a:off x="571500" y="3277474"/>
            <a:ext cx="285750" cy="285750"/>
          </a:xfrm>
          <a:prstGeom prst="rect">
            <a:avLst/>
          </a:prstGeom>
          <a:noFill/>
          <a:ln/>
        </p:spPr>
        <p:txBody>
          <a:bodyPr wrap="none" lIns="0" tIns="0" rIns="0" bIns="0" rtlCol="0" anchor="ctr">
            <a:spAutoFit/>
          </a:bodyPr>
          <a:lstStyle/>
          <a:p>
            <a:pPr algn="ctr" indent="0" marL="0">
              <a:buNone/>
            </a:pPr>
            <a:r>
              <a:rPr lang="en-US" sz="900" b="1" dirty="0">
                <a:solidFill>
                  <a:srgbClr val="F8FAFC"/>
                </a:solidFill>
                <a:latin typeface="Playfair Display ExtraBold" pitchFamily="34" charset="0"/>
                <a:ea typeface="Playfair Display ExtraBold" pitchFamily="34" charset="-122"/>
                <a:cs typeface="Playfair Display ExtraBold" pitchFamily="34" charset="-120"/>
              </a:rPr>
              <a:t>5</a:t>
            </a:r>
            <a:endParaRPr lang="en-US" sz="900" dirty="0"/>
          </a:p>
        </p:txBody>
      </p:sp>
      <p:sp>
        <p:nvSpPr>
          <p:cNvPr id="23" name="Text 20"/>
          <p:cNvSpPr/>
          <p:nvPr/>
        </p:nvSpPr>
        <p:spPr>
          <a:xfrm>
            <a:off x="1000125" y="3306049"/>
            <a:ext cx="3400425" cy="155377"/>
          </a:xfrm>
          <a:prstGeom prst="rect">
            <a:avLst/>
          </a:prstGeom>
          <a:noFill/>
          <a:ln/>
        </p:spPr>
        <p:txBody>
          <a:bodyPr wrap="square" lIns="0" tIns="0" rIns="0" bIns="0" rtlCol="0" anchor="t">
            <a:spAutoFit/>
          </a:bodyPr>
          <a:lstStyle/>
          <a:p>
            <a:pPr algn="l" indent="0" marL="0">
              <a:buNone/>
            </a:pPr>
            <a:r>
              <a:rPr lang="en-US" sz="900" b="1" spc="1" kern="0" dirty="0">
                <a:solidFill>
                  <a:srgbClr val="0F172A"/>
                </a:solidFill>
                <a:latin typeface="Inter Bold" pitchFamily="34" charset="0"/>
                <a:ea typeface="Inter Bold" pitchFamily="34" charset="-122"/>
                <a:cs typeface="Inter Bold" pitchFamily="34" charset="-120"/>
              </a:rPr>
              <a:t>AI TRAINING</a:t>
            </a:r>
            <a:endParaRPr lang="en-US" sz="900" dirty="0"/>
          </a:p>
        </p:txBody>
      </p:sp>
      <p:sp>
        <p:nvSpPr>
          <p:cNvPr id="24" name="Text 21"/>
          <p:cNvSpPr/>
          <p:nvPr/>
        </p:nvSpPr>
        <p:spPr>
          <a:xfrm>
            <a:off x="1000125" y="3504288"/>
            <a:ext cx="3400425" cy="320018"/>
          </a:xfrm>
          <a:prstGeom prst="rect">
            <a:avLst/>
          </a:prstGeom>
          <a:noFill/>
          <a:ln/>
        </p:spPr>
        <p:txBody>
          <a:bodyPr wrap="square" lIns="0" tIns="0" rIns="0" bIns="0" rtlCol="0" anchor="t">
            <a:spAutoFit/>
          </a:bodyPr>
          <a:lstStyle/>
          <a:p>
            <a:pPr algn="l" indent="0" marL="0">
              <a:lnSpc>
                <a:spcPct val="128000"/>
              </a:lnSpc>
              <a:buNone/>
            </a:pPr>
            <a:r>
              <a:rPr lang="en-US" sz="750" dirty="0">
                <a:solidFill>
                  <a:srgbClr val="334155"/>
                </a:solidFill>
                <a:latin typeface="Inter" pitchFamily="34" charset="0"/>
                <a:ea typeface="Inter" pitchFamily="34" charset="-122"/>
                <a:cs typeface="Inter" pitchFamily="34" charset="-120"/>
              </a:rPr>
              <a:t>Begin RL or LLM development in simulation to train the strategic advisor layer.</a:t>
            </a:r>
            <a:endParaRPr lang="en-US" sz="750" dirty="0"/>
          </a:p>
        </p:txBody>
      </p:sp>
      <p:sp>
        <p:nvSpPr>
          <p:cNvPr id="25" name="Shape 22"/>
          <p:cNvSpPr/>
          <p:nvPr/>
        </p:nvSpPr>
        <p:spPr>
          <a:xfrm>
            <a:off x="4743450" y="3277474"/>
            <a:ext cx="285750" cy="285750"/>
          </a:xfrm>
          <a:prstGeom prst="ellipse">
            <a:avLst/>
          </a:prstGeom>
          <a:solidFill>
            <a:srgbClr val="991B1B"/>
          </a:solidFill>
          <a:ln/>
        </p:spPr>
      </p:sp>
      <p:sp>
        <p:nvSpPr>
          <p:cNvPr id="26" name="Text 23"/>
          <p:cNvSpPr/>
          <p:nvPr/>
        </p:nvSpPr>
        <p:spPr>
          <a:xfrm>
            <a:off x="4743450" y="3277474"/>
            <a:ext cx="285750" cy="285750"/>
          </a:xfrm>
          <a:prstGeom prst="rect">
            <a:avLst/>
          </a:prstGeom>
          <a:noFill/>
          <a:ln/>
        </p:spPr>
        <p:txBody>
          <a:bodyPr wrap="none" lIns="0" tIns="0" rIns="0" bIns="0" rtlCol="0" anchor="ctr">
            <a:spAutoFit/>
          </a:bodyPr>
          <a:lstStyle/>
          <a:p>
            <a:pPr algn="ctr" indent="0" marL="0">
              <a:buNone/>
            </a:pPr>
            <a:r>
              <a:rPr lang="en-US" sz="900" b="1" dirty="0">
                <a:solidFill>
                  <a:srgbClr val="F8FAFC"/>
                </a:solidFill>
                <a:latin typeface="Playfair Display ExtraBold" pitchFamily="34" charset="0"/>
                <a:ea typeface="Playfair Display ExtraBold" pitchFamily="34" charset="-122"/>
                <a:cs typeface="Playfair Display ExtraBold" pitchFamily="34" charset="-120"/>
              </a:rPr>
              <a:t>6</a:t>
            </a:r>
            <a:endParaRPr lang="en-US" sz="900" dirty="0"/>
          </a:p>
        </p:txBody>
      </p:sp>
      <p:sp>
        <p:nvSpPr>
          <p:cNvPr id="27" name="Text 24"/>
          <p:cNvSpPr/>
          <p:nvPr/>
        </p:nvSpPr>
        <p:spPr>
          <a:xfrm>
            <a:off x="5172075" y="3306049"/>
            <a:ext cx="3400425" cy="155377"/>
          </a:xfrm>
          <a:prstGeom prst="rect">
            <a:avLst/>
          </a:prstGeom>
          <a:noFill/>
          <a:ln/>
        </p:spPr>
        <p:txBody>
          <a:bodyPr wrap="square" lIns="0" tIns="0" rIns="0" bIns="0" rtlCol="0" anchor="t">
            <a:spAutoFit/>
          </a:bodyPr>
          <a:lstStyle/>
          <a:p>
            <a:pPr algn="l" indent="0" marL="0">
              <a:buNone/>
            </a:pPr>
            <a:r>
              <a:rPr lang="en-US" sz="900" b="1" spc="1" kern="0" dirty="0">
                <a:solidFill>
                  <a:srgbClr val="0F172A"/>
                </a:solidFill>
                <a:latin typeface="Inter Bold" pitchFamily="34" charset="0"/>
                <a:ea typeface="Inter Bold" pitchFamily="34" charset="-122"/>
                <a:cs typeface="Inter Bold" pitchFamily="34" charset="-120"/>
              </a:rPr>
              <a:t>SAFETY TESTING</a:t>
            </a:r>
            <a:endParaRPr lang="en-US" sz="900" dirty="0"/>
          </a:p>
        </p:txBody>
      </p:sp>
      <p:sp>
        <p:nvSpPr>
          <p:cNvPr id="28" name="Text 25"/>
          <p:cNvSpPr/>
          <p:nvPr/>
        </p:nvSpPr>
        <p:spPr>
          <a:xfrm>
            <a:off x="5172075" y="3504288"/>
            <a:ext cx="3400425" cy="320018"/>
          </a:xfrm>
          <a:prstGeom prst="rect">
            <a:avLst/>
          </a:prstGeom>
          <a:noFill/>
          <a:ln/>
        </p:spPr>
        <p:txBody>
          <a:bodyPr wrap="square" lIns="0" tIns="0" rIns="0" bIns="0" rtlCol="0" anchor="t">
            <a:spAutoFit/>
          </a:bodyPr>
          <a:lstStyle/>
          <a:p>
            <a:pPr algn="l" indent="0" marL="0">
              <a:lnSpc>
                <a:spcPct val="128000"/>
              </a:lnSpc>
              <a:buNone/>
            </a:pPr>
            <a:r>
              <a:rPr lang="en-US" sz="750" dirty="0">
                <a:solidFill>
                  <a:srgbClr val="334155"/>
                </a:solidFill>
                <a:latin typeface="Inter" pitchFamily="34" charset="0"/>
                <a:ea typeface="Inter" pitchFamily="34" charset="-122"/>
                <a:cs typeface="Inter" pitchFamily="34" charset="-120"/>
              </a:rPr>
              <a:t>Validate failsafe mechanisms, including ground-link-loss and energy-margin scenarios from the design frameworks.</a:t>
            </a:r>
            <a:endParaRPr lang="en-US" sz="7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571500" y="342900"/>
            <a:ext cx="8001000" cy="360759"/>
          </a:xfrm>
          <a:prstGeom prst="rect">
            <a:avLst/>
          </a:prstGeom>
          <a:noFill/>
          <a:ln/>
        </p:spPr>
        <p:txBody>
          <a:bodyPr wrap="square" lIns="0" tIns="0" rIns="0" bIns="0" rtlCol="0" anchor="t">
            <a:spAutoFit/>
          </a:bodyPr>
          <a:lstStyle/>
          <a:p>
            <a:pPr algn="l" indent="0" marL="0">
              <a:buNone/>
            </a:pPr>
            <a:r>
              <a:rPr lang="en-US" sz="1900" b="1" dirty="0">
                <a:solidFill>
                  <a:srgbClr val="0F172A"/>
                </a:solidFill>
                <a:latin typeface="Playfair Display ExtraBold" pitchFamily="34" charset="0"/>
                <a:ea typeface="Playfair Display ExtraBold" pitchFamily="34" charset="-122"/>
                <a:cs typeface="Playfair Display ExtraBold" pitchFamily="34" charset="-120"/>
              </a:rPr>
              <a:t>Key Takeaways and Conclusion</a:t>
            </a:r>
            <a:endParaRPr lang="en-US" sz="1900" dirty="0"/>
          </a:p>
        </p:txBody>
      </p:sp>
      <p:sp>
        <p:nvSpPr>
          <p:cNvPr id="4" name="Shape 1"/>
          <p:cNvSpPr/>
          <p:nvPr/>
        </p:nvSpPr>
        <p:spPr>
          <a:xfrm>
            <a:off x="571500" y="1132284"/>
            <a:ext cx="200025" cy="200025"/>
          </a:xfrm>
          <a:prstGeom prst="ellipse">
            <a:avLst/>
          </a:prstGeom>
          <a:solidFill>
            <a:srgbClr val="991B1B"/>
          </a:solidFill>
          <a:ln/>
        </p:spPr>
      </p:sp>
      <p:pic>
        <p:nvPicPr>
          <p:cNvPr id="5" name="Image 1" descr="preencoded.png">    </p:cNvPr>
          <p:cNvPicPr>
            <a:picLocks noChangeAspect="1"/>
          </p:cNvPicPr>
          <p:nvPr/>
        </p:nvPicPr>
        <p:blipFill>
          <a:blip r:embed="rId2"/>
          <a:stretch>
            <a:fillRect/>
          </a:stretch>
        </p:blipFill>
        <p:spPr>
          <a:xfrm>
            <a:off x="614363" y="1175147"/>
            <a:ext cx="114300" cy="114300"/>
          </a:xfrm>
          <a:prstGeom prst="rect">
            <a:avLst/>
          </a:prstGeom>
        </p:spPr>
      </p:pic>
      <p:sp>
        <p:nvSpPr>
          <p:cNvPr id="6" name="Text 2"/>
          <p:cNvSpPr/>
          <p:nvPr/>
        </p:nvSpPr>
        <p:spPr>
          <a:xfrm>
            <a:off x="914400" y="1103709"/>
            <a:ext cx="3869066" cy="155377"/>
          </a:xfrm>
          <a:prstGeom prst="rect">
            <a:avLst/>
          </a:prstGeom>
          <a:noFill/>
          <a:ln/>
        </p:spPr>
        <p:txBody>
          <a:bodyPr wrap="square" lIns="0" tIns="0" rIns="0" bIns="0" rtlCol="0" anchor="t">
            <a:spAutoFit/>
          </a:bodyPr>
          <a:lstStyle/>
          <a:p>
            <a:pPr algn="l" indent="0" marL="0">
              <a:buNone/>
            </a:pPr>
            <a:r>
              <a:rPr lang="en-US" sz="900" b="1" dirty="0">
                <a:solidFill>
                  <a:srgbClr val="0F172A"/>
                </a:solidFill>
                <a:latin typeface="Inter Bold" pitchFamily="34" charset="0"/>
                <a:ea typeface="Inter Bold" pitchFamily="34" charset="-122"/>
                <a:cs typeface="Inter Bold" pitchFamily="34" charset="-120"/>
              </a:rPr>
              <a:t>Clear Separation of Concerns</a:t>
            </a:r>
            <a:endParaRPr lang="en-US" sz="900" dirty="0"/>
          </a:p>
        </p:txBody>
      </p:sp>
      <p:sp>
        <p:nvSpPr>
          <p:cNvPr id="7" name="Text 3"/>
          <p:cNvSpPr/>
          <p:nvPr/>
        </p:nvSpPr>
        <p:spPr>
          <a:xfrm>
            <a:off x="914400" y="1301948"/>
            <a:ext cx="3869066" cy="321469"/>
          </a:xfrm>
          <a:prstGeom prst="rect">
            <a:avLst/>
          </a:prstGeom>
          <a:noFill/>
          <a:ln/>
        </p:spPr>
        <p:txBody>
          <a:bodyPr wrap="square" lIns="0" tIns="0" rIns="0" bIns="0" rtlCol="0" anchor="t">
            <a:spAutoFit/>
          </a:bodyPr>
          <a:lstStyle/>
          <a:p>
            <a:pPr algn="l" indent="0" marL="0">
              <a:lnSpc>
                <a:spcPct val="120000"/>
              </a:lnSpc>
              <a:buNone/>
            </a:pPr>
            <a:r>
              <a:rPr lang="en-US" sz="800" dirty="0">
                <a:solidFill>
                  <a:srgbClr val="334155"/>
                </a:solidFill>
                <a:latin typeface="Inter" pitchFamily="34" charset="0"/>
                <a:ea typeface="Inter" pitchFamily="34" charset="-122"/>
                <a:cs typeface="Inter" pitchFamily="34" charset="-120"/>
              </a:rPr>
              <a:t>AI advises, PX4 executes — safety is never compromised by experimental logic.</a:t>
            </a:r>
            <a:endParaRPr lang="en-US" sz="800" dirty="0"/>
          </a:p>
        </p:txBody>
      </p:sp>
      <p:sp>
        <p:nvSpPr>
          <p:cNvPr id="8" name="Shape 4"/>
          <p:cNvSpPr/>
          <p:nvPr/>
        </p:nvSpPr>
        <p:spPr>
          <a:xfrm>
            <a:off x="571500" y="1852017"/>
            <a:ext cx="200025" cy="200025"/>
          </a:xfrm>
          <a:prstGeom prst="ellipse">
            <a:avLst/>
          </a:prstGeom>
          <a:solidFill>
            <a:srgbClr val="991B1B"/>
          </a:solidFill>
          <a:ln/>
        </p:spPr>
      </p:sp>
      <p:pic>
        <p:nvPicPr>
          <p:cNvPr id="9" name="Image 2" descr="preencoded.png">    </p:cNvPr>
          <p:cNvPicPr>
            <a:picLocks noChangeAspect="1"/>
          </p:cNvPicPr>
          <p:nvPr/>
        </p:nvPicPr>
        <p:blipFill>
          <a:blip r:embed="rId3"/>
          <a:stretch>
            <a:fillRect/>
          </a:stretch>
        </p:blipFill>
        <p:spPr>
          <a:xfrm>
            <a:off x="614363" y="1894880"/>
            <a:ext cx="114300" cy="114300"/>
          </a:xfrm>
          <a:prstGeom prst="rect">
            <a:avLst/>
          </a:prstGeom>
        </p:spPr>
      </p:pic>
      <p:sp>
        <p:nvSpPr>
          <p:cNvPr id="10" name="Text 5"/>
          <p:cNvSpPr/>
          <p:nvPr/>
        </p:nvSpPr>
        <p:spPr>
          <a:xfrm>
            <a:off x="914400" y="1823442"/>
            <a:ext cx="3869066" cy="155377"/>
          </a:xfrm>
          <a:prstGeom prst="rect">
            <a:avLst/>
          </a:prstGeom>
          <a:noFill/>
          <a:ln/>
        </p:spPr>
        <p:txBody>
          <a:bodyPr wrap="square" lIns="0" tIns="0" rIns="0" bIns="0" rtlCol="0" anchor="t">
            <a:spAutoFit/>
          </a:bodyPr>
          <a:lstStyle/>
          <a:p>
            <a:pPr algn="l" indent="0" marL="0">
              <a:buNone/>
            </a:pPr>
            <a:r>
              <a:rPr lang="en-US" sz="900" b="1" dirty="0">
                <a:solidFill>
                  <a:srgbClr val="0F172A"/>
                </a:solidFill>
                <a:latin typeface="Inter Bold" pitchFamily="34" charset="0"/>
                <a:ea typeface="Inter Bold" pitchFamily="34" charset="-122"/>
                <a:cs typeface="Inter Bold" pitchFamily="34" charset="-120"/>
              </a:rPr>
              <a:t>Formal Decision Frameworks</a:t>
            </a:r>
            <a:endParaRPr lang="en-US" sz="900" dirty="0"/>
          </a:p>
        </p:txBody>
      </p:sp>
      <p:sp>
        <p:nvSpPr>
          <p:cNvPr id="11" name="Text 6"/>
          <p:cNvSpPr/>
          <p:nvPr/>
        </p:nvSpPr>
        <p:spPr>
          <a:xfrm>
            <a:off x="914400" y="2021681"/>
            <a:ext cx="3869066" cy="321469"/>
          </a:xfrm>
          <a:prstGeom prst="rect">
            <a:avLst/>
          </a:prstGeom>
          <a:noFill/>
          <a:ln/>
        </p:spPr>
        <p:txBody>
          <a:bodyPr wrap="square" lIns="0" tIns="0" rIns="0" bIns="0" rtlCol="0" anchor="t">
            <a:spAutoFit/>
          </a:bodyPr>
          <a:lstStyle/>
          <a:p>
            <a:pPr algn="l" indent="0" marL="0">
              <a:lnSpc>
                <a:spcPct val="120000"/>
              </a:lnSpc>
              <a:buNone/>
            </a:pPr>
            <a:r>
              <a:rPr lang="en-US" sz="800" dirty="0">
                <a:solidFill>
                  <a:srgbClr val="334155"/>
                </a:solidFill>
                <a:latin typeface="Inter" pitchFamily="34" charset="0"/>
                <a:ea typeface="Inter" pitchFamily="34" charset="-122"/>
                <a:cs typeface="Inter" pitchFamily="34" charset="-120"/>
              </a:rPr>
              <a:t>Ground-link-loss behavior and energy-margin (Work Index) provide structured autonomous judgment.</a:t>
            </a:r>
            <a:endParaRPr lang="en-US" sz="800" dirty="0"/>
          </a:p>
        </p:txBody>
      </p:sp>
      <p:sp>
        <p:nvSpPr>
          <p:cNvPr id="12" name="Shape 7"/>
          <p:cNvSpPr/>
          <p:nvPr/>
        </p:nvSpPr>
        <p:spPr>
          <a:xfrm>
            <a:off x="571500" y="2571750"/>
            <a:ext cx="200025" cy="200025"/>
          </a:xfrm>
          <a:prstGeom prst="ellipse">
            <a:avLst/>
          </a:prstGeom>
          <a:solidFill>
            <a:srgbClr val="991B1B"/>
          </a:solidFill>
          <a:ln/>
        </p:spPr>
      </p:sp>
      <p:pic>
        <p:nvPicPr>
          <p:cNvPr id="13" name="Image 3" descr="preencoded.png">    </p:cNvPr>
          <p:cNvPicPr>
            <a:picLocks noChangeAspect="1"/>
          </p:cNvPicPr>
          <p:nvPr/>
        </p:nvPicPr>
        <p:blipFill>
          <a:blip r:embed="rId4"/>
          <a:stretch>
            <a:fillRect/>
          </a:stretch>
        </p:blipFill>
        <p:spPr>
          <a:xfrm>
            <a:off x="614363" y="2614613"/>
            <a:ext cx="114300" cy="114300"/>
          </a:xfrm>
          <a:prstGeom prst="rect">
            <a:avLst/>
          </a:prstGeom>
        </p:spPr>
      </p:pic>
      <p:sp>
        <p:nvSpPr>
          <p:cNvPr id="14" name="Text 8"/>
          <p:cNvSpPr/>
          <p:nvPr/>
        </p:nvSpPr>
        <p:spPr>
          <a:xfrm>
            <a:off x="914400" y="2543175"/>
            <a:ext cx="3869066" cy="155377"/>
          </a:xfrm>
          <a:prstGeom prst="rect">
            <a:avLst/>
          </a:prstGeom>
          <a:noFill/>
          <a:ln/>
        </p:spPr>
        <p:txBody>
          <a:bodyPr wrap="square" lIns="0" tIns="0" rIns="0" bIns="0" rtlCol="0" anchor="t">
            <a:spAutoFit/>
          </a:bodyPr>
          <a:lstStyle/>
          <a:p>
            <a:pPr algn="l" indent="0" marL="0">
              <a:buNone/>
            </a:pPr>
            <a:r>
              <a:rPr lang="en-US" sz="900" b="1" dirty="0">
                <a:solidFill>
                  <a:srgbClr val="0F172A"/>
                </a:solidFill>
                <a:latin typeface="Inter Bold" pitchFamily="34" charset="0"/>
                <a:ea typeface="Inter Bold" pitchFamily="34" charset="-122"/>
                <a:cs typeface="Inter Bold" pitchFamily="34" charset="-120"/>
              </a:rPr>
              <a:t>Graduated Failure Handling</a:t>
            </a:r>
            <a:endParaRPr lang="en-US" sz="900" dirty="0"/>
          </a:p>
        </p:txBody>
      </p:sp>
      <p:sp>
        <p:nvSpPr>
          <p:cNvPr id="15" name="Text 9"/>
          <p:cNvSpPr/>
          <p:nvPr/>
        </p:nvSpPr>
        <p:spPr>
          <a:xfrm>
            <a:off x="914400" y="2741414"/>
            <a:ext cx="3869066" cy="321469"/>
          </a:xfrm>
          <a:prstGeom prst="rect">
            <a:avLst/>
          </a:prstGeom>
          <a:noFill/>
          <a:ln/>
        </p:spPr>
        <p:txBody>
          <a:bodyPr wrap="square" lIns="0" tIns="0" rIns="0" bIns="0" rtlCol="0" anchor="t">
            <a:spAutoFit/>
          </a:bodyPr>
          <a:lstStyle/>
          <a:p>
            <a:pPr algn="l" indent="0" marL="0">
              <a:lnSpc>
                <a:spcPct val="120000"/>
              </a:lnSpc>
              <a:buNone/>
            </a:pPr>
            <a:r>
              <a:rPr lang="en-US" sz="800" dirty="0">
                <a:solidFill>
                  <a:srgbClr val="334155"/>
                </a:solidFill>
                <a:latin typeface="Inter" pitchFamily="34" charset="0"/>
                <a:ea typeface="Inter" pitchFamily="34" charset="-122"/>
                <a:cs typeface="Inter" pitchFamily="34" charset="-120"/>
              </a:rPr>
              <a:t>Three independent communication links with appropriate, distinct fallback behavior for each.</a:t>
            </a:r>
            <a:endParaRPr lang="en-US" sz="800" dirty="0"/>
          </a:p>
        </p:txBody>
      </p:sp>
      <p:sp>
        <p:nvSpPr>
          <p:cNvPr id="16" name="Shape 10"/>
          <p:cNvSpPr/>
          <p:nvPr/>
        </p:nvSpPr>
        <p:spPr>
          <a:xfrm>
            <a:off x="571500" y="3291483"/>
            <a:ext cx="200025" cy="200025"/>
          </a:xfrm>
          <a:prstGeom prst="ellipse">
            <a:avLst/>
          </a:prstGeom>
          <a:solidFill>
            <a:srgbClr val="991B1B"/>
          </a:solidFill>
          <a:ln/>
        </p:spPr>
      </p:sp>
      <p:pic>
        <p:nvPicPr>
          <p:cNvPr id="17" name="Image 4" descr="preencoded.png">    </p:cNvPr>
          <p:cNvPicPr>
            <a:picLocks noChangeAspect="1"/>
          </p:cNvPicPr>
          <p:nvPr/>
        </p:nvPicPr>
        <p:blipFill>
          <a:blip r:embed="rId5"/>
          <a:stretch>
            <a:fillRect/>
          </a:stretch>
        </p:blipFill>
        <p:spPr>
          <a:xfrm>
            <a:off x="614363" y="3334345"/>
            <a:ext cx="114300" cy="114300"/>
          </a:xfrm>
          <a:prstGeom prst="rect">
            <a:avLst/>
          </a:prstGeom>
        </p:spPr>
      </p:pic>
      <p:sp>
        <p:nvSpPr>
          <p:cNvPr id="18" name="Text 11"/>
          <p:cNvSpPr/>
          <p:nvPr/>
        </p:nvSpPr>
        <p:spPr>
          <a:xfrm>
            <a:off x="914400" y="3262908"/>
            <a:ext cx="3869066" cy="155377"/>
          </a:xfrm>
          <a:prstGeom prst="rect">
            <a:avLst/>
          </a:prstGeom>
          <a:noFill/>
          <a:ln/>
        </p:spPr>
        <p:txBody>
          <a:bodyPr wrap="square" lIns="0" tIns="0" rIns="0" bIns="0" rtlCol="0" anchor="t">
            <a:spAutoFit/>
          </a:bodyPr>
          <a:lstStyle/>
          <a:p>
            <a:pPr algn="l" indent="0" marL="0">
              <a:buNone/>
            </a:pPr>
            <a:r>
              <a:rPr lang="en-US" sz="900" b="1" dirty="0">
                <a:solidFill>
                  <a:srgbClr val="0F172A"/>
                </a:solidFill>
                <a:latin typeface="Inter Bold" pitchFamily="34" charset="0"/>
                <a:ea typeface="Inter Bold" pitchFamily="34" charset="-122"/>
                <a:cs typeface="Inter Bold" pitchFamily="34" charset="-120"/>
              </a:rPr>
              <a:t>Progressive Development Path</a:t>
            </a:r>
            <a:endParaRPr lang="en-US" sz="900" dirty="0"/>
          </a:p>
        </p:txBody>
      </p:sp>
      <p:sp>
        <p:nvSpPr>
          <p:cNvPr id="19" name="Text 12"/>
          <p:cNvSpPr/>
          <p:nvPr/>
        </p:nvSpPr>
        <p:spPr>
          <a:xfrm>
            <a:off x="914400" y="3461147"/>
            <a:ext cx="3869066" cy="321469"/>
          </a:xfrm>
          <a:prstGeom prst="rect">
            <a:avLst/>
          </a:prstGeom>
          <a:noFill/>
          <a:ln/>
        </p:spPr>
        <p:txBody>
          <a:bodyPr wrap="square" lIns="0" tIns="0" rIns="0" bIns="0" rtlCol="0" anchor="t">
            <a:spAutoFit/>
          </a:bodyPr>
          <a:lstStyle/>
          <a:p>
            <a:pPr algn="l" indent="0" marL="0">
              <a:lnSpc>
                <a:spcPct val="120000"/>
              </a:lnSpc>
              <a:buNone/>
            </a:pPr>
            <a:r>
              <a:rPr lang="en-US" sz="800" dirty="0">
                <a:solidFill>
                  <a:srgbClr val="334155"/>
                </a:solidFill>
                <a:latin typeface="Inter" pitchFamily="34" charset="0"/>
                <a:ea typeface="Inter" pitchFamily="34" charset="-122"/>
                <a:cs typeface="Inter" pitchFamily="34" charset="-120"/>
              </a:rPr>
              <a:t>A rigorous five-stage pipeline from simulation through supervised flight to full autonomy.</a:t>
            </a:r>
            <a:endParaRPr lang="en-US" sz="800" dirty="0"/>
          </a:p>
        </p:txBody>
      </p:sp>
      <p:sp>
        <p:nvSpPr>
          <p:cNvPr id="20" name="Shape 13"/>
          <p:cNvSpPr/>
          <p:nvPr/>
        </p:nvSpPr>
        <p:spPr>
          <a:xfrm>
            <a:off x="571500" y="4011216"/>
            <a:ext cx="200025" cy="200025"/>
          </a:xfrm>
          <a:prstGeom prst="ellipse">
            <a:avLst/>
          </a:prstGeom>
          <a:solidFill>
            <a:srgbClr val="991B1B"/>
          </a:solidFill>
          <a:ln/>
        </p:spPr>
      </p:sp>
      <p:pic>
        <p:nvPicPr>
          <p:cNvPr id="21" name="Image 5" descr="preencoded.png">    </p:cNvPr>
          <p:cNvPicPr>
            <a:picLocks noChangeAspect="1"/>
          </p:cNvPicPr>
          <p:nvPr/>
        </p:nvPicPr>
        <p:blipFill>
          <a:blip r:embed="rId6"/>
          <a:stretch>
            <a:fillRect/>
          </a:stretch>
        </p:blipFill>
        <p:spPr>
          <a:xfrm>
            <a:off x="614363" y="4054078"/>
            <a:ext cx="114300" cy="114300"/>
          </a:xfrm>
          <a:prstGeom prst="rect">
            <a:avLst/>
          </a:prstGeom>
        </p:spPr>
      </p:pic>
      <p:sp>
        <p:nvSpPr>
          <p:cNvPr id="22" name="Text 14"/>
          <p:cNvSpPr/>
          <p:nvPr/>
        </p:nvSpPr>
        <p:spPr>
          <a:xfrm>
            <a:off x="914400" y="3982641"/>
            <a:ext cx="3869066" cy="155377"/>
          </a:xfrm>
          <a:prstGeom prst="rect">
            <a:avLst/>
          </a:prstGeom>
          <a:noFill/>
          <a:ln/>
        </p:spPr>
        <p:txBody>
          <a:bodyPr wrap="square" lIns="0" tIns="0" rIns="0" bIns="0" rtlCol="0" anchor="t">
            <a:spAutoFit/>
          </a:bodyPr>
          <a:lstStyle/>
          <a:p>
            <a:pPr algn="l" indent="0" marL="0">
              <a:buNone/>
            </a:pPr>
            <a:r>
              <a:rPr lang="en-US" sz="900" b="1" dirty="0">
                <a:solidFill>
                  <a:srgbClr val="0F172A"/>
                </a:solidFill>
                <a:latin typeface="Inter Bold" pitchFamily="34" charset="0"/>
                <a:ea typeface="Inter Bold" pitchFamily="34" charset="-122"/>
                <a:cs typeface="Inter Bold" pitchFamily="34" charset="-120"/>
              </a:rPr>
              <a:t>Research-to-Production Transition</a:t>
            </a:r>
            <a:endParaRPr lang="en-US" sz="900" dirty="0"/>
          </a:p>
        </p:txBody>
      </p:sp>
      <p:sp>
        <p:nvSpPr>
          <p:cNvPr id="23" name="Text 15"/>
          <p:cNvSpPr/>
          <p:nvPr/>
        </p:nvSpPr>
        <p:spPr>
          <a:xfrm>
            <a:off x="914400" y="4180880"/>
            <a:ext cx="3869066" cy="321469"/>
          </a:xfrm>
          <a:prstGeom prst="rect">
            <a:avLst/>
          </a:prstGeom>
          <a:noFill/>
          <a:ln/>
        </p:spPr>
        <p:txBody>
          <a:bodyPr wrap="square" lIns="0" tIns="0" rIns="0" bIns="0" rtlCol="0" anchor="t">
            <a:spAutoFit/>
          </a:bodyPr>
          <a:lstStyle/>
          <a:p>
            <a:pPr algn="l" indent="0" marL="0">
              <a:lnSpc>
                <a:spcPct val="120000"/>
              </a:lnSpc>
              <a:buNone/>
            </a:pPr>
            <a:r>
              <a:rPr lang="en-US" sz="800" dirty="0">
                <a:solidFill>
                  <a:srgbClr val="334155"/>
                </a:solidFill>
                <a:latin typeface="Inter" pitchFamily="34" charset="0"/>
                <a:ea typeface="Inter" pitchFamily="34" charset="-122"/>
                <a:cs typeface="Inter" pitchFamily="34" charset="-120"/>
              </a:rPr>
              <a:t>The architecture scales from experimentation to certified deployment without compromising safety boundaries.</a:t>
            </a:r>
            <a:endParaRPr lang="en-US" sz="800" dirty="0"/>
          </a:p>
        </p:txBody>
      </p:sp>
      <p:sp>
        <p:nvSpPr>
          <p:cNvPr id="24" name="Shape 16"/>
          <p:cNvSpPr/>
          <p:nvPr/>
        </p:nvSpPr>
        <p:spPr>
          <a:xfrm>
            <a:off x="5126366" y="1739392"/>
            <a:ext cx="3446134" cy="2127275"/>
          </a:xfrm>
          <a:prstGeom prst="rect">
            <a:avLst/>
          </a:prstGeom>
          <a:solidFill>
            <a:srgbClr val="0F172A"/>
          </a:solidFill>
          <a:ln/>
        </p:spPr>
      </p:sp>
      <p:sp>
        <p:nvSpPr>
          <p:cNvPr id="25" name="Shape 17"/>
          <p:cNvSpPr/>
          <p:nvPr/>
        </p:nvSpPr>
        <p:spPr>
          <a:xfrm>
            <a:off x="5126366" y="1739392"/>
            <a:ext cx="3446134" cy="28575"/>
          </a:xfrm>
          <a:prstGeom prst="rect">
            <a:avLst/>
          </a:prstGeom>
          <a:solidFill>
            <a:srgbClr val="991B1B"/>
          </a:solidFill>
          <a:ln/>
        </p:spPr>
      </p:sp>
      <p:sp>
        <p:nvSpPr>
          <p:cNvPr id="26" name="Text 18"/>
          <p:cNvSpPr/>
          <p:nvPr/>
        </p:nvSpPr>
        <p:spPr>
          <a:xfrm>
            <a:off x="5412116" y="2039429"/>
            <a:ext cx="2874634" cy="1234306"/>
          </a:xfrm>
          <a:prstGeom prst="rect">
            <a:avLst/>
          </a:prstGeom>
          <a:noFill/>
          <a:ln/>
        </p:spPr>
        <p:txBody>
          <a:bodyPr wrap="square" lIns="0" tIns="0" rIns="0" bIns="0" rtlCol="0" anchor="t">
            <a:spAutoFit/>
          </a:bodyPr>
          <a:lstStyle/>
          <a:p>
            <a:pPr algn="ctr" indent="0" marL="0">
              <a:lnSpc>
                <a:spcPct val="128000"/>
              </a:lnSpc>
              <a:buNone/>
            </a:pPr>
            <a:r>
              <a:rPr lang="en-US" sz="950" dirty="0">
                <a:solidFill>
                  <a:srgbClr val="F8FAFC"/>
                </a:solidFill>
                <a:latin typeface="Inter" pitchFamily="34" charset="0"/>
                <a:ea typeface="Inter" pitchFamily="34" charset="-122"/>
                <a:cs typeface="Inter" pitchFamily="34" charset="-120"/>
              </a:rPr>
              <a:t>This document serves as the formal </a:t>
            </a:r>
            <a:r>
              <a:rPr lang="en-US" sz="950" dirty="0">
                <a:solidFill>
                  <a:srgbClr val="F8FAFC"/>
                </a:solidFill>
                <a:latin typeface="Inter" pitchFamily="34" charset="0"/>
                <a:ea typeface="Inter" pitchFamily="34" charset="-122"/>
                <a:cs typeface="Inter" pitchFamily="34" charset="-120"/>
              </a:rPr>
              <a:t>specification for the </a:t>
            </a:r>
            <a:r>
              <a:rPr lang="en-US" sz="900" b="1" dirty="0">
                <a:solidFill>
                  <a:srgbClr val="991B1B"/>
                </a:solidFill>
                <a:latin typeface="Inter Bold" pitchFamily="34" charset="0"/>
                <a:ea typeface="Inter Bold" pitchFamily="34" charset="-122"/>
                <a:cs typeface="Inter Bold" pitchFamily="34" charset="-120"/>
              </a:rPr>
              <a:t>Agere project's</a:t>
            </a:r>
            <a:r>
              <a:rPr lang="en-US" sz="950" dirty="0">
                <a:solidFill>
                  <a:srgbClr val="F8FAFC"/>
                </a:solidFill>
                <a:latin typeface="Inter" pitchFamily="34" charset="0"/>
                <a:ea typeface="Inter" pitchFamily="34" charset="-122"/>
                <a:cs typeface="Inter" pitchFamily="34" charset="-120"/>
              </a:rPr>
              <a:t> AI </a:t>
            </a:r>
            <a:r>
              <a:rPr lang="en-US" sz="950" dirty="0">
                <a:solidFill>
                  <a:srgbClr val="F8FAFC"/>
                </a:solidFill>
                <a:latin typeface="Inter" pitchFamily="34" charset="0"/>
                <a:ea typeface="Inter" pitchFamily="34" charset="-122"/>
                <a:cs typeface="Inter" pitchFamily="34" charset="-120"/>
              </a:rPr>
              <a:t>integration model, establishing the </a:t>
            </a:r>
            <a:r>
              <a:rPr lang="en-US" sz="950" dirty="0">
                <a:solidFill>
                  <a:srgbClr val="F8FAFC"/>
                </a:solidFill>
                <a:latin typeface="Inter" pitchFamily="34" charset="0"/>
                <a:ea typeface="Inter" pitchFamily="34" charset="-122"/>
                <a:cs typeface="Inter" pitchFamily="34" charset="-120"/>
              </a:rPr>
              <a:t>architectural boundaries and decision logic </a:t>
            </a:r>
            <a:r>
              <a:rPr lang="en-US" sz="950" dirty="0">
                <a:solidFill>
                  <a:srgbClr val="F8FAFC"/>
                </a:solidFill>
                <a:latin typeface="Inter" pitchFamily="34" charset="0"/>
                <a:ea typeface="Inter" pitchFamily="34" charset="-122"/>
                <a:cs typeface="Inter" pitchFamily="34" charset="-120"/>
              </a:rPr>
              <a:t>required for safe, intelligent autonomous </a:t>
            </a:r>
            <a:r>
              <a:rPr lang="en-US" sz="950" dirty="0">
                <a:solidFill>
                  <a:srgbClr val="F8FAFC"/>
                </a:solidFill>
                <a:latin typeface="Inter" pitchFamily="34" charset="0"/>
                <a:ea typeface="Inter" pitchFamily="34" charset="-122"/>
                <a:cs typeface="Inter" pitchFamily="34" charset="-120"/>
              </a:rPr>
              <a:t>operations.</a:t>
            </a:r>
            <a:endParaRPr lang="en-US" sz="950" dirty="0"/>
          </a:p>
        </p:txBody>
      </p:sp>
      <p:sp>
        <p:nvSpPr>
          <p:cNvPr id="27" name="Text 19"/>
          <p:cNvSpPr/>
          <p:nvPr/>
        </p:nvSpPr>
        <p:spPr>
          <a:xfrm>
            <a:off x="5412116" y="3445185"/>
            <a:ext cx="2874634" cy="121444"/>
          </a:xfrm>
          <a:prstGeom prst="rect">
            <a:avLst/>
          </a:prstGeom>
          <a:noFill/>
          <a:ln/>
        </p:spPr>
        <p:txBody>
          <a:bodyPr wrap="square" lIns="0" tIns="0" rIns="0" bIns="0" rtlCol="0" anchor="t">
            <a:spAutoFit/>
          </a:bodyPr>
          <a:lstStyle/>
          <a:p>
            <a:pPr algn="ctr" indent="0" marL="0">
              <a:buNone/>
            </a:pPr>
            <a:r>
              <a:rPr lang="en-US" sz="700" b="1" spc="2" kern="0" dirty="0">
                <a:solidFill>
                  <a:srgbClr val="94A3B8"/>
                </a:solidFill>
                <a:latin typeface="Inter SemiBold" pitchFamily="34" charset="0"/>
                <a:ea typeface="Inter SemiBold" pitchFamily="34" charset="-122"/>
                <a:cs typeface="Inter SemiBold" pitchFamily="34" charset="-120"/>
              </a:rPr>
              <a:t>AGERE AUTONOMOUS NAVIGATION STACK</a:t>
            </a:r>
            <a:endParaRPr lang="en-US" sz="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2026-07-13T07:27:59Z</dcterms:created>
  <dcterms:modified xsi:type="dcterms:W3CDTF">2026-07-13T07:27:59Z</dcterms:modified>
</cp:coreProperties>
</file>