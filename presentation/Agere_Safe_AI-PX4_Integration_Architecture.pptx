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429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70177" y="1251663"/>
            <a:ext cx="603647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150" b="1" dirty="0">
                <a:solidFill>
                  <a:srgbClr val="059669">
                    <a:alpha val="2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01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1828800" y="2340192"/>
            <a:ext cx="54864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spc="2" kern="0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AGERE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828800" y="3283167"/>
            <a:ext cx="5486400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Safe Integration Architecture for AI-Driven Autonomous Flight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982516" y="4511278"/>
            <a:ext cx="31789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3415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PROJECT APPROVAL PRESENTATION | JULY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950" y="628650"/>
            <a:ext cx="53935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59669">
                    <a:alpha val="2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02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885950" y="842070"/>
            <a:ext cx="5486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" kern="0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AUTONOMY DILEMMA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85950" y="1527870"/>
            <a:ext cx="26574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SAFETY GAP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85950" y="1760041"/>
            <a:ext cx="2657475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Autonomous systems face a trade-off: advanced AI reasoning can enable better decisions but also introduces nondeterministic behavior that is risky in safety-critical systems. Human-in-the-loop rules reduce risk but limit autonomy.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14875" y="1527870"/>
            <a:ext cx="26574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RISK OF HALLUCINATION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14875" y="1760041"/>
            <a:ext cx="2657475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Direct AI control risks unpredictable failures; large models are powerful but not yet suited for hard real-time motor control. A principled middle ground keeps deterministic safety while using AI strategically.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14875" y="2910074"/>
            <a:ext cx="26574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900" b="1" i="1" dirty="0">
                <a:solidFill>
                  <a:srgbClr val="064E3B"/>
                </a:solidFill>
                <a:latin typeface="Libre Baskerville SemiBold" pitchFamily="34" charset="0"/>
                <a:ea typeface="Libre Baskerville SemiBold" pitchFamily="34" charset="-122"/>
                <a:cs typeface="Libre Baskerville SemiBold" pitchFamily="34" charset="-120"/>
              </a:rPr>
              <a:t>"Not to replace the pilot, but to provide a principled middle ground for safe autonomous judgment."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571500"/>
            <a:ext cx="548640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59669">
                    <a:alpha val="2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03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828800" y="1306413"/>
            <a:ext cx="5486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" kern="0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HIERARCHICAL ARCHITECTURE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28800" y="1849338"/>
            <a:ext cx="2393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82416" y="1977926"/>
            <a:ext cx="233957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STRATEGIC LAYER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182416" y="2177951"/>
            <a:ext cx="233957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Runs on a companion computer (Jetson). Handles high-level reasoning, LLMs, and vision models. Powerful but non-deterministic.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828800" y="2749451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28850" y="2878038"/>
            <a:ext cx="229314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TACTICAL LAYER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28850" y="3078063"/>
            <a:ext cx="22931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"Safety Enforcer." Acts as a translator and gatekeeper between AI suggestions and flight execution.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828800" y="3649563"/>
            <a:ext cx="2821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25278" y="3778151"/>
            <a:ext cx="229671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EXECUTION LAYER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25278" y="3978176"/>
            <a:ext cx="22967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PX4 on Pixhawk. Handles real-time control and failsafes. Deterministic, safety-certifiable, and the ultimate authority.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622006" y="1977926"/>
            <a:ext cx="26931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BASE GUARANTEE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22006" y="2177951"/>
            <a:ext cx="26931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architecture ensures a strict chain of command. All 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communication flows through a </a:t>
            </a:r>
            <a:r>
              <a:rPr lang="en-US" sz="800" b="1" dirty="0">
                <a:solidFill>
                  <a:srgbClr val="064E3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uXRCE-DDS bridge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over ROS 2.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622006" y="2692301"/>
            <a:ext cx="2693194" cy="571500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If the Strategic Layer (AI) crashes, the Execution Layer (PX4) continues flying safely, maintaining stability and executing pre-defined failsafe procedures.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622006" y="3356670"/>
            <a:ext cx="26931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"Think of it as a military command structure: the AI advises, but the flight controller executes only what is safe."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571500"/>
            <a:ext cx="548640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59669">
                    <a:alpha val="2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04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828800" y="1306413"/>
            <a:ext cx="5486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" kern="0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VERSION 2.0 ENHANCEMENTS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28800" y="2185095"/>
            <a:ext cx="26003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GROUND-LINK-LOSS FRAMEWORK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28800" y="2481560"/>
            <a:ext cx="2600325" cy="777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Defines phase-aware behavior when comms are lost: in transit the drone continues and retries connection; in search it loiters and records imagery to avoid acting on unconfirmed detections.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14875" y="2185095"/>
            <a:ext cx="26003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WORK INDEX 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14875" y="2481560"/>
            <a:ext cx="2600325" cy="58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Continuous energy-margin assessment that decides mission completion or triggers abort/emergency landing when thresholds indicate unsafe return.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14875" y="3150115"/>
            <a:ext cx="2600325" cy="321469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064E3B"/>
                </a:solidFill>
                <a:latin typeface="Libre Baskerville SemiBold" pitchFamily="34" charset="0"/>
                <a:ea typeface="Libre Baskerville SemiBold" pitchFamily="34" charset="-122"/>
                <a:cs typeface="Libre Baskerville SemiBold" pitchFamily="34" charset="-120"/>
              </a:rPr>
              <a:t>Logic-First Design:</a:t>
            </a:r>
            <a:r>
              <a:rPr lang="en-US" sz="800" i="1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rigorous state and decision rules, </a:t>
            </a:r>
            <a:r>
              <a:rPr lang="en-US" sz="800" i="1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leaving hardware constants to field calibration.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950" y="628650"/>
            <a:ext cx="548640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59669">
                    <a:alpha val="2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05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885950" y="1363563"/>
            <a:ext cx="5486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" kern="0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SAFETY PHILOSOPHY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85950" y="2006501"/>
            <a:ext cx="26574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RIGID ISOLATION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85950" y="2238673"/>
            <a:ext cx="2657475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architecture enforces a strict boundary </a:t>
            </a:r>
            <a:r>
              <a:rPr lang="en-US" sz="9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between </a:t>
            </a:r>
            <a:r>
              <a:rPr lang="en-US" sz="900" b="1" dirty="0">
                <a:solidFill>
                  <a:srgbClr val="064E3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non-deterministic AI</a:t>
            </a:r>
            <a:r>
              <a:rPr lang="en-US" sz="9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and </a:t>
            </a:r>
            <a:r>
              <a:rPr lang="en-US" sz="900" b="1" dirty="0">
                <a:solidFill>
                  <a:srgbClr val="064E3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hard real-time </a:t>
            </a:r>
            <a:r>
              <a:rPr lang="en-US" sz="900" b="1" dirty="0">
                <a:solidFill>
                  <a:srgbClr val="064E3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control</a:t>
            </a:r>
            <a:r>
              <a:rPr lang="en-US" sz="9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 AI suggests mission parameters but is </a:t>
            </a:r>
            <a:r>
              <a:rPr lang="en-US" sz="9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physically and logically barred from bypassing </a:t>
            </a:r>
            <a:r>
              <a:rPr lang="en-US" sz="9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PX4's core safety layers, including geofences and </a:t>
            </a:r>
            <a:r>
              <a:rPr lang="en-US" sz="9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motor speed limits.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14875" y="2006501"/>
            <a:ext cx="26574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HEARTBEAT MONITORING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14875" y="2238673"/>
            <a:ext cx="2657475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PX4 continuously monitors the health of the companion computer. If a heartbeat timeout is detected—indicating an AI freeze or hardware crash—the system immediately transitions to a deterministic failsafe state.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14875" y="3310235"/>
            <a:ext cx="26574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64E3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Failsafe Sequence: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14875" y="3545979"/>
            <a:ext cx="2657475" cy="37147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Detect Missing Heartbeat; 2. Transition to Position Hold; 3. Execute Autonomous Landing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571500"/>
            <a:ext cx="548640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59669">
                    <a:alpha val="2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06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828800" y="1306413"/>
            <a:ext cx="5486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" kern="0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PROJECT SCOPE &amp; DELIVERABLES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28800" y="2013645"/>
            <a:ext cx="320609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CORE DELIVERABLES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28800" y="2245816"/>
            <a:ext cx="21074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125266" y="2416820"/>
            <a:ext cx="290962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ARCHITECTURAL SPECIFICATION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125266" y="2688282"/>
            <a:ext cx="290962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Full Version 2.0 documentation including formal decision tables and energy-margin equations.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828800" y="3153966"/>
            <a:ext cx="2536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168128" y="3324969"/>
            <a:ext cx="286676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SIMULATION VALIDATION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68128" y="3596432"/>
            <a:ext cx="2866765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Gazebo SITL testing with injected link dropouts and battery drain to verify logic behavior.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828800" y="4062115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164556" y="4233118"/>
            <a:ext cx="287033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MVP INTEGRATION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164556" y="4504581"/>
            <a:ext cx="287033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functional ROS 2 node demonstrating trajectory streaming and the uXRCE-DDS bridge.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177768" y="2013645"/>
            <a:ext cx="213743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PHASE BOUNDARIES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77768" y="2245816"/>
            <a:ext cx="892969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5966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CURRENT FOCUS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5177768" y="2549426"/>
            <a:ext cx="2137432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This approval cycle is strictly for 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Architecture and Simulation Validation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 The goal is to 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prove the logic before hardware 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implementation.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177768" y="3373636"/>
            <a:ext cx="792956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OUT OF SCOPE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177768" y="3677245"/>
            <a:ext cx="2137432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Field-tuned constants, dual-battery hardware design, and landing-site computer vision are deferred to future work.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571500"/>
            <a:ext cx="548640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59669">
                    <a:alpha val="2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07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828800" y="1306413"/>
            <a:ext cx="5486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" kern="0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CONCLUSION &amp; PROPOSAL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28800" y="2170807"/>
            <a:ext cx="256460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PRACTICAL VALUE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28800" y="2467273"/>
            <a:ext cx="2564606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Agere architecture provides a principled middle ground for autonomous operations where failure is not an option. By isolating AI reasoning from deterministic control, we enable drones to maintain mission utility in radio-silent environments without compromising safety.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828800" y="3703141"/>
            <a:ext cx="2564606" cy="54649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i="1" dirty="0">
                <a:solidFill>
                  <a:srgbClr val="064E3B"/>
                </a:solidFill>
                <a:latin typeface="Libre Baskerville SemiBold" pitchFamily="34" charset="0"/>
                <a:ea typeface="Libre Baskerville SemiBold" pitchFamily="34" charset="-122"/>
                <a:cs typeface="Libre Baskerville SemiBold" pitchFamily="34" charset="-120"/>
              </a:rPr>
              <a:t>"I am not trying to replace the pilot. I am giving the drone enough judgment to stay safe when the pilot goes quiet."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50594" y="2170807"/>
            <a:ext cx="256460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FORMAL REQUEST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50594" y="2452985"/>
            <a:ext cx="1785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36344" y="2452985"/>
            <a:ext cx="22788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Approval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of the system design as the formal 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scope.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750594" y="2880159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2063" y="2880159"/>
            <a:ext cx="22431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Access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to lab simulation environments for 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SITL/Gazebo validation.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50594" y="3307333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72063" y="3307333"/>
            <a:ext cx="22431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Milestone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review in 4–6 weeks to evaluate </a:t>
            </a:r>
            <a:r>
              <a:rPr lang="en-US" sz="850" dirty="0">
                <a:solidFill>
                  <a:srgbClr val="33415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simulation results.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2026-07-17T09:56:38Z</dcterms:created>
  <dcterms:modified xsi:type="dcterms:W3CDTF">2026-07-17T09:56:38Z</dcterms:modified>
</cp:coreProperties>
</file>